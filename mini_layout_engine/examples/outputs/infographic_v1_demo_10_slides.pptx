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1138" y="283"/>
      </p:cViewPr>
      <p:guideLst>
        <p:guide orient="horz" pos="482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2C426-F64B-EA63-C822-19506F3A8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CA1A95-81D1-3B2B-BC26-62F99745B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A5854E-AC0B-B271-10C7-A86DA90B6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EE9B0-46DD-8F4C-FDCB-236210A8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DC7977-08F7-5178-1310-7F90C63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763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910E4E-9CEC-0490-6716-3B4AC0F3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1F406-70B2-E26D-9F49-03CED4E7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28F3F-AD5D-9E40-D5DD-14944295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947FE-10FD-E699-58C5-6D5F9CC3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9AA571-BA78-47ED-244A-1B0C4EF2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83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76245-776C-6080-0402-5AA7A5CF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1D66AB-D45D-84A3-A74D-BCC7115A8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E098DD-B937-2874-5BC7-F91C5CB5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B69CBB-7956-02F7-C405-00F47482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4828C8-E044-68F0-067A-4BD294FA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77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4632F-226A-925D-0A40-E3FEA39FE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9E2CA-2002-4618-EE7F-64BD30E3E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A97127-823D-0FC2-488C-1067AC8AE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FFA637-CC9C-0966-D74C-855F9887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5FD803-CEAE-ED83-9C76-C4F79D4A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07F1D2-7FDF-E9BC-2369-7B142859A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88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C4497-E1A1-3DFF-C13C-BC5167F2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CF5129-C1D7-60BB-6693-324F7B8EF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5752B-DA83-3C0D-C8BB-DE63D3689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AA1E15-2BD0-FEA2-3921-5EDB21064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ACA54C-0F13-A7CC-98A6-57FFF048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967359-D35B-88C2-D1D6-010D8225D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BA1C52-001E-C9FD-DFD8-0ED81639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3C7693-6DC5-6583-DE4D-0C491A17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2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BB6AC-A997-04E8-280A-5AA3E3883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58631F-5C28-2ECE-93EE-68E87335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304569-9675-C73D-A165-78270FA6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E407B7-3ACA-ECE1-1112-807FB76D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42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EC04A4-9228-ECCA-9448-9237C37F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28D6B5-EF4A-6EDD-17E3-A95ABD6D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518CA4-19CD-6E88-1965-C0F2C0BC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58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2352B-9B58-41F2-811F-A2467ADB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53A9BF-3167-875D-A160-5A6F5502F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A37E21-99E3-C3C9-C053-9AFB34CCB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7DE918-DD31-96DC-308F-BE1561D5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EDBF52-9824-E515-25F9-B5E0E17BC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DEB181-59A4-8D8B-EABB-5821FD64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31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A4896-24BD-5B1F-9D3A-E6536CFB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E5122A-CFE6-4AAA-00EE-CD1DAC2DD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F1B5DB-28E8-1145-0830-7E463736C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9D9429-4A3B-6BFC-B85E-1488CEBC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01A180-216A-2C9C-FC37-C155D989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670234-BD25-7134-7C3E-985EA268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355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E4106-54A6-D0FD-FFE6-8D67E35B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F8E6EF-B31C-84AE-3A16-6297652DC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207B7-EEF1-8858-F8EA-68B5C621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8A9A6A-2BA4-945A-2C55-9C348D227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DECDB-BACD-7899-C401-29B8765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8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CA76F2-82A3-CBB7-48E2-D4932EBB7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D0B008-A8A9-E1FF-B40F-E246B2525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F1AE6-FA7A-7676-ACF7-128D6EEC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BD464C-9C30-9FA0-2BB2-1ED7F775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B44E6-E51F-1BAF-D7E9-BB497A15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6409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5B59A0-D669-BAC9-0FE9-06167725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312692-4F5D-1EAE-075F-5E53B6D7C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E355B-0A16-1C0E-A0CF-6C1D466E0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44AC66-759C-22A7-0C9C-19D11B996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8CDA7E-1546-EE33-0672-0B793B5E6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69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3" Type="http://schemas.openxmlformats.org/officeDocument/2006/relationships/image" Target="../media/image1.png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Faster Help</a:t>
            </a:r>
          </a:p>
          <a:p>
            <a:r>
              <a:t>Students get quick hints.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4. Clearer Tracking</a:t>
            </a:r>
          </a:p>
          <a:p>
            <a:r>
              <a:t>Schools monitor progress trends.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95AA8F-7E34-C486-E640-9D66701FBFBA}"/>
              </a:ext>
            </a:extLst>
          </p:cNvPr>
          <p:cNvSpPr/>
          <p:nvPr/>
        </p:nvSpPr>
        <p:spPr>
          <a:xfrm>
            <a:off x="6142618" y="2719318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Teacher Time</a:t>
            </a:r>
          </a:p>
          <a:p>
            <a:r>
              <a:t>Routine prep takes less time.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C7E1AB-9879-E0D3-A1D4-B54B46AD6A6C}"/>
              </a:ext>
            </a:extLst>
          </p:cNvPr>
          <p:cNvSpPr/>
          <p:nvPr/>
        </p:nvSpPr>
        <p:spPr>
          <a:xfrm>
            <a:off x="6142618" y="3790196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F2ACB1-DD31-6DAE-D3CC-A1467103805A}"/>
              </a:ext>
            </a:extLst>
          </p:cNvPr>
          <p:cNvSpPr/>
          <p:nvPr/>
        </p:nvSpPr>
        <p:spPr>
          <a:xfrm>
            <a:off x="6142618" y="4834480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2B10C2-7C05-01B7-3E1E-4FD373B9803E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AI in Education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27B7A5B1-59E6-D2A3-B436-7CF56C92D4B7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AI can improve student support and teacher workflow.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7969517B-96D9-A389-48B2-4A5EA7188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0" y="1287437"/>
            <a:ext cx="4784696" cy="47846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B5509C-37E2-FEAE-913C-944CDC67F030}"/>
              </a:ext>
            </a:extLst>
          </p:cNvPr>
          <p:cNvSpPr txBox="1"/>
          <p:nvPr/>
        </p:nvSpPr>
        <p:spPr>
          <a:xfrm>
            <a:off x="6009371" y="1287437"/>
            <a:ext cx="4542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>
                <a:solidFill>
                  <a:schemeClr val="accent1"/>
                </a:solidFill>
                <a:latin typeface="+mj-ea"/>
                <a:ea typeface="+mj-ea"/>
              </a:rPr>
              <a:t>2. Smarter Practice
Practice targets weak topics.</a:t>
            </a:r>
          </a:p>
          <a:p>
            <a:r>
              <a:rPr lang="en-US" altLang="zh-CN" sz="3600" b="1">
                <a:solidFill>
                  <a:schemeClr val="accent1"/>
                </a:solidFill>
                <a:latin typeface="+mj-ea"/>
                <a:ea typeface="+mj-ea"/>
              </a:rPr>
              <a:t/>
            </a:r>
            <a:endParaRPr lang="zh-CN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E833F4E-09B6-BA4B-2B3A-4EF2DD1C3F3A}"/>
              </a:ext>
            </a:extLst>
          </p:cNvPr>
          <p:cNvGrpSpPr/>
          <p:nvPr/>
        </p:nvGrpSpPr>
        <p:grpSpPr>
          <a:xfrm>
            <a:off x="6328402" y="2853948"/>
            <a:ext cx="3571554" cy="663952"/>
            <a:chOff x="-2969670" y="-223062"/>
            <a:chExt cx="3332229" cy="66395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1DD992D-5FB7-719E-9ADC-7656E7C9B38B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Tap Water Causes Cancer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51BD63-8952-5ABB-4397-CFCA986B29B5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 scientific proof. Local water quality meets international safety standards. 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7124339-3DD5-BC39-5A36-2C8EC96168E9}"/>
              </a:ext>
            </a:extLst>
          </p:cNvPr>
          <p:cNvGrpSpPr/>
          <p:nvPr/>
        </p:nvGrpSpPr>
        <p:grpSpPr>
          <a:xfrm>
            <a:off x="6328402" y="3924730"/>
            <a:ext cx="3571554" cy="663952"/>
            <a:chOff x="-2969670" y="-223062"/>
            <a:chExt cx="3332229" cy="66395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B47D431-AFEE-1C29-D829-C90B1D7F9FEA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5G Towers Spread COVID-19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B4927A3-6D48-A5AE-B8E4-F4C66403E356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baseless claim. 5G is a communication tech with no virus transmission link. 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0C144B4-2DD6-FEF2-A96C-27AD5BE484B2}"/>
              </a:ext>
            </a:extLst>
          </p:cNvPr>
          <p:cNvGrpSpPr/>
          <p:nvPr/>
        </p:nvGrpSpPr>
        <p:grpSpPr>
          <a:xfrm>
            <a:off x="6328402" y="4995511"/>
            <a:ext cx="3571554" cy="663952"/>
            <a:chOff x="-2969670" y="-223062"/>
            <a:chExt cx="3332229" cy="66395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703411D-0D7F-95A9-ED7A-FB082B976064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UFO Crashed in Desert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A04923A-C693-C3B0-BF8F-52977182F81C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photo is edited. Authorities confirm it’s a discarded aircraft part.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Revision</a:t>
            </a:r>
          </a:p>
          <a:p>
            <a:r>
              <a:t>Quick recap before tests.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5DC989-4543-3996-6EB5-F573A167C873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Where AI Helps Most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32CC5B3F-E99A-4827-BD1A-F2354DA21545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1. Homework</a:t>
            </a:r>
          </a:p>
          <a:p>
            <a:r>
              <a:t>Hints during independent work.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C1FF2D2E-A807-05E9-F5BF-CBE3570F2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5050" y="1295400"/>
            <a:ext cx="4762500" cy="47625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05A3C848-1BE0-3C9C-8F07-39DC6DC92DD3}"/>
              </a:ext>
            </a:extLst>
          </p:cNvPr>
          <p:cNvSpPr/>
          <p:nvPr/>
        </p:nvSpPr>
        <p:spPr>
          <a:xfrm>
            <a:off x="1314450" y="2424430"/>
            <a:ext cx="2057400" cy="2636520"/>
          </a:xfrm>
          <a:prstGeom prst="roundRect">
            <a:avLst>
              <a:gd name="adj" fmla="val 814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Writing</a:t>
            </a:r>
          </a:p>
          <a:p>
            <a:r>
              <a:t>Cleaner drafts and grammar.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55675B-5034-C398-BE27-3960A4C3ECC7}"/>
              </a:ext>
            </a:extLst>
          </p:cNvPr>
          <p:cNvSpPr/>
          <p:nvPr/>
        </p:nvSpPr>
        <p:spPr>
          <a:xfrm>
            <a:off x="3630482" y="2424430"/>
            <a:ext cx="2057400" cy="2636520"/>
          </a:xfrm>
          <a:prstGeom prst="roundRect">
            <a:avLst>
              <a:gd name="adj" fmla="val 814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Planning</a:t>
            </a:r>
          </a:p>
          <a:p>
            <a:r>
              <a:t>Faster lesson starters.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0A00FD7-32FC-EBE0-1228-01187A02377D}"/>
              </a:ext>
            </a:extLst>
          </p:cNvPr>
          <p:cNvGrpSpPr/>
          <p:nvPr/>
        </p:nvGrpSpPr>
        <p:grpSpPr>
          <a:xfrm>
            <a:off x="1588770" y="2761957"/>
            <a:ext cx="3824792" cy="1961466"/>
            <a:chOff x="1588770" y="2761957"/>
            <a:chExt cx="3824792" cy="1961466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0CFA6B7-379A-0CE1-D154-A824203D7C56}"/>
                </a:ext>
              </a:extLst>
            </p:cNvPr>
            <p:cNvGrpSpPr/>
            <p:nvPr/>
          </p:nvGrpSpPr>
          <p:grpSpPr>
            <a:xfrm>
              <a:off x="1588770" y="2761957"/>
              <a:ext cx="1508760" cy="1961466"/>
              <a:chOff x="1089213" y="3194710"/>
              <a:chExt cx="1508760" cy="1961466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35EFA18-0C24-24F9-F9E1-F387E03FB9C6}"/>
                  </a:ext>
                </a:extLst>
              </p:cNvPr>
              <p:cNvSpPr txBox="1"/>
              <p:nvPr/>
            </p:nvSpPr>
            <p:spPr>
              <a:xfrm>
                <a:off x="1089213" y="3924300"/>
                <a:ext cx="15087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Tap Water Causes Cancer</a:t>
                </a: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5238664-4F25-1629-E5B6-1B4DE5CF205F}"/>
                  </a:ext>
                </a:extLst>
              </p:cNvPr>
              <p:cNvSpPr txBox="1"/>
              <p:nvPr/>
            </p:nvSpPr>
            <p:spPr>
              <a:xfrm>
                <a:off x="1089213" y="4355187"/>
                <a:ext cx="1402080" cy="800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bg1"/>
                    </a:solidFill>
                  </a:rPr>
                  <a:t>No scientific proof. Local water quality meets international safety standards. 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27BDF60-335D-EE31-83EC-AFB313BCDA0B}"/>
                  </a:ext>
                </a:extLst>
              </p:cNvPr>
              <p:cNvSpPr txBox="1"/>
              <p:nvPr/>
            </p:nvSpPr>
            <p:spPr>
              <a:xfrm>
                <a:off x="1089213" y="3194710"/>
                <a:ext cx="15087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>
                    <a:solidFill>
                      <a:schemeClr val="bg1">
                        <a:alpha val="41000"/>
                      </a:schemeClr>
                    </a:solidFill>
                    <a:latin typeface="+mj-ea"/>
                    <a:ea typeface="+mj-ea"/>
                  </a:rPr>
                  <a:t>01.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26166E-6CCF-2E9D-BF19-699B8032F331}"/>
                </a:ext>
              </a:extLst>
            </p:cNvPr>
            <p:cNvGrpSpPr/>
            <p:nvPr/>
          </p:nvGrpSpPr>
          <p:grpSpPr>
            <a:xfrm>
              <a:off x="3904802" y="2761957"/>
              <a:ext cx="1508760" cy="1961466"/>
              <a:chOff x="1089213" y="3194710"/>
              <a:chExt cx="1508760" cy="1961466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23EDABC-32E1-4ACD-84C3-B9D3EDE0B463}"/>
                  </a:ext>
                </a:extLst>
              </p:cNvPr>
              <p:cNvSpPr txBox="1"/>
              <p:nvPr/>
            </p:nvSpPr>
            <p:spPr>
              <a:xfrm>
                <a:off x="1089213" y="3924300"/>
                <a:ext cx="15087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bg1"/>
                    </a:solidFill>
                    <a:latin typeface="+mj-ea"/>
                    <a:ea typeface="+mj-ea"/>
                  </a:rPr>
                  <a:t>5G Towers Spread COVID-19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DF0890-7F85-F7E9-955A-39844BED8AB6}"/>
                  </a:ext>
                </a:extLst>
              </p:cNvPr>
              <p:cNvSpPr txBox="1"/>
              <p:nvPr/>
            </p:nvSpPr>
            <p:spPr>
              <a:xfrm>
                <a:off x="1089213" y="4355187"/>
                <a:ext cx="1402080" cy="800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bg1"/>
                    </a:solidFill>
                  </a:rPr>
                  <a:t>A baseless claim. 5G is a communication tech with no virus transmission link. 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5CDC565-3306-1D66-FEE4-7980D98DFE9F}"/>
                  </a:ext>
                </a:extLst>
              </p:cNvPr>
              <p:cNvSpPr txBox="1"/>
              <p:nvPr/>
            </p:nvSpPr>
            <p:spPr>
              <a:xfrm>
                <a:off x="1089213" y="3194710"/>
                <a:ext cx="15087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chemeClr val="bg1">
                        <a:alpha val="41000"/>
                      </a:schemeClr>
                    </a:solidFill>
                    <a:latin typeface="+mj-ea"/>
                    <a:ea typeface="+mj-ea"/>
                  </a:rPr>
                  <a:t>02.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Choose Classes</a:t>
            </a:r>
          </a:p>
          <a:p>
            <a:r>
              <a:t>Start with a small group.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4. Train Staff</a:t>
            </a:r>
          </a:p>
          <a:p>
            <a:r>
              <a:t>Train teams on safe use.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7607698-18D6-9C37-B424-217D0AE2043C}"/>
              </a:ext>
            </a:extLst>
          </p:cNvPr>
          <p:cNvSpPr/>
          <p:nvPr/>
        </p:nvSpPr>
        <p:spPr>
          <a:xfrm>
            <a:off x="943264" y="2117773"/>
            <a:ext cx="4887624" cy="3218019"/>
          </a:xfrm>
          <a:prstGeom prst="roundRect">
            <a:avLst>
              <a:gd name="adj" fmla="val 8304"/>
            </a:avLst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Prepare Materials</a:t>
            </a:r>
          </a:p>
          <a:p>
            <a:r>
              <a:t>Use lesson-aligned resources.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37D9A6-20B2-711A-2DCF-CD5BF00B6B0F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Pilot Launch Steps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EF265DFF-F595-4DDD-59AC-05B8491286D6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1. Set Goals</a:t>
            </a:r>
          </a:p>
          <a:p>
            <a:r>
              <a:t>Define clear success metrics.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E1239143-8F2C-DFA4-0A34-DDA7CDCA1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1113" y="1539458"/>
            <a:ext cx="4762500" cy="476250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6A11AE10-EAE7-ABA1-92CF-0169648181AD}"/>
              </a:ext>
            </a:extLst>
          </p:cNvPr>
          <p:cNvGrpSpPr/>
          <p:nvPr/>
        </p:nvGrpSpPr>
        <p:grpSpPr>
          <a:xfrm>
            <a:off x="1162329" y="2504026"/>
            <a:ext cx="4449495" cy="2445513"/>
            <a:chOff x="1219785" y="2538220"/>
            <a:chExt cx="4449495" cy="244551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BDCA55A-5D47-1640-C185-81E651BA7851}"/>
                </a:ext>
              </a:extLst>
            </p:cNvPr>
            <p:cNvGrpSpPr/>
            <p:nvPr/>
          </p:nvGrpSpPr>
          <p:grpSpPr>
            <a:xfrm>
              <a:off x="1219785" y="2538220"/>
              <a:ext cx="4449495" cy="663952"/>
              <a:chOff x="-3788781" y="-223062"/>
              <a:chExt cx="4151340" cy="663952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2FAF5CE-D3A0-4AAF-AF21-B7DDCAD04D30}"/>
                  </a:ext>
                </a:extLst>
              </p:cNvPr>
              <p:cNvSpPr txBox="1"/>
              <p:nvPr/>
            </p:nvSpPr>
            <p:spPr>
              <a:xfrm>
                <a:off x="-2969670" y="-223062"/>
                <a:ext cx="33322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/>
                    </a:solidFill>
                    <a:latin typeface="+mj-ea"/>
                    <a:ea typeface="+mj-ea"/>
                  </a:rPr>
                  <a:t>Tap Water Causes Cancer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AC89707-1176-1E21-A4F2-DDDAE1512912}"/>
                  </a:ext>
                </a:extLst>
              </p:cNvPr>
              <p:cNvSpPr txBox="1"/>
              <p:nvPr/>
            </p:nvSpPr>
            <p:spPr>
              <a:xfrm>
                <a:off x="-2969669" y="0"/>
                <a:ext cx="3151627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No scientific proof. Local water quality meets international safety standards. 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B14600E-A1C6-1DF1-B18C-EF15917BFB88}"/>
                  </a:ext>
                </a:extLst>
              </p:cNvPr>
              <p:cNvSpPr txBox="1"/>
              <p:nvPr/>
            </p:nvSpPr>
            <p:spPr>
              <a:xfrm>
                <a:off x="-3788781" y="-165912"/>
                <a:ext cx="975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>
                    <a:solidFill>
                      <a:schemeClr val="accent1">
                        <a:lumMod val="50000"/>
                        <a:alpha val="45000"/>
                      </a:schemeClr>
                    </a:solidFill>
                    <a:latin typeface="+mj-ea"/>
                    <a:ea typeface="+mj-ea"/>
                  </a:rPr>
                  <a:t>01.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473C4E2-8F63-6959-50F7-9ECD441E80B0}"/>
                </a:ext>
              </a:extLst>
            </p:cNvPr>
            <p:cNvGrpSpPr/>
            <p:nvPr/>
          </p:nvGrpSpPr>
          <p:grpSpPr>
            <a:xfrm>
              <a:off x="1219785" y="3429000"/>
              <a:ext cx="4449495" cy="663952"/>
              <a:chOff x="-3788781" y="-223062"/>
              <a:chExt cx="4151340" cy="663952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EFD4C01-8724-A4F6-8A77-FC16F2CB094A}"/>
                  </a:ext>
                </a:extLst>
              </p:cNvPr>
              <p:cNvSpPr txBox="1"/>
              <p:nvPr/>
            </p:nvSpPr>
            <p:spPr>
              <a:xfrm>
                <a:off x="-2969670" y="-223062"/>
                <a:ext cx="33322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/>
                    </a:solidFill>
                    <a:latin typeface="+mj-ea"/>
                    <a:ea typeface="+mj-ea"/>
                  </a:rPr>
                  <a:t>5G Towers Spread COVID-19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5D702C4-3354-4C10-1127-8F331601645E}"/>
                  </a:ext>
                </a:extLst>
              </p:cNvPr>
              <p:cNvSpPr txBox="1"/>
              <p:nvPr/>
            </p:nvSpPr>
            <p:spPr>
              <a:xfrm>
                <a:off x="-2969669" y="0"/>
                <a:ext cx="3151627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 baseless claim. 5G is a communication tech with no virus transmission link. 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DC1BA27-6784-433B-6F0C-02B31A3CEDD6}"/>
                  </a:ext>
                </a:extLst>
              </p:cNvPr>
              <p:cNvSpPr txBox="1"/>
              <p:nvPr/>
            </p:nvSpPr>
            <p:spPr>
              <a:xfrm>
                <a:off x="-3788781" y="-165912"/>
                <a:ext cx="975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>
                    <a:solidFill>
                      <a:schemeClr val="accent1">
                        <a:lumMod val="50000"/>
                        <a:alpha val="45000"/>
                      </a:schemeClr>
                    </a:solidFill>
                    <a:latin typeface="+mj-ea"/>
                    <a:ea typeface="+mj-ea"/>
                  </a:rPr>
                  <a:t>02.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A038DD1-98A5-2A52-9E19-0C781B70806D}"/>
                </a:ext>
              </a:extLst>
            </p:cNvPr>
            <p:cNvGrpSpPr/>
            <p:nvPr/>
          </p:nvGrpSpPr>
          <p:grpSpPr>
            <a:xfrm>
              <a:off x="1219785" y="4319781"/>
              <a:ext cx="4449495" cy="663952"/>
              <a:chOff x="-3788781" y="-223062"/>
              <a:chExt cx="4151340" cy="66395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5F9E063-ADDA-D562-E94D-25415E305352}"/>
                  </a:ext>
                </a:extLst>
              </p:cNvPr>
              <p:cNvSpPr txBox="1"/>
              <p:nvPr/>
            </p:nvSpPr>
            <p:spPr>
              <a:xfrm>
                <a:off x="-2969670" y="-223062"/>
                <a:ext cx="33322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/>
                    </a:solidFill>
                    <a:latin typeface="+mj-ea"/>
                    <a:ea typeface="+mj-ea"/>
                  </a:rPr>
                  <a:t>UFO Crashed in Desert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8639F7E-876D-0689-F83F-B705E9D76D4F}"/>
                  </a:ext>
                </a:extLst>
              </p:cNvPr>
              <p:cNvSpPr txBox="1"/>
              <p:nvPr/>
            </p:nvSpPr>
            <p:spPr>
              <a:xfrm>
                <a:off x="-2969669" y="0"/>
                <a:ext cx="3151627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The photo is edited. Authorities confirm it’s a discarded aircraft part. 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46D40B6-D0CE-70D7-000F-E887C5028C2A}"/>
                  </a:ext>
                </a:extLst>
              </p:cNvPr>
              <p:cNvSpPr txBox="1"/>
              <p:nvPr/>
            </p:nvSpPr>
            <p:spPr>
              <a:xfrm>
                <a:off x="-3788781" y="-165912"/>
                <a:ext cx="975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>
                    <a:solidFill>
                      <a:schemeClr val="accent1">
                        <a:lumMod val="50000"/>
                        <a:alpha val="45000"/>
                      </a:schemeClr>
                    </a:solidFill>
                    <a:latin typeface="+mj-ea"/>
                    <a:ea typeface="+mj-ea"/>
                  </a:rPr>
                  <a:t>03.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Set Rules</a:t>
            </a:r>
          </a:p>
          <a:p>
            <a:r>
              <a:t>Define allowed and blocked usage.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6039FB-71B2-8A78-892B-21574BA464A9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Teacher Readiness Checklist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875328DA-9685-E6A5-BBCE-52CBC1C5D028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1. Define Use</a:t>
            </a:r>
          </a:p>
          <a:p>
            <a:r>
              <a:t>Agree on core classroom goals.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35192B21-113D-2C4A-AE60-C4D2DCE1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019" y="1290463"/>
            <a:ext cx="4762500" cy="47625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995C2B-30F9-390B-2DFB-FAD9F36101C7}"/>
              </a:ext>
            </a:extLst>
          </p:cNvPr>
          <p:cNvSpPr/>
          <p:nvPr/>
        </p:nvSpPr>
        <p:spPr>
          <a:xfrm>
            <a:off x="6277510" y="1972849"/>
            <a:ext cx="4532641" cy="8768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Monitor Use</a:t>
            </a:r>
          </a:p>
          <a:p>
            <a:r>
              <a:t>Track usage and quality weekly.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E5C5794-921C-CEA1-4513-68CBC768AEB3}"/>
              </a:ext>
            </a:extLst>
          </p:cNvPr>
          <p:cNvSpPr/>
          <p:nvPr/>
        </p:nvSpPr>
        <p:spPr>
          <a:xfrm>
            <a:off x="5615519" y="1866736"/>
            <a:ext cx="1089046" cy="108904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Check Content</a:t>
            </a:r>
          </a:p>
          <a:p>
            <a:r>
              <a:t>Confirm curriculum alignment.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274A7B-640C-03C4-5775-35881DEFF562}"/>
              </a:ext>
            </a:extLst>
          </p:cNvPr>
          <p:cNvSpPr txBox="1"/>
          <p:nvPr/>
        </p:nvSpPr>
        <p:spPr>
          <a:xfrm>
            <a:off x="5755923" y="2149649"/>
            <a:ext cx="80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5. Collect Feedback
Collect teacher and student input.</a:t>
            </a:r>
            <a:endParaRPr lang="zh-CN" altLang="en-US" sz="28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1BEC855-4610-2159-6CA3-21FB6C406B88}"/>
              </a:ext>
            </a:extLst>
          </p:cNvPr>
          <p:cNvSpPr/>
          <p:nvPr/>
        </p:nvSpPr>
        <p:spPr>
          <a:xfrm>
            <a:off x="7064908" y="3283385"/>
            <a:ext cx="4532641" cy="8768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BB2014B-B66F-DB89-0A83-58568319639A}"/>
              </a:ext>
            </a:extLst>
          </p:cNvPr>
          <p:cNvSpPr/>
          <p:nvPr/>
        </p:nvSpPr>
        <p:spPr>
          <a:xfrm>
            <a:off x="6402917" y="3177272"/>
            <a:ext cx="1089046" cy="108904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8727718-24AB-B190-294A-586D96A97592}"/>
              </a:ext>
            </a:extLst>
          </p:cNvPr>
          <p:cNvSpPr txBox="1"/>
          <p:nvPr/>
        </p:nvSpPr>
        <p:spPr>
          <a:xfrm>
            <a:off x="6543321" y="3460185"/>
            <a:ext cx="80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+mj-ea"/>
                <a:ea typeface="+mj-ea"/>
              </a:rPr>
              <a:t/>
            </a:r>
            <a:endParaRPr lang="zh-CN" altLang="en-US" sz="28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408E355-0D74-AEA1-C621-EA28D051D910}"/>
              </a:ext>
            </a:extLst>
          </p:cNvPr>
          <p:cNvSpPr/>
          <p:nvPr/>
        </p:nvSpPr>
        <p:spPr>
          <a:xfrm>
            <a:off x="6277510" y="4593922"/>
            <a:ext cx="4532641" cy="8768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9665E5D-A49B-EC15-3D6D-689C43BFCC91}"/>
              </a:ext>
            </a:extLst>
          </p:cNvPr>
          <p:cNvSpPr/>
          <p:nvPr/>
        </p:nvSpPr>
        <p:spPr>
          <a:xfrm>
            <a:off x="5615519" y="4487809"/>
            <a:ext cx="1089046" cy="108904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C40ED2-5280-3662-BDC0-3D6CE3FA1A89}"/>
              </a:ext>
            </a:extLst>
          </p:cNvPr>
          <p:cNvSpPr txBox="1"/>
          <p:nvPr/>
        </p:nvSpPr>
        <p:spPr>
          <a:xfrm>
            <a:off x="5755923" y="4770722"/>
            <a:ext cx="80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+mj-ea"/>
                <a:ea typeface="+mj-ea"/>
              </a:rPr>
              <a:t/>
            </a:r>
            <a:endParaRPr lang="zh-CN" altLang="en-US" sz="28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F027E70-EE83-91C0-9C24-5B139272E7FE}"/>
              </a:ext>
            </a:extLst>
          </p:cNvPr>
          <p:cNvGrpSpPr/>
          <p:nvPr/>
        </p:nvGrpSpPr>
        <p:grpSpPr>
          <a:xfrm>
            <a:off x="7159980" y="2079283"/>
            <a:ext cx="3571554" cy="663952"/>
            <a:chOff x="-2969670" y="-223062"/>
            <a:chExt cx="3332229" cy="663952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C4169E7-F57B-E436-3E67-BCFEACF511FD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Tap Water Causes Cancer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930C75F-7DFE-D948-0273-5B125EE01F55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 scientific proof. Local water quality meets international safety standards. 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9D5CBCD-C530-9352-AD7C-462A05D49744}"/>
              </a:ext>
            </a:extLst>
          </p:cNvPr>
          <p:cNvGrpSpPr/>
          <p:nvPr/>
        </p:nvGrpSpPr>
        <p:grpSpPr>
          <a:xfrm>
            <a:off x="7159980" y="4700356"/>
            <a:ext cx="3571554" cy="663952"/>
            <a:chOff x="-2969670" y="-223062"/>
            <a:chExt cx="3332229" cy="663952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5148664-C887-981D-D5F8-8D906CB3066B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UFO Crashed in Desert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2ACEF64-1F18-5EDD-5701-FCB0FA229D69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photo is edited. Authorities confirm it’s a discarded aircraft part. 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FA4DCEE-4BF8-0B10-9E4F-0703242568CF}"/>
              </a:ext>
            </a:extLst>
          </p:cNvPr>
          <p:cNvGrpSpPr/>
          <p:nvPr/>
        </p:nvGrpSpPr>
        <p:grpSpPr>
          <a:xfrm>
            <a:off x="7947378" y="3389819"/>
            <a:ext cx="3571554" cy="663952"/>
            <a:chOff x="-2969670" y="-223062"/>
            <a:chExt cx="3332229" cy="663952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2A22C69-9EDD-B65C-4D0A-7A58A7F6EED9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5G Towers Spread COVID-19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B11023B-6F0A-79C1-34FC-E3559095DA6C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baseless claim. 5G is a communication tech with no virus transmission link.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Quick Help</a:t>
            </a:r>
          </a:p>
          <a:p>
            <a:r>
              <a:t>Support arrives when needed.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4. Flexible Pace</a:t>
            </a:r>
          </a:p>
          <a:p>
            <a:r>
              <a:t>Students learn at their pace.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95AA8F-7E34-C486-E640-9D66701FBFBA}"/>
              </a:ext>
            </a:extLst>
          </p:cNvPr>
          <p:cNvSpPr/>
          <p:nvPr/>
        </p:nvSpPr>
        <p:spPr>
          <a:xfrm>
            <a:off x="6142618" y="2719318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Targeted Practice</a:t>
            </a:r>
          </a:p>
          <a:p>
            <a:r>
              <a:t>Practice focuses on weak areas.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C7E1AB-9879-E0D3-A1D4-B54B46AD6A6C}"/>
              </a:ext>
            </a:extLst>
          </p:cNvPr>
          <p:cNvSpPr/>
          <p:nvPr/>
        </p:nvSpPr>
        <p:spPr>
          <a:xfrm>
            <a:off x="6142618" y="3790196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F2ACB1-DD31-6DAE-D3CC-A1467103805A}"/>
              </a:ext>
            </a:extLst>
          </p:cNvPr>
          <p:cNvSpPr/>
          <p:nvPr/>
        </p:nvSpPr>
        <p:spPr>
          <a:xfrm>
            <a:off x="6142618" y="4834480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2B10C2-7C05-01B7-3E1E-4FD373B9803E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Student Benefits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27B7A5B1-59E6-D2A3-B436-7CF56C92D4B7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Best results come from guided support.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7969517B-96D9-A389-48B2-4A5EA7188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0" y="1287437"/>
            <a:ext cx="4784696" cy="47846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B5509C-37E2-FEAE-913C-944CDC67F030}"/>
              </a:ext>
            </a:extLst>
          </p:cNvPr>
          <p:cNvSpPr txBox="1"/>
          <p:nvPr/>
        </p:nvSpPr>
        <p:spPr>
          <a:xfrm>
            <a:off x="6009371" y="1287437"/>
            <a:ext cx="4542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>
                <a:solidFill>
                  <a:schemeClr val="accent1"/>
                </a:solidFill>
                <a:latin typeface="+mj-ea"/>
                <a:ea typeface="+mj-ea"/>
              </a:rPr>
              <a:t>2. More Confidence
Small wins reduce frustration.</a:t>
            </a:r>
          </a:p>
          <a:p>
            <a:r>
              <a:rPr lang="en-US" altLang="zh-CN" sz="3600" b="1">
                <a:solidFill>
                  <a:schemeClr val="accent1"/>
                </a:solidFill>
                <a:latin typeface="+mj-ea"/>
                <a:ea typeface="+mj-ea"/>
              </a:rPr>
              <a:t/>
            </a:r>
            <a:endParaRPr lang="zh-CN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E833F4E-09B6-BA4B-2B3A-4EF2DD1C3F3A}"/>
              </a:ext>
            </a:extLst>
          </p:cNvPr>
          <p:cNvGrpSpPr/>
          <p:nvPr/>
        </p:nvGrpSpPr>
        <p:grpSpPr>
          <a:xfrm>
            <a:off x="6328402" y="2853948"/>
            <a:ext cx="3571554" cy="663952"/>
            <a:chOff x="-2969670" y="-223062"/>
            <a:chExt cx="3332229" cy="66395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1DD992D-5FB7-719E-9ADC-7656E7C9B38B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Tap Water Causes Cancer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51BD63-8952-5ABB-4397-CFCA986B29B5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 scientific proof. Local water quality meets international safety standards. 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7124339-3DD5-BC39-5A36-2C8EC96168E9}"/>
              </a:ext>
            </a:extLst>
          </p:cNvPr>
          <p:cNvGrpSpPr/>
          <p:nvPr/>
        </p:nvGrpSpPr>
        <p:grpSpPr>
          <a:xfrm>
            <a:off x="6328402" y="3924730"/>
            <a:ext cx="3571554" cy="663952"/>
            <a:chOff x="-2969670" y="-223062"/>
            <a:chExt cx="3332229" cy="66395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B47D431-AFEE-1C29-D829-C90B1D7F9FEA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5G Towers Spread COVID-19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B4927A3-6D48-A5AE-B8E4-F4C66403E356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baseless claim. 5G is a communication tech with no virus transmission link. 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0C144B4-2DD6-FEF2-A96C-27AD5BE484B2}"/>
              </a:ext>
            </a:extLst>
          </p:cNvPr>
          <p:cNvGrpSpPr/>
          <p:nvPr/>
        </p:nvGrpSpPr>
        <p:grpSpPr>
          <a:xfrm>
            <a:off x="6328402" y="4995511"/>
            <a:ext cx="3571554" cy="663952"/>
            <a:chOff x="-2969670" y="-223062"/>
            <a:chExt cx="3332229" cy="66395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703411D-0D7F-95A9-ED7A-FB082B976064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UFO Crashed in Desert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A04923A-C693-C3B0-BF8F-52977182F81C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photo is edited. Authorities confirm it’s a discarded aircraft part.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Feedback</a:t>
            </a:r>
          </a:p>
          <a:p>
            <a:r>
              <a:t>Draft comments quickly.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5DC989-4543-3996-6EB5-F573A167C873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Teacher Benefits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32CC5B3F-E99A-4827-BD1A-F2354DA21545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1. Lesson Prep</a:t>
            </a:r>
          </a:p>
          <a:p>
            <a:r>
              <a:t>Build materials faster.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C1FF2D2E-A807-05E9-F5BF-CBE3570F2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5050" y="1295400"/>
            <a:ext cx="4762500" cy="47625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05A3C848-1BE0-3C9C-8F07-39DC6DC92DD3}"/>
              </a:ext>
            </a:extLst>
          </p:cNvPr>
          <p:cNvSpPr/>
          <p:nvPr/>
        </p:nvSpPr>
        <p:spPr>
          <a:xfrm>
            <a:off x="1314450" y="2424430"/>
            <a:ext cx="2057400" cy="2636520"/>
          </a:xfrm>
          <a:prstGeom prst="roundRect">
            <a:avLst>
              <a:gd name="adj" fmla="val 814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Differentiation</a:t>
            </a:r>
          </a:p>
          <a:p>
            <a:r>
              <a:t>Adjust tasks by level.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55675B-5034-C398-BE27-3960A4C3ECC7}"/>
              </a:ext>
            </a:extLst>
          </p:cNvPr>
          <p:cNvSpPr/>
          <p:nvPr/>
        </p:nvSpPr>
        <p:spPr>
          <a:xfrm>
            <a:off x="3630482" y="2424430"/>
            <a:ext cx="2057400" cy="2636520"/>
          </a:xfrm>
          <a:prstGeom prst="roundRect">
            <a:avLst>
              <a:gd name="adj" fmla="val 814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Monitoring</a:t>
            </a:r>
          </a:p>
          <a:p>
            <a:r>
              <a:t>Spot learning gaps sooner.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0A00FD7-32FC-EBE0-1228-01187A02377D}"/>
              </a:ext>
            </a:extLst>
          </p:cNvPr>
          <p:cNvGrpSpPr/>
          <p:nvPr/>
        </p:nvGrpSpPr>
        <p:grpSpPr>
          <a:xfrm>
            <a:off x="1588770" y="2761957"/>
            <a:ext cx="3824792" cy="1961466"/>
            <a:chOff x="1588770" y="2761957"/>
            <a:chExt cx="3824792" cy="1961466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0CFA6B7-379A-0CE1-D154-A824203D7C56}"/>
                </a:ext>
              </a:extLst>
            </p:cNvPr>
            <p:cNvGrpSpPr/>
            <p:nvPr/>
          </p:nvGrpSpPr>
          <p:grpSpPr>
            <a:xfrm>
              <a:off x="1588770" y="2761957"/>
              <a:ext cx="1508760" cy="1961466"/>
              <a:chOff x="1089213" y="3194710"/>
              <a:chExt cx="1508760" cy="1961466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35EFA18-0C24-24F9-F9E1-F387E03FB9C6}"/>
                  </a:ext>
                </a:extLst>
              </p:cNvPr>
              <p:cNvSpPr txBox="1"/>
              <p:nvPr/>
            </p:nvSpPr>
            <p:spPr>
              <a:xfrm>
                <a:off x="1089213" y="3924300"/>
                <a:ext cx="15087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Tap Water Causes Cancer</a:t>
                </a: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5238664-4F25-1629-E5B6-1B4DE5CF205F}"/>
                  </a:ext>
                </a:extLst>
              </p:cNvPr>
              <p:cNvSpPr txBox="1"/>
              <p:nvPr/>
            </p:nvSpPr>
            <p:spPr>
              <a:xfrm>
                <a:off x="1089213" y="4355187"/>
                <a:ext cx="1402080" cy="800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bg1"/>
                    </a:solidFill>
                  </a:rPr>
                  <a:t>No scientific proof. Local water quality meets international safety standards. 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27BDF60-335D-EE31-83EC-AFB313BCDA0B}"/>
                  </a:ext>
                </a:extLst>
              </p:cNvPr>
              <p:cNvSpPr txBox="1"/>
              <p:nvPr/>
            </p:nvSpPr>
            <p:spPr>
              <a:xfrm>
                <a:off x="1089213" y="3194710"/>
                <a:ext cx="15087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>
                    <a:solidFill>
                      <a:schemeClr val="bg1">
                        <a:alpha val="41000"/>
                      </a:schemeClr>
                    </a:solidFill>
                    <a:latin typeface="+mj-ea"/>
                    <a:ea typeface="+mj-ea"/>
                  </a:rPr>
                  <a:t>01.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26166E-6CCF-2E9D-BF19-699B8032F331}"/>
                </a:ext>
              </a:extLst>
            </p:cNvPr>
            <p:cNvGrpSpPr/>
            <p:nvPr/>
          </p:nvGrpSpPr>
          <p:grpSpPr>
            <a:xfrm>
              <a:off x="3904802" y="2761957"/>
              <a:ext cx="1508760" cy="1961466"/>
              <a:chOff x="1089213" y="3194710"/>
              <a:chExt cx="1508760" cy="1961466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23EDABC-32E1-4ACD-84C3-B9D3EDE0B463}"/>
                  </a:ext>
                </a:extLst>
              </p:cNvPr>
              <p:cNvSpPr txBox="1"/>
              <p:nvPr/>
            </p:nvSpPr>
            <p:spPr>
              <a:xfrm>
                <a:off x="1089213" y="3924300"/>
                <a:ext cx="15087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bg1"/>
                    </a:solidFill>
                    <a:latin typeface="+mj-ea"/>
                    <a:ea typeface="+mj-ea"/>
                  </a:rPr>
                  <a:t>5G Towers Spread COVID-19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DF0890-7F85-F7E9-955A-39844BED8AB6}"/>
                  </a:ext>
                </a:extLst>
              </p:cNvPr>
              <p:cNvSpPr txBox="1"/>
              <p:nvPr/>
            </p:nvSpPr>
            <p:spPr>
              <a:xfrm>
                <a:off x="1089213" y="4355187"/>
                <a:ext cx="1402080" cy="800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bg1"/>
                    </a:solidFill>
                  </a:rPr>
                  <a:t>A baseless claim. 5G is a communication tech with no virus transmission link. 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5CDC565-3306-1D66-FEE4-7980D98DFE9F}"/>
                  </a:ext>
                </a:extLst>
              </p:cNvPr>
              <p:cNvSpPr txBox="1"/>
              <p:nvPr/>
            </p:nvSpPr>
            <p:spPr>
              <a:xfrm>
                <a:off x="1089213" y="3194710"/>
                <a:ext cx="15087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chemeClr val="bg1">
                        <a:alpha val="41000"/>
                      </a:schemeClr>
                    </a:solidFill>
                    <a:latin typeface="+mj-ea"/>
                    <a:ea typeface="+mj-ea"/>
                  </a:rPr>
                  <a:t>02.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Over-Reliance</a:t>
            </a:r>
          </a:p>
          <a:p>
            <a:r>
              <a:t>Keep independent practice required.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4. Bias Risk</a:t>
            </a:r>
          </a:p>
          <a:p>
            <a:r>
              <a:t>Review outputs for fairness.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7607698-18D6-9C37-B424-217D0AE2043C}"/>
              </a:ext>
            </a:extLst>
          </p:cNvPr>
          <p:cNvSpPr/>
          <p:nvPr/>
        </p:nvSpPr>
        <p:spPr>
          <a:xfrm>
            <a:off x="943264" y="2117773"/>
            <a:ext cx="4887624" cy="3218019"/>
          </a:xfrm>
          <a:prstGeom prst="roundRect">
            <a:avLst>
              <a:gd name="adj" fmla="val 8304"/>
            </a:avLst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Privacy Risk</a:t>
            </a:r>
          </a:p>
          <a:p>
            <a:r>
              <a:t>Protect student data at all times.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37D9A6-20B2-711A-2DCF-CD5BF00B6B0F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Key Risks to Manage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EF265DFF-F595-4DDD-59AC-05B8491286D6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1. Wrong Answers</a:t>
            </a:r>
          </a:p>
          <a:p>
            <a:r>
              <a:t>Check critical outputs for accuracy.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E1239143-8F2C-DFA4-0A34-DDA7CDCA1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1113" y="1539458"/>
            <a:ext cx="4762500" cy="476250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6A11AE10-EAE7-ABA1-92CF-0169648181AD}"/>
              </a:ext>
            </a:extLst>
          </p:cNvPr>
          <p:cNvGrpSpPr/>
          <p:nvPr/>
        </p:nvGrpSpPr>
        <p:grpSpPr>
          <a:xfrm>
            <a:off x="1162329" y="2504026"/>
            <a:ext cx="4449495" cy="2445513"/>
            <a:chOff x="1219785" y="2538220"/>
            <a:chExt cx="4449495" cy="244551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BDCA55A-5D47-1640-C185-81E651BA7851}"/>
                </a:ext>
              </a:extLst>
            </p:cNvPr>
            <p:cNvGrpSpPr/>
            <p:nvPr/>
          </p:nvGrpSpPr>
          <p:grpSpPr>
            <a:xfrm>
              <a:off x="1219785" y="2538220"/>
              <a:ext cx="4449495" cy="663952"/>
              <a:chOff x="-3788781" y="-223062"/>
              <a:chExt cx="4151340" cy="663952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2FAF5CE-D3A0-4AAF-AF21-B7DDCAD04D30}"/>
                  </a:ext>
                </a:extLst>
              </p:cNvPr>
              <p:cNvSpPr txBox="1"/>
              <p:nvPr/>
            </p:nvSpPr>
            <p:spPr>
              <a:xfrm>
                <a:off x="-2969670" y="-223062"/>
                <a:ext cx="33322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/>
                    </a:solidFill>
                    <a:latin typeface="+mj-ea"/>
                    <a:ea typeface="+mj-ea"/>
                  </a:rPr>
                  <a:t>Tap Water Causes Cancer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AC89707-1176-1E21-A4F2-DDDAE1512912}"/>
                  </a:ext>
                </a:extLst>
              </p:cNvPr>
              <p:cNvSpPr txBox="1"/>
              <p:nvPr/>
            </p:nvSpPr>
            <p:spPr>
              <a:xfrm>
                <a:off x="-2969669" y="0"/>
                <a:ext cx="3151627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No scientific proof. Local water quality meets international safety standards. 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B14600E-A1C6-1DF1-B18C-EF15917BFB88}"/>
                  </a:ext>
                </a:extLst>
              </p:cNvPr>
              <p:cNvSpPr txBox="1"/>
              <p:nvPr/>
            </p:nvSpPr>
            <p:spPr>
              <a:xfrm>
                <a:off x="-3788781" y="-165912"/>
                <a:ext cx="975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>
                    <a:solidFill>
                      <a:schemeClr val="accent1">
                        <a:lumMod val="50000"/>
                        <a:alpha val="45000"/>
                      </a:schemeClr>
                    </a:solidFill>
                    <a:latin typeface="+mj-ea"/>
                    <a:ea typeface="+mj-ea"/>
                  </a:rPr>
                  <a:t>01.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473C4E2-8F63-6959-50F7-9ECD441E80B0}"/>
                </a:ext>
              </a:extLst>
            </p:cNvPr>
            <p:cNvGrpSpPr/>
            <p:nvPr/>
          </p:nvGrpSpPr>
          <p:grpSpPr>
            <a:xfrm>
              <a:off x="1219785" y="3429000"/>
              <a:ext cx="4449495" cy="663952"/>
              <a:chOff x="-3788781" y="-223062"/>
              <a:chExt cx="4151340" cy="663952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EFD4C01-8724-A4F6-8A77-FC16F2CB094A}"/>
                  </a:ext>
                </a:extLst>
              </p:cNvPr>
              <p:cNvSpPr txBox="1"/>
              <p:nvPr/>
            </p:nvSpPr>
            <p:spPr>
              <a:xfrm>
                <a:off x="-2969670" y="-223062"/>
                <a:ext cx="33322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/>
                    </a:solidFill>
                    <a:latin typeface="+mj-ea"/>
                    <a:ea typeface="+mj-ea"/>
                  </a:rPr>
                  <a:t>5G Towers Spread COVID-19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5D702C4-3354-4C10-1127-8F331601645E}"/>
                  </a:ext>
                </a:extLst>
              </p:cNvPr>
              <p:cNvSpPr txBox="1"/>
              <p:nvPr/>
            </p:nvSpPr>
            <p:spPr>
              <a:xfrm>
                <a:off x="-2969669" y="0"/>
                <a:ext cx="3151627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 baseless claim. 5G is a communication tech with no virus transmission link. 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DC1BA27-6784-433B-6F0C-02B31A3CEDD6}"/>
                  </a:ext>
                </a:extLst>
              </p:cNvPr>
              <p:cNvSpPr txBox="1"/>
              <p:nvPr/>
            </p:nvSpPr>
            <p:spPr>
              <a:xfrm>
                <a:off x="-3788781" y="-165912"/>
                <a:ext cx="975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>
                    <a:solidFill>
                      <a:schemeClr val="accent1">
                        <a:lumMod val="50000"/>
                        <a:alpha val="45000"/>
                      </a:schemeClr>
                    </a:solidFill>
                    <a:latin typeface="+mj-ea"/>
                    <a:ea typeface="+mj-ea"/>
                  </a:rPr>
                  <a:t>02.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A038DD1-98A5-2A52-9E19-0C781B70806D}"/>
                </a:ext>
              </a:extLst>
            </p:cNvPr>
            <p:cNvGrpSpPr/>
            <p:nvPr/>
          </p:nvGrpSpPr>
          <p:grpSpPr>
            <a:xfrm>
              <a:off x="1219785" y="4319781"/>
              <a:ext cx="4449495" cy="663952"/>
              <a:chOff x="-3788781" y="-223062"/>
              <a:chExt cx="4151340" cy="66395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5F9E063-ADDA-D562-E94D-25415E305352}"/>
                  </a:ext>
                </a:extLst>
              </p:cNvPr>
              <p:cNvSpPr txBox="1"/>
              <p:nvPr/>
            </p:nvSpPr>
            <p:spPr>
              <a:xfrm>
                <a:off x="-2969670" y="-223062"/>
                <a:ext cx="33322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/>
                    </a:solidFill>
                    <a:latin typeface="+mj-ea"/>
                    <a:ea typeface="+mj-ea"/>
                  </a:rPr>
                  <a:t>UFO Crashed in Desert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8639F7E-876D-0689-F83F-B705E9D76D4F}"/>
                  </a:ext>
                </a:extLst>
              </p:cNvPr>
              <p:cNvSpPr txBox="1"/>
              <p:nvPr/>
            </p:nvSpPr>
            <p:spPr>
              <a:xfrm>
                <a:off x="-2969669" y="0"/>
                <a:ext cx="3151627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The photo is edited. Authorities confirm it’s a discarded aircraft part. 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46D40B6-D0CE-70D7-000F-E887C5028C2A}"/>
                  </a:ext>
                </a:extLst>
              </p:cNvPr>
              <p:cNvSpPr txBox="1"/>
              <p:nvPr/>
            </p:nvSpPr>
            <p:spPr>
              <a:xfrm>
                <a:off x="-3788781" y="-165912"/>
                <a:ext cx="975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>
                    <a:solidFill>
                      <a:schemeClr val="accent1">
                        <a:lumMod val="50000"/>
                        <a:alpha val="45000"/>
                      </a:schemeClr>
                    </a:solidFill>
                    <a:latin typeface="+mj-ea"/>
                    <a:ea typeface="+mj-ea"/>
                  </a:rPr>
                  <a:t>03.</a:t>
                </a: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Require Review</a:t>
            </a:r>
          </a:p>
          <a:p>
            <a:r>
              <a:t>Review key outputs before use.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6039FB-71B2-8A78-892B-21574BA464A9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Core Guardrails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875328DA-9685-E6A5-BBCE-52CBC1C5D028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1. Protect Data</a:t>
            </a:r>
          </a:p>
          <a:p>
            <a:r>
              <a:t>Use only approved tools and data.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35192B21-113D-2C4A-AE60-C4D2DCE1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019" y="1290463"/>
            <a:ext cx="4762500" cy="47625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995C2B-30F9-390B-2DFB-FAD9F36101C7}"/>
              </a:ext>
            </a:extLst>
          </p:cNvPr>
          <p:cNvSpPr/>
          <p:nvPr/>
        </p:nvSpPr>
        <p:spPr>
          <a:xfrm>
            <a:off x="6277510" y="1972849"/>
            <a:ext cx="4532641" cy="8768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Track Quality</a:t>
            </a:r>
          </a:p>
          <a:p>
            <a:r>
              <a:t>Measure value and accuracy.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E5C5794-921C-CEA1-4513-68CBC768AEB3}"/>
              </a:ext>
            </a:extLst>
          </p:cNvPr>
          <p:cNvSpPr/>
          <p:nvPr/>
        </p:nvSpPr>
        <p:spPr>
          <a:xfrm>
            <a:off x="5615519" y="1866736"/>
            <a:ext cx="1089046" cy="108904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Limit Scope</a:t>
            </a:r>
          </a:p>
          <a:p>
            <a:r>
              <a:t>Start with low-risk tasks.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274A7B-640C-03C4-5775-35881DEFF562}"/>
              </a:ext>
            </a:extLst>
          </p:cNvPr>
          <p:cNvSpPr txBox="1"/>
          <p:nvPr/>
        </p:nvSpPr>
        <p:spPr>
          <a:xfrm>
            <a:off x="5755923" y="2149649"/>
            <a:ext cx="80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5. Escalate Issues
Report weak outputs quickly.</a:t>
            </a:r>
            <a:endParaRPr lang="zh-CN" altLang="en-US" sz="28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1BEC855-4610-2159-6CA3-21FB6C406B88}"/>
              </a:ext>
            </a:extLst>
          </p:cNvPr>
          <p:cNvSpPr/>
          <p:nvPr/>
        </p:nvSpPr>
        <p:spPr>
          <a:xfrm>
            <a:off x="7064908" y="3283385"/>
            <a:ext cx="4532641" cy="8768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BB2014B-B66F-DB89-0A83-58568319639A}"/>
              </a:ext>
            </a:extLst>
          </p:cNvPr>
          <p:cNvSpPr/>
          <p:nvPr/>
        </p:nvSpPr>
        <p:spPr>
          <a:xfrm>
            <a:off x="6402917" y="3177272"/>
            <a:ext cx="1089046" cy="108904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8727718-24AB-B190-294A-586D96A97592}"/>
              </a:ext>
            </a:extLst>
          </p:cNvPr>
          <p:cNvSpPr txBox="1"/>
          <p:nvPr/>
        </p:nvSpPr>
        <p:spPr>
          <a:xfrm>
            <a:off x="6543321" y="3460185"/>
            <a:ext cx="80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+mj-ea"/>
                <a:ea typeface="+mj-ea"/>
              </a:rPr>
              <a:t/>
            </a:r>
            <a:endParaRPr lang="zh-CN" altLang="en-US" sz="28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408E355-0D74-AEA1-C621-EA28D051D910}"/>
              </a:ext>
            </a:extLst>
          </p:cNvPr>
          <p:cNvSpPr/>
          <p:nvPr/>
        </p:nvSpPr>
        <p:spPr>
          <a:xfrm>
            <a:off x="6277510" y="4593922"/>
            <a:ext cx="4532641" cy="8768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9665E5D-A49B-EC15-3D6D-689C43BFCC91}"/>
              </a:ext>
            </a:extLst>
          </p:cNvPr>
          <p:cNvSpPr/>
          <p:nvPr/>
        </p:nvSpPr>
        <p:spPr>
          <a:xfrm>
            <a:off x="5615519" y="4487809"/>
            <a:ext cx="1089046" cy="108904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C40ED2-5280-3662-BDC0-3D6CE3FA1A89}"/>
              </a:ext>
            </a:extLst>
          </p:cNvPr>
          <p:cNvSpPr txBox="1"/>
          <p:nvPr/>
        </p:nvSpPr>
        <p:spPr>
          <a:xfrm>
            <a:off x="5755923" y="4770722"/>
            <a:ext cx="80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+mj-ea"/>
                <a:ea typeface="+mj-ea"/>
              </a:rPr>
              <a:t/>
            </a:r>
            <a:endParaRPr lang="zh-CN" altLang="en-US" sz="28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F027E70-EE83-91C0-9C24-5B139272E7FE}"/>
              </a:ext>
            </a:extLst>
          </p:cNvPr>
          <p:cNvGrpSpPr/>
          <p:nvPr/>
        </p:nvGrpSpPr>
        <p:grpSpPr>
          <a:xfrm>
            <a:off x="7159980" y="2079283"/>
            <a:ext cx="3571554" cy="663952"/>
            <a:chOff x="-2969670" y="-223062"/>
            <a:chExt cx="3332229" cy="663952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C4169E7-F57B-E436-3E67-BCFEACF511FD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Tap Water Causes Cancer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930C75F-7DFE-D948-0273-5B125EE01F55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 scientific proof. Local water quality meets international safety standards. 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9D5CBCD-C530-9352-AD7C-462A05D49744}"/>
              </a:ext>
            </a:extLst>
          </p:cNvPr>
          <p:cNvGrpSpPr/>
          <p:nvPr/>
        </p:nvGrpSpPr>
        <p:grpSpPr>
          <a:xfrm>
            <a:off x="7159980" y="4700356"/>
            <a:ext cx="3571554" cy="663952"/>
            <a:chOff x="-2969670" y="-223062"/>
            <a:chExt cx="3332229" cy="663952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5148664-C887-981D-D5F8-8D906CB3066B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UFO Crashed in Desert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2ACEF64-1F18-5EDD-5701-FCB0FA229D69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photo is edited. Authorities confirm it’s a discarded aircraft part. 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FA4DCEE-4BF8-0B10-9E4F-0703242568CF}"/>
              </a:ext>
            </a:extLst>
          </p:cNvPr>
          <p:cNvGrpSpPr/>
          <p:nvPr/>
        </p:nvGrpSpPr>
        <p:grpSpPr>
          <a:xfrm>
            <a:off x="7947378" y="3389819"/>
            <a:ext cx="3571554" cy="663952"/>
            <a:chOff x="-2969670" y="-223062"/>
            <a:chExt cx="3332229" cy="663952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2A22C69-9EDD-B65C-4D0A-7A58A7F6EED9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5G Towers Spread COVID-19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B11023B-6F0A-79C1-34FC-E3559095DA6C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baseless claim. 5G is a communication tech with no virus transmission link.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Completion Rate</a:t>
            </a:r>
          </a:p>
          <a:p>
            <a:r>
              <a:t>More tasks finished on time.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4. Teacher Time</a:t>
            </a:r>
          </a:p>
          <a:p>
            <a:r>
              <a:t>Less repetitive prep work.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95AA8F-7E34-C486-E640-9D66701FBFBA}"/>
              </a:ext>
            </a:extLst>
          </p:cNvPr>
          <p:cNvSpPr/>
          <p:nvPr/>
        </p:nvSpPr>
        <p:spPr>
          <a:xfrm>
            <a:off x="6142618" y="2719318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Engagement</a:t>
            </a:r>
          </a:p>
          <a:p>
            <a:r>
              <a:t>Higher participation in practice.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C7E1AB-9879-E0D3-A1D4-B54B46AD6A6C}"/>
              </a:ext>
            </a:extLst>
          </p:cNvPr>
          <p:cNvSpPr/>
          <p:nvPr/>
        </p:nvSpPr>
        <p:spPr>
          <a:xfrm>
            <a:off x="6142618" y="3790196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F2ACB1-DD31-6DAE-D3CC-A1467103805A}"/>
              </a:ext>
            </a:extLst>
          </p:cNvPr>
          <p:cNvSpPr/>
          <p:nvPr/>
        </p:nvSpPr>
        <p:spPr>
          <a:xfrm>
            <a:off x="6142618" y="4834480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2B10C2-7C05-01B7-3E1E-4FD373B9803E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Success Metrics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27B7A5B1-59E6-D2A3-B436-7CF56C92D4B7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Track a small set of clear indicators.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7969517B-96D9-A389-48B2-4A5EA7188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0" y="1287437"/>
            <a:ext cx="4784696" cy="47846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B5509C-37E2-FEAE-913C-944CDC67F030}"/>
              </a:ext>
            </a:extLst>
          </p:cNvPr>
          <p:cNvSpPr txBox="1"/>
          <p:nvPr/>
        </p:nvSpPr>
        <p:spPr>
          <a:xfrm>
            <a:off x="6009371" y="1287437"/>
            <a:ext cx="4542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>
                <a:solidFill>
                  <a:schemeClr val="accent1"/>
                </a:solidFill>
                <a:latin typeface="+mj-ea"/>
                <a:ea typeface="+mj-ea"/>
              </a:rPr>
              <a:t>2. Response Speed
Faster support for students.</a:t>
            </a:r>
          </a:p>
          <a:p>
            <a:r>
              <a:rPr lang="en-US" altLang="zh-CN" sz="3600" b="1">
                <a:solidFill>
                  <a:schemeClr val="accent1"/>
                </a:solidFill>
                <a:latin typeface="+mj-ea"/>
                <a:ea typeface="+mj-ea"/>
              </a:rPr>
              <a:t/>
            </a:r>
            <a:endParaRPr lang="zh-CN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E833F4E-09B6-BA4B-2B3A-4EF2DD1C3F3A}"/>
              </a:ext>
            </a:extLst>
          </p:cNvPr>
          <p:cNvGrpSpPr/>
          <p:nvPr/>
        </p:nvGrpSpPr>
        <p:grpSpPr>
          <a:xfrm>
            <a:off x="6328402" y="2853948"/>
            <a:ext cx="3571554" cy="663952"/>
            <a:chOff x="-2969670" y="-223062"/>
            <a:chExt cx="3332229" cy="66395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1DD992D-5FB7-719E-9ADC-7656E7C9B38B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Tap Water Causes Cancer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51BD63-8952-5ABB-4397-CFCA986B29B5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 scientific proof. Local water quality meets international safety standards. 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7124339-3DD5-BC39-5A36-2C8EC96168E9}"/>
              </a:ext>
            </a:extLst>
          </p:cNvPr>
          <p:cNvGrpSpPr/>
          <p:nvPr/>
        </p:nvGrpSpPr>
        <p:grpSpPr>
          <a:xfrm>
            <a:off x="6328402" y="3924730"/>
            <a:ext cx="3571554" cy="663952"/>
            <a:chOff x="-2969670" y="-223062"/>
            <a:chExt cx="3332229" cy="66395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B47D431-AFEE-1C29-D829-C90B1D7F9FEA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5G Towers Spread COVID-19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B4927A3-6D48-A5AE-B8E4-F4C66403E356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baseless claim. 5G is a communication tech with no virus transmission link. 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0C144B4-2DD6-FEF2-A96C-27AD5BE484B2}"/>
              </a:ext>
            </a:extLst>
          </p:cNvPr>
          <p:cNvGrpSpPr/>
          <p:nvPr/>
        </p:nvGrpSpPr>
        <p:grpSpPr>
          <a:xfrm>
            <a:off x="6328402" y="4995511"/>
            <a:ext cx="3571554" cy="663952"/>
            <a:chOff x="-2969670" y="-223062"/>
            <a:chExt cx="3332229" cy="66395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703411D-0D7F-95A9-ED7A-FB082B976064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UFO Crashed in Desert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A04923A-C693-C3B0-BF8F-52977182F81C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photo is edited. Authorities confirm it’s a discarded aircraft part. 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Improve Training</a:t>
            </a:r>
          </a:p>
          <a:p>
            <a:r>
              <a:t>Use pilot examples in training.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5DC989-4543-3996-6EB5-F573A167C873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Next Actions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32CC5B3F-E99A-4827-BD1A-F2354DA21545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r>
              <a:t>1. Expand Gradually</a:t>
            </a:r>
          </a:p>
          <a:p>
            <a:r>
              <a:t>Add classes in small waves.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C1FF2D2E-A807-05E9-F5BF-CBE3570F2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5050" y="1295400"/>
            <a:ext cx="4762500" cy="47625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05A3C848-1BE0-3C9C-8F07-39DC6DC92DD3}"/>
              </a:ext>
            </a:extLst>
          </p:cNvPr>
          <p:cNvSpPr/>
          <p:nvPr/>
        </p:nvSpPr>
        <p:spPr>
          <a:xfrm>
            <a:off x="1314450" y="2424430"/>
            <a:ext cx="2057400" cy="2636520"/>
          </a:xfrm>
          <a:prstGeom prst="roundRect">
            <a:avLst>
              <a:gd name="adj" fmla="val 814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Standardize Workflow</a:t>
            </a:r>
          </a:p>
          <a:p>
            <a:r>
              <a:t>Document prompts and rules.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55675B-5034-C398-BE27-3960A4C3ECC7}"/>
              </a:ext>
            </a:extLst>
          </p:cNvPr>
          <p:cNvSpPr/>
          <p:nvPr/>
        </p:nvSpPr>
        <p:spPr>
          <a:xfrm>
            <a:off x="3630482" y="2424430"/>
            <a:ext cx="2057400" cy="2636520"/>
          </a:xfrm>
          <a:prstGeom prst="roundRect">
            <a:avLst>
              <a:gd name="adj" fmla="val 814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Review Each Term</a:t>
            </a:r>
          </a:p>
          <a:p>
            <a:r>
              <a:t>Refine scope after each term.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0A00FD7-32FC-EBE0-1228-01187A02377D}"/>
              </a:ext>
            </a:extLst>
          </p:cNvPr>
          <p:cNvGrpSpPr/>
          <p:nvPr/>
        </p:nvGrpSpPr>
        <p:grpSpPr>
          <a:xfrm>
            <a:off x="1588770" y="2761957"/>
            <a:ext cx="3824792" cy="1961466"/>
            <a:chOff x="1588770" y="2761957"/>
            <a:chExt cx="3824792" cy="1961466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0CFA6B7-379A-0CE1-D154-A824203D7C56}"/>
                </a:ext>
              </a:extLst>
            </p:cNvPr>
            <p:cNvGrpSpPr/>
            <p:nvPr/>
          </p:nvGrpSpPr>
          <p:grpSpPr>
            <a:xfrm>
              <a:off x="1588770" y="2761957"/>
              <a:ext cx="1508760" cy="1961466"/>
              <a:chOff x="1089213" y="3194710"/>
              <a:chExt cx="1508760" cy="1961466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35EFA18-0C24-24F9-F9E1-F387E03FB9C6}"/>
                  </a:ext>
                </a:extLst>
              </p:cNvPr>
              <p:cNvSpPr txBox="1"/>
              <p:nvPr/>
            </p:nvSpPr>
            <p:spPr>
              <a:xfrm>
                <a:off x="1089213" y="3924300"/>
                <a:ext cx="15087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Tap Water Causes Cancer</a:t>
                </a: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5238664-4F25-1629-E5B6-1B4DE5CF205F}"/>
                  </a:ext>
                </a:extLst>
              </p:cNvPr>
              <p:cNvSpPr txBox="1"/>
              <p:nvPr/>
            </p:nvSpPr>
            <p:spPr>
              <a:xfrm>
                <a:off x="1089213" y="4355187"/>
                <a:ext cx="1402080" cy="800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bg1"/>
                    </a:solidFill>
                  </a:rPr>
                  <a:t>No scientific proof. Local water quality meets international safety standards. 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27BDF60-335D-EE31-83EC-AFB313BCDA0B}"/>
                  </a:ext>
                </a:extLst>
              </p:cNvPr>
              <p:cNvSpPr txBox="1"/>
              <p:nvPr/>
            </p:nvSpPr>
            <p:spPr>
              <a:xfrm>
                <a:off x="1089213" y="3194710"/>
                <a:ext cx="15087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>
                    <a:solidFill>
                      <a:schemeClr val="bg1">
                        <a:alpha val="41000"/>
                      </a:schemeClr>
                    </a:solidFill>
                    <a:latin typeface="+mj-ea"/>
                    <a:ea typeface="+mj-ea"/>
                  </a:rPr>
                  <a:t>01.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26166E-6CCF-2E9D-BF19-699B8032F331}"/>
                </a:ext>
              </a:extLst>
            </p:cNvPr>
            <p:cNvGrpSpPr/>
            <p:nvPr/>
          </p:nvGrpSpPr>
          <p:grpSpPr>
            <a:xfrm>
              <a:off x="3904802" y="2761957"/>
              <a:ext cx="1508760" cy="1961466"/>
              <a:chOff x="1089213" y="3194710"/>
              <a:chExt cx="1508760" cy="1961466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23EDABC-32E1-4ACD-84C3-B9D3EDE0B463}"/>
                  </a:ext>
                </a:extLst>
              </p:cNvPr>
              <p:cNvSpPr txBox="1"/>
              <p:nvPr/>
            </p:nvSpPr>
            <p:spPr>
              <a:xfrm>
                <a:off x="1089213" y="3924300"/>
                <a:ext cx="15087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bg1"/>
                    </a:solidFill>
                    <a:latin typeface="+mj-ea"/>
                    <a:ea typeface="+mj-ea"/>
                  </a:rPr>
                  <a:t>5G Towers Spread COVID-19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DF0890-7F85-F7E9-955A-39844BED8AB6}"/>
                  </a:ext>
                </a:extLst>
              </p:cNvPr>
              <p:cNvSpPr txBox="1"/>
              <p:nvPr/>
            </p:nvSpPr>
            <p:spPr>
              <a:xfrm>
                <a:off x="1089213" y="4355187"/>
                <a:ext cx="1402080" cy="800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bg1"/>
                    </a:solidFill>
                  </a:rPr>
                  <a:t>A baseless claim. 5G is a communication tech with no virus transmission link. 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5CDC565-3306-1D66-FEE4-7980D98DFE9F}"/>
                  </a:ext>
                </a:extLst>
              </p:cNvPr>
              <p:cNvSpPr txBox="1"/>
              <p:nvPr/>
            </p:nvSpPr>
            <p:spPr>
              <a:xfrm>
                <a:off x="1089213" y="3194710"/>
                <a:ext cx="15087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chemeClr val="bg1">
                        <a:alpha val="41000"/>
                      </a:schemeClr>
                    </a:solidFill>
                    <a:latin typeface="+mj-ea"/>
                    <a:ea typeface="+mj-ea"/>
                  </a:rPr>
                  <a:t>02.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黑体字">
      <a:majorFont>
        <a:latin typeface="OPPOSans H"/>
        <a:ea typeface="OPPOSans H"/>
        <a:cs typeface=""/>
      </a:majorFont>
      <a:minorFont>
        <a:latin typeface="OPPOSans R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219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OPPOSans H</vt:lpstr>
      <vt:lpstr>OPPOSans R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1364793248@qq.com</dc:creator>
  <cp:lastModifiedBy>Rania Asran</cp:lastModifiedBy>
  <cp:revision>4</cp:revision>
  <dcterms:created xsi:type="dcterms:W3CDTF">2026-03-27T02:19:43Z</dcterms:created>
  <dcterms:modified xsi:type="dcterms:W3CDTF">2026-04-21T10:59:54Z</dcterms:modified>
</cp:coreProperties>
</file>