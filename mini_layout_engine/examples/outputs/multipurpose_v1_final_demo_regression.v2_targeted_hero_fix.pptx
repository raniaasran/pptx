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8"/>
  </p:notesMasterIdLst>
  <p:sldIdLst>
    <p:sldId id="311" r:id="rId97"/>
    <p:sldId id="312" r:id="rId98"/>
    <p:sldId id="313" r:id="rId99"/>
    <p:sldId id="314" r:id="rId100"/>
    <p:sldId id="315" r:id="rId101"/>
    <p:sldId id="316" r:id="rId102"/>
    <p:sldId id="317" r:id="rId103"/>
    <p:sldId id="318" r:id="rId104"/>
    <p:sldId id="319" r:id="rId105"/>
    <p:sldId id="320" r:id="rId106"/>
    <p:sldId id="321" r:id="rId107"/>
    <p:sldId id="322" r:id="rId108"/>
    <p:sldId id="323" r:id="rId109"/>
    <p:sldId id="324" r:id="rId110"/>
    <p:sldId id="325" r:id="rId111"/>
    <p:sldId id="326" r:id="rId112"/>
    <p:sldId id="327" r:id="rId113"/>
    <p:sldId id="328" r:id="rId114"/>
    <p:sldId id="329" r:id="rId115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59"/>
      <p:bold r:id="rId60"/>
    </p:embeddedFont>
    <p:embeddedFont>
      <p:font typeface="Anaheim" panose="020B0604020202020204" charset="0"/>
      <p:regular r:id="rId61"/>
      <p:bold r:id="rId62"/>
    </p:embeddedFont>
    <p:embeddedFont>
      <p:font typeface="Bebas Neue" panose="020B0606020202050201" pitchFamily="34" charset="0"/>
      <p:regular r:id="rId63"/>
    </p:embeddedFont>
    <p:embeddedFont>
      <p:font typeface="Lato" panose="020F0502020204030203" pitchFamily="34" charset="0"/>
      <p:regular r:id="rId64"/>
      <p:bold r:id="rId65"/>
      <p:italic r:id="rId66"/>
      <p:boldItalic r:id="rId67"/>
    </p:embeddedFont>
    <p:embeddedFont>
      <p:font typeface="Nunito Light" pitchFamily="2" charset="0"/>
      <p:regular r:id="rId68"/>
    </p:embeddedFont>
    <p:embeddedFont>
      <p:font typeface="Proxima Nova" panose="020B0604020202020204" charset="0"/>
      <p:regular r:id="rId69"/>
      <p:bold r:id="rId70"/>
      <p:italic r:id="rId71"/>
      <p:boldItalic r:id="rId72"/>
    </p:embeddedFont>
    <p:embeddedFont>
      <p:font typeface="PT Sans" panose="020B0503020203020204" pitchFamily="34" charset="0"/>
      <p:regular r:id="rId73"/>
      <p:bold r:id="rId74"/>
      <p:italic r:id="rId75"/>
      <p:boldItalic r:id="rId76"/>
    </p:embeddedFont>
    <p:embeddedFont>
      <p:font typeface="Red Hat Text" panose="020B0604020202020204" charset="0"/>
      <p:regular r:id="rId77"/>
      <p:bold r:id="rId78"/>
      <p:italic r:id="rId79"/>
      <p:boldItalic r:id="rId80"/>
    </p:embeddedFont>
    <p:embeddedFont>
      <p:font typeface="Red Hat Text Light" panose="020B0604020202020204" charset="0"/>
      <p:regular r:id="rId81"/>
      <p:bold r:id="rId82"/>
      <p:italic r:id="rId83"/>
      <p:boldItalic r:id="rId84"/>
    </p:embeddedFont>
    <p:embeddedFont>
      <p:font typeface="Roboto Condensed" panose="02000000000000000000" pitchFamily="2" charset="0"/>
      <p:regular r:id="rId85"/>
      <p:bold r:id="rId86"/>
      <p:italic r:id="rId87"/>
      <p:boldItalic r:id="rId88"/>
    </p:embeddedFont>
    <p:embeddedFont>
      <p:font typeface="Roboto Medium" panose="02000000000000000000" pitchFamily="2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8" Type="http://schemas.openxmlformats.org/officeDocument/2006/relationships/notesMaster" Target="notesMasters/notesMaster1.xml"/><Relationship Id="rId59" Type="http://schemas.openxmlformats.org/officeDocument/2006/relationships/font" Target="fonts/font1.fntdata"/><Relationship Id="rId60" Type="http://schemas.openxmlformats.org/officeDocument/2006/relationships/font" Target="fonts/font2.fntdata"/><Relationship Id="rId61" Type="http://schemas.openxmlformats.org/officeDocument/2006/relationships/font" Target="fonts/font3.fntdata"/><Relationship Id="rId62" Type="http://schemas.openxmlformats.org/officeDocument/2006/relationships/font" Target="fonts/font4.fntdata"/><Relationship Id="rId63" Type="http://schemas.openxmlformats.org/officeDocument/2006/relationships/font" Target="fonts/font5.fntdata"/><Relationship Id="rId64" Type="http://schemas.openxmlformats.org/officeDocument/2006/relationships/font" Target="fonts/font6.fntdata"/><Relationship Id="rId65" Type="http://schemas.openxmlformats.org/officeDocument/2006/relationships/font" Target="fonts/font7.fntdata"/><Relationship Id="rId66" Type="http://schemas.openxmlformats.org/officeDocument/2006/relationships/font" Target="fonts/font8.fntdata"/><Relationship Id="rId67" Type="http://schemas.openxmlformats.org/officeDocument/2006/relationships/font" Target="fonts/font9.fntdata"/><Relationship Id="rId68" Type="http://schemas.openxmlformats.org/officeDocument/2006/relationships/font" Target="fonts/font10.fntdata"/><Relationship Id="rId69" Type="http://schemas.openxmlformats.org/officeDocument/2006/relationships/font" Target="fonts/font11.fntdata"/><Relationship Id="rId70" Type="http://schemas.openxmlformats.org/officeDocument/2006/relationships/font" Target="fonts/font12.fntdata"/><Relationship Id="rId71" Type="http://schemas.openxmlformats.org/officeDocument/2006/relationships/font" Target="fonts/font13.fntdata"/><Relationship Id="rId72" Type="http://schemas.openxmlformats.org/officeDocument/2006/relationships/font" Target="fonts/font14.fntdata"/><Relationship Id="rId73" Type="http://schemas.openxmlformats.org/officeDocument/2006/relationships/font" Target="fonts/font15.fntdata"/><Relationship Id="rId74" Type="http://schemas.openxmlformats.org/officeDocument/2006/relationships/font" Target="fonts/font16.fntdata"/><Relationship Id="rId75" Type="http://schemas.openxmlformats.org/officeDocument/2006/relationships/font" Target="fonts/font17.fntdata"/><Relationship Id="rId76" Type="http://schemas.openxmlformats.org/officeDocument/2006/relationships/font" Target="fonts/font18.fntdata"/><Relationship Id="rId77" Type="http://schemas.openxmlformats.org/officeDocument/2006/relationships/font" Target="fonts/font19.fntdata"/><Relationship Id="rId78" Type="http://schemas.openxmlformats.org/officeDocument/2006/relationships/font" Target="fonts/font20.fntdata"/><Relationship Id="rId79" Type="http://schemas.openxmlformats.org/officeDocument/2006/relationships/font" Target="fonts/font21.fntdata"/><Relationship Id="rId80" Type="http://schemas.openxmlformats.org/officeDocument/2006/relationships/font" Target="fonts/font22.fntdata"/><Relationship Id="rId81" Type="http://schemas.openxmlformats.org/officeDocument/2006/relationships/font" Target="fonts/font23.fntdata"/><Relationship Id="rId82" Type="http://schemas.openxmlformats.org/officeDocument/2006/relationships/font" Target="fonts/font24.fntdata"/><Relationship Id="rId83" Type="http://schemas.openxmlformats.org/officeDocument/2006/relationships/font" Target="fonts/font25.fntdata"/><Relationship Id="rId84" Type="http://schemas.openxmlformats.org/officeDocument/2006/relationships/font" Target="fonts/font26.fntdata"/><Relationship Id="rId85" Type="http://schemas.openxmlformats.org/officeDocument/2006/relationships/font" Target="fonts/font27.fntdata"/><Relationship Id="rId86" Type="http://schemas.openxmlformats.org/officeDocument/2006/relationships/font" Target="fonts/font28.fntdata"/><Relationship Id="rId87" Type="http://schemas.openxmlformats.org/officeDocument/2006/relationships/font" Target="fonts/font29.fntdata"/><Relationship Id="rId88" Type="http://schemas.openxmlformats.org/officeDocument/2006/relationships/font" Target="fonts/font30.fntdata"/><Relationship Id="rId89" Type="http://schemas.openxmlformats.org/officeDocument/2006/relationships/font" Target="fonts/font31.fntdata"/><Relationship Id="rId90" Type="http://schemas.openxmlformats.org/officeDocument/2006/relationships/font" Target="fonts/font32.fntdata"/><Relationship Id="rId91" Type="http://schemas.openxmlformats.org/officeDocument/2006/relationships/font" Target="fonts/font33.fntdata"/><Relationship Id="rId92" Type="http://schemas.openxmlformats.org/officeDocument/2006/relationships/font" Target="fonts/font34.fntdata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97" Type="http://schemas.openxmlformats.org/officeDocument/2006/relationships/slide" Target="slides/slide56.xml"/><Relationship Id="rId98" Type="http://schemas.openxmlformats.org/officeDocument/2006/relationships/slide" Target="slides/slide57.xml"/><Relationship Id="rId99" Type="http://schemas.openxmlformats.org/officeDocument/2006/relationships/slide" Target="slides/slide58.xml"/><Relationship Id="rId100" Type="http://schemas.openxmlformats.org/officeDocument/2006/relationships/slide" Target="slides/slide59.xml"/><Relationship Id="rId101" Type="http://schemas.openxmlformats.org/officeDocument/2006/relationships/slide" Target="slides/slide60.xml"/><Relationship Id="rId102" Type="http://schemas.openxmlformats.org/officeDocument/2006/relationships/slide" Target="slides/slide61.xml"/><Relationship Id="rId103" Type="http://schemas.openxmlformats.org/officeDocument/2006/relationships/slide" Target="slides/slide62.xml"/><Relationship Id="rId104" Type="http://schemas.openxmlformats.org/officeDocument/2006/relationships/slide" Target="slides/slide63.xml"/><Relationship Id="rId105" Type="http://schemas.openxmlformats.org/officeDocument/2006/relationships/slide" Target="slides/slide64.xml"/><Relationship Id="rId106" Type="http://schemas.openxmlformats.org/officeDocument/2006/relationships/slide" Target="slides/slide65.xml"/><Relationship Id="rId107" Type="http://schemas.openxmlformats.org/officeDocument/2006/relationships/slide" Target="slides/slide66.xml"/><Relationship Id="rId108" Type="http://schemas.openxmlformats.org/officeDocument/2006/relationships/slide" Target="slides/slide67.xml"/><Relationship Id="rId109" Type="http://schemas.openxmlformats.org/officeDocument/2006/relationships/slide" Target="slides/slide68.xml"/><Relationship Id="rId110" Type="http://schemas.openxmlformats.org/officeDocument/2006/relationships/slide" Target="slides/slide69.xml"/><Relationship Id="rId111" Type="http://schemas.openxmlformats.org/officeDocument/2006/relationships/slide" Target="slides/slide70.xml"/><Relationship Id="rId112" Type="http://schemas.openxmlformats.org/officeDocument/2006/relationships/slide" Target="slides/slide71.xml"/><Relationship Id="rId113" Type="http://schemas.openxmlformats.org/officeDocument/2006/relationships/slide" Target="slides/slide72.xml"/><Relationship Id="rId114" Type="http://schemas.openxmlformats.org/officeDocument/2006/relationships/slide" Target="slides/slide73.xml"/><Relationship Id="rId115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0" name="Google Shape;1190;p45"/>
          <p:cNvSpPr/>
          <p:nvPr/>
        </p:nvSpPr>
        <p:spPr>
          <a:xfrm>
            <a:off x="5335650" y="771525"/>
            <a:ext cx="3119337" cy="2894946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rgbClr val="CED4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5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z="5200"/>
              <a:t>2026 Program Strategy Review</a:t>
            </a:r>
            <a:r>
              <a:rPr lang="en" sz="5200" b="0" dirty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sz="5200"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713225" y="911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5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Executive update and delivery outlook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194" name="Google Shape;1194;p45"/>
          <p:cNvGrpSpPr/>
          <p:nvPr/>
        </p:nvGrpSpPr>
        <p:grpSpPr>
          <a:xfrm>
            <a:off x="7463300" y="1687900"/>
            <a:ext cx="1168925" cy="284175"/>
            <a:chOff x="6017825" y="3809000"/>
            <a:chExt cx="1168925" cy="284175"/>
          </a:xfrm>
        </p:grpSpPr>
        <p:sp>
          <p:nvSpPr>
            <p:cNvPr id="1195" name="Google Shape;1195;p4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3" name="Google Shape;1263;p48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1"/>
                </a:solidFill>
              </a:rPr>
              <a:t>One Team. One Direction.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aligned scope, ownership, and outcomes across all delivery tracks.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5064913" y="4461913"/>
            <a:ext cx="1168925" cy="284175"/>
            <a:chOff x="6017825" y="3809000"/>
            <a:chExt cx="1168925" cy="284175"/>
          </a:xfrm>
        </p:grpSpPr>
        <p:sp>
          <p:nvSpPr>
            <p:cNvPr id="1266" name="Google Shape;1266;p4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Snapshot KPIs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month at a glance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Short table check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Single-slide expected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676656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Reach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18 active teams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Quality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97% review pass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Velocity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+12% vs last month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Execution Pillars</a:t>
            </a:r>
            <a:r>
              <a:rPr lang="en"/>
              <a:t/>
            </a:r>
            <a:endParaRPr/>
          </a:p>
        </p:txBody>
      </p:sp>
      <p:sp>
        <p:nvSpPr>
          <p:cNvPr id="1247" name="Google Shape;1247;p47"/>
          <p:cNvSpPr txBox="1">
            <a:spLocks noGrp="1"/>
          </p:cNvSpPr>
          <p:nvPr>
            <p:ph type="subTitle" idx="3"/>
          </p:nvPr>
        </p:nvSpPr>
        <p:spPr>
          <a:xfrm>
            <a:off x="2137882" y="3316003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Stabilize post-launch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2137882" y="2161307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Define scope and milestones</a:t>
            </a:r>
            <a:endParaRPr/>
          </a:p>
        </p:txBody>
      </p:sp>
      <p:sp>
        <p:nvSpPr>
          <p:cNvPr id="1249" name="Google Shape;1249;p47"/>
          <p:cNvSpPr txBox="1">
            <a:spLocks noGrp="1"/>
          </p:cNvSpPr>
          <p:nvPr>
            <p:ph type="subTitle" idx="2"/>
          </p:nvPr>
        </p:nvSpPr>
        <p:spPr>
          <a:xfrm>
            <a:off x="5353068" y="2161307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Ship priority capabilities</a:t>
            </a:r>
            <a:endParaRPr/>
          </a:p>
        </p:txBody>
      </p:sp>
      <p:sp>
        <p:nvSpPr>
          <p:cNvPr id="1250" name="Google Shape;1250;p47"/>
          <p:cNvSpPr txBox="1">
            <a:spLocks noGrp="1"/>
          </p:cNvSpPr>
          <p:nvPr>
            <p:ph type="subTitle" idx="4"/>
          </p:nvPr>
        </p:nvSpPr>
        <p:spPr>
          <a:xfrm>
            <a:off x="5353068" y="3316003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Iterate from feedback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1356814" y="1645654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01</a:t>
            </a:r>
            <a:endParaRPr/>
          </a:p>
        </p:txBody>
      </p:sp>
      <p:sp>
        <p:nvSpPr>
          <p:cNvPr id="1252" name="Google Shape;1252;p47"/>
          <p:cNvSpPr txBox="1">
            <a:spLocks noGrp="1"/>
          </p:cNvSpPr>
          <p:nvPr>
            <p:ph type="title" idx="6"/>
          </p:nvPr>
        </p:nvSpPr>
        <p:spPr>
          <a:xfrm>
            <a:off x="1356814" y="2800350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03</a:t>
            </a:r>
            <a:endParaRPr/>
          </a:p>
        </p:txBody>
      </p:sp>
      <p:sp>
        <p:nvSpPr>
          <p:cNvPr id="1253" name="Google Shape;1253;p47"/>
          <p:cNvSpPr txBox="1">
            <a:spLocks noGrp="1"/>
          </p:cNvSpPr>
          <p:nvPr>
            <p:ph type="title" idx="7"/>
          </p:nvPr>
        </p:nvSpPr>
        <p:spPr>
          <a:xfrm>
            <a:off x="4572000" y="1645654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02</a:t>
            </a:r>
            <a:endParaRPr/>
          </a:p>
        </p:txBody>
      </p:sp>
      <p:sp>
        <p:nvSpPr>
          <p:cNvPr id="1254" name="Google Shape;1254;p47"/>
          <p:cNvSpPr txBox="1">
            <a:spLocks noGrp="1"/>
          </p:cNvSpPr>
          <p:nvPr>
            <p:ph type="title" idx="8"/>
          </p:nvPr>
        </p:nvSpPr>
        <p:spPr>
          <a:xfrm>
            <a:off x="4572000" y="2800350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2137882" y="1780359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Plan</a:t>
            </a:r>
            <a:endParaRPr/>
          </a:p>
        </p:txBody>
      </p:sp>
      <p:sp>
        <p:nvSpPr>
          <p:cNvPr id="1256" name="Google Shape;1256;p47"/>
          <p:cNvSpPr txBox="1">
            <a:spLocks noGrp="1"/>
          </p:cNvSpPr>
          <p:nvPr>
            <p:ph type="subTitle" idx="13"/>
          </p:nvPr>
        </p:nvSpPr>
        <p:spPr>
          <a:xfrm>
            <a:off x="5353068" y="1780359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Build</a:t>
            </a:r>
            <a:endParaRPr/>
          </a:p>
        </p:txBody>
      </p:sp>
      <p:sp>
        <p:nvSpPr>
          <p:cNvPr id="1257" name="Google Shape;1257;p47"/>
          <p:cNvSpPr txBox="1">
            <a:spLocks noGrp="1"/>
          </p:cNvSpPr>
          <p:nvPr>
            <p:ph type="subTitle" idx="14"/>
          </p:nvPr>
        </p:nvSpPr>
        <p:spPr>
          <a:xfrm>
            <a:off x="2137882" y="2935055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Operate</a:t>
            </a:r>
            <a:endParaRPr/>
          </a:p>
        </p:txBody>
      </p:sp>
      <p:sp>
        <p:nvSpPr>
          <p:cNvPr id="1258" name="Google Shape;1258;p47"/>
          <p:cNvSpPr txBox="1">
            <a:spLocks noGrp="1"/>
          </p:cNvSpPr>
          <p:nvPr>
            <p:ph type="subTitle" idx="15"/>
          </p:nvPr>
        </p:nvSpPr>
        <p:spPr>
          <a:xfrm>
            <a:off x="5353068" y="2935055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Improve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3" name="Google Shape;1263;p48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1"/>
                </a:solidFill>
              </a:rPr>
              <a:t>The Next Quarter Is About Precision Execution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Every milestone now has an owner, date, and measurable success signal.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5064913" y="4461913"/>
            <a:ext cx="1168925" cy="284175"/>
            <a:chOff x="6017825" y="3809000"/>
            <a:chExt cx="1168925" cy="284175"/>
          </a:xfrm>
        </p:grpSpPr>
        <p:sp>
          <p:nvSpPr>
            <p:cNvPr id="1266" name="Google Shape;1266;p4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Workstream Health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Medium-density operational summary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Medium table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Mixed row lengths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66424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WS-01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Discovery scope finalized with stakeholder sign-off.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WS-02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Architecture checkpoints passed with no blockers.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WS-03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QA automation expanded to high-risk modules.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WS-04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Runbook updates completed for incident response.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WS-05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Pilot readiness checklist approved by PMO.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WS-06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Cross-team handoff protocol validated in rehearsal.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Critical Challenges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Upstream data contracts are still evolving, which can shift sequencing and force unplanned retesting windows across dependent teams.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01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Dependency Volatility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Critical Challenges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Security and legal reviews now include expanded evidence requests that increase turnaround time unless artifacts are prepared in parallel.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02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Approval Latency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Critical Challenges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Operational maturity differs by market, so support quality depends on additional enablement and tighter escalation ownership.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03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Regional Readiness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0" name="Google Shape;1190;p45"/>
          <p:cNvSpPr/>
          <p:nvPr/>
        </p:nvSpPr>
        <p:spPr>
          <a:xfrm>
            <a:off x="5335650" y="771525"/>
            <a:ext cx="3119337" cy="2894946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rgbClr val="CED4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5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z="5200"/>
              <a:t>Continuation Stress Validation</a:t>
            </a:r>
            <a:r>
              <a:rPr lang="en" sz="5200" b="0" dirty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sz="5200"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713225" y="911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5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Long-content behavior across table and grid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194" name="Google Shape;1194;p45"/>
          <p:cNvGrpSpPr/>
          <p:nvPr/>
        </p:nvGrpSpPr>
        <p:grpSpPr>
          <a:xfrm>
            <a:off x="7463300" y="1687900"/>
            <a:ext cx="1168925" cy="284175"/>
            <a:chOff x="6017825" y="3809000"/>
            <a:chExt cx="1168925" cy="284175"/>
          </a:xfrm>
        </p:grpSpPr>
        <p:sp>
          <p:nvSpPr>
            <p:cNvPr id="1195" name="Google Shape;1195;p4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Risk Register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Long-table continuation scenario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969008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000"/>
                        <a:t>R01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Cross-team scheduling remains sensitive because upstream schema changes and downstream reporting windows are tightly coupled, requiring coordinated cutoffs and fallback planning.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/>
                        <a:t>R02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Vendor onboarding checkpoints now include expanded security evidence reviews, increasing cycle time and shifting procurement readiness unless approvals are batched.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/>
                        <a:t>R03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Regional staffing maturity differs by market, so service consistency depends on interim training plans and structured shift handovers during peak windows.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R04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Data refresh cadence is still variable across environments, creating rerun overhead and reducing predictability for release validation.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Risk Register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Long-table continuation scenario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421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R05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Decision log publication lag occasionally causes teams to execute against stale assumptions during cross-functional handoffs.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/>
                        <a:t>R06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Incident simulations show improving response speed, but escalation ownership boundaries still require clearer criteria for complex failure modes.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R07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Localization QA remains open for two regions, and unresolved terminology differences can reduce support accuracy after launch.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R08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Training completion is high, yet reinforcement is still needed for edge-case triage and handoff clarity.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R09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KPI definitions are aligned for core metrics, but partial data arrival handling still differs and can produce conflicting trend narratives.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Risk Register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Long-table continuation scenario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Long-table continuation check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Footer appears on final continuation slide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133856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R10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Governance gates are documented, though reviewer bandwidth contention can defer approvals by multiple days.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R11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Monitoring coverage is broad for freshness and null checks, but anomaly thresholds require tuning to avoid alert fatigue.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R12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Mitigation ownership is assigned across top risks, with the next step being conversion of narrative updates into leading indicators.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3" name="Google Shape;1263;p48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0">
                <a:solidFill>
                  <a:schemeClr val="dk1"/>
                </a:solidFill>
              </a:rPr>
              <a:t>Momentum Is Real, But Discipline Must Scale With Complexity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are transitioning from rollout momentum to repeatable operational excellence.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5064913" y="4461913"/>
            <a:ext cx="1168925" cy="284175"/>
            <a:chOff x="6017825" y="3809000"/>
            <a:chExt cx="1168925" cy="284175"/>
          </a:xfrm>
        </p:grpSpPr>
        <p:sp>
          <p:nvSpPr>
            <p:cNvPr id="1266" name="Google Shape;1266;p4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Delivery Themes (8 Items)</a:t>
            </a:r>
            <a:r>
              <a:rPr lang="en"/>
              <a:t/>
            </a:r>
            <a:endParaRPr/>
          </a:p>
        </p:txBody>
      </p:sp>
      <p:sp>
        <p:nvSpPr>
          <p:cNvPr id="1247" name="Google Shape;1247;p47"/>
          <p:cNvSpPr txBox="1">
            <a:spLocks noGrp="1"/>
          </p:cNvSpPr>
          <p:nvPr>
            <p:ph type="subTitle" idx="3"/>
          </p:nvPr>
        </p:nvSpPr>
        <p:spPr>
          <a:xfrm>
            <a:off x="2137882" y="3316003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Input readiness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2137882" y="2161307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Boundary clarity</a:t>
            </a:r>
            <a:endParaRPr/>
          </a:p>
        </p:txBody>
      </p:sp>
      <p:sp>
        <p:nvSpPr>
          <p:cNvPr id="1249" name="Google Shape;1249;p47"/>
          <p:cNvSpPr txBox="1">
            <a:spLocks noGrp="1"/>
          </p:cNvSpPr>
          <p:nvPr>
            <p:ph type="subTitle" idx="2"/>
          </p:nvPr>
        </p:nvSpPr>
        <p:spPr>
          <a:xfrm>
            <a:off x="5353068" y="2161307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Role accountability</a:t>
            </a:r>
            <a:endParaRPr/>
          </a:p>
        </p:txBody>
      </p:sp>
      <p:sp>
        <p:nvSpPr>
          <p:cNvPr id="1250" name="Google Shape;1250;p47"/>
          <p:cNvSpPr txBox="1">
            <a:spLocks noGrp="1"/>
          </p:cNvSpPr>
          <p:nvPr>
            <p:ph type="subTitle" idx="4"/>
          </p:nvPr>
        </p:nvSpPr>
        <p:spPr>
          <a:xfrm>
            <a:off x="5353068" y="3316003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Issue visibility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1356814" y="1645654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01</a:t>
            </a:r>
            <a:endParaRPr/>
          </a:p>
        </p:txBody>
      </p:sp>
      <p:sp>
        <p:nvSpPr>
          <p:cNvPr id="1252" name="Google Shape;1252;p47"/>
          <p:cNvSpPr txBox="1">
            <a:spLocks noGrp="1"/>
          </p:cNvSpPr>
          <p:nvPr>
            <p:ph type="title" idx="6"/>
          </p:nvPr>
        </p:nvSpPr>
        <p:spPr>
          <a:xfrm>
            <a:off x="1356814" y="2800350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03</a:t>
            </a:r>
            <a:endParaRPr/>
          </a:p>
        </p:txBody>
      </p:sp>
      <p:sp>
        <p:nvSpPr>
          <p:cNvPr id="1253" name="Google Shape;1253;p47"/>
          <p:cNvSpPr txBox="1">
            <a:spLocks noGrp="1"/>
          </p:cNvSpPr>
          <p:nvPr>
            <p:ph type="title" idx="7"/>
          </p:nvPr>
        </p:nvSpPr>
        <p:spPr>
          <a:xfrm>
            <a:off x="4572000" y="1645654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02</a:t>
            </a:r>
            <a:endParaRPr/>
          </a:p>
        </p:txBody>
      </p:sp>
      <p:sp>
        <p:nvSpPr>
          <p:cNvPr id="1254" name="Google Shape;1254;p47"/>
          <p:cNvSpPr txBox="1">
            <a:spLocks noGrp="1"/>
          </p:cNvSpPr>
          <p:nvPr>
            <p:ph type="title" idx="8"/>
          </p:nvPr>
        </p:nvSpPr>
        <p:spPr>
          <a:xfrm>
            <a:off x="4572000" y="2800350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2137882" y="1780359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Scope</a:t>
            </a:r>
            <a:endParaRPr/>
          </a:p>
        </p:txBody>
      </p:sp>
      <p:sp>
        <p:nvSpPr>
          <p:cNvPr id="1256" name="Google Shape;1256;p47"/>
          <p:cNvSpPr txBox="1">
            <a:spLocks noGrp="1"/>
          </p:cNvSpPr>
          <p:nvPr>
            <p:ph type="subTitle" idx="13"/>
          </p:nvPr>
        </p:nvSpPr>
        <p:spPr>
          <a:xfrm>
            <a:off x="5353068" y="1780359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Owners</a:t>
            </a:r>
            <a:endParaRPr/>
          </a:p>
        </p:txBody>
      </p:sp>
      <p:sp>
        <p:nvSpPr>
          <p:cNvPr id="1257" name="Google Shape;1257;p47"/>
          <p:cNvSpPr txBox="1">
            <a:spLocks noGrp="1"/>
          </p:cNvSpPr>
          <p:nvPr>
            <p:ph type="subTitle" idx="14"/>
          </p:nvPr>
        </p:nvSpPr>
        <p:spPr>
          <a:xfrm>
            <a:off x="2137882" y="2935055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Data</a:t>
            </a:r>
            <a:endParaRPr/>
          </a:p>
        </p:txBody>
      </p:sp>
      <p:sp>
        <p:nvSpPr>
          <p:cNvPr id="1258" name="Google Shape;1258;p47"/>
          <p:cNvSpPr txBox="1">
            <a:spLocks noGrp="1"/>
          </p:cNvSpPr>
          <p:nvPr>
            <p:ph type="subTitle" idx="15"/>
          </p:nvPr>
        </p:nvSpPr>
        <p:spPr>
          <a:xfrm>
            <a:off x="5353068" y="2935055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Risk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Delivery Themes (8 Items)</a:t>
            </a:r>
            <a:r>
              <a:rPr lang="en"/>
              <a:t/>
            </a:r>
            <a:endParaRPr/>
          </a:p>
        </p:txBody>
      </p:sp>
      <p:sp>
        <p:nvSpPr>
          <p:cNvPr id="1247" name="Google Shape;1247;p47"/>
          <p:cNvSpPr txBox="1">
            <a:spLocks noGrp="1"/>
          </p:cNvSpPr>
          <p:nvPr>
            <p:ph type="subTitle" idx="3"/>
          </p:nvPr>
        </p:nvSpPr>
        <p:spPr>
          <a:xfrm>
            <a:off x="2137882" y="3316003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Decision cadence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2137882" y="2161307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Release confidence</a:t>
            </a:r>
            <a:endParaRPr/>
          </a:p>
        </p:txBody>
      </p:sp>
      <p:sp>
        <p:nvSpPr>
          <p:cNvPr id="1249" name="Google Shape;1249;p47"/>
          <p:cNvSpPr txBox="1">
            <a:spLocks noGrp="1"/>
          </p:cNvSpPr>
          <p:nvPr>
            <p:ph type="subTitle" idx="2"/>
          </p:nvPr>
        </p:nvSpPr>
        <p:spPr>
          <a:xfrm>
            <a:off x="5353068" y="2161307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Handoff readiness</a:t>
            </a:r>
            <a:endParaRPr/>
          </a:p>
        </p:txBody>
      </p:sp>
      <p:sp>
        <p:nvSpPr>
          <p:cNvPr id="1250" name="Google Shape;1250;p47"/>
          <p:cNvSpPr txBox="1">
            <a:spLocks noGrp="1"/>
          </p:cNvSpPr>
          <p:nvPr>
            <p:ph type="subTitle" idx="4"/>
          </p:nvPr>
        </p:nvSpPr>
        <p:spPr>
          <a:xfrm>
            <a:off x="5353068" y="3316003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Continuous improvement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1356814" y="1645654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05</a:t>
            </a:r>
            <a:endParaRPr/>
          </a:p>
        </p:txBody>
      </p:sp>
      <p:sp>
        <p:nvSpPr>
          <p:cNvPr id="1252" name="Google Shape;1252;p47"/>
          <p:cNvSpPr txBox="1">
            <a:spLocks noGrp="1"/>
          </p:cNvSpPr>
          <p:nvPr>
            <p:ph type="title" idx="6"/>
          </p:nvPr>
        </p:nvSpPr>
        <p:spPr>
          <a:xfrm>
            <a:off x="1356814" y="2800350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07</a:t>
            </a:r>
            <a:endParaRPr/>
          </a:p>
        </p:txBody>
      </p:sp>
      <p:sp>
        <p:nvSpPr>
          <p:cNvPr id="1253" name="Google Shape;1253;p47"/>
          <p:cNvSpPr txBox="1">
            <a:spLocks noGrp="1"/>
          </p:cNvSpPr>
          <p:nvPr>
            <p:ph type="title" idx="7"/>
          </p:nvPr>
        </p:nvSpPr>
        <p:spPr>
          <a:xfrm>
            <a:off x="4572000" y="1645654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06</a:t>
            </a:r>
            <a:endParaRPr/>
          </a:p>
        </p:txBody>
      </p:sp>
      <p:sp>
        <p:nvSpPr>
          <p:cNvPr id="1254" name="Google Shape;1254;p47"/>
          <p:cNvSpPr txBox="1">
            <a:spLocks noGrp="1"/>
          </p:cNvSpPr>
          <p:nvPr>
            <p:ph type="title" idx="8"/>
          </p:nvPr>
        </p:nvSpPr>
        <p:spPr>
          <a:xfrm>
            <a:off x="4572000" y="2800350"/>
            <a:ext cx="775687" cy="590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08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2137882" y="1780359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Quality</a:t>
            </a:r>
            <a:endParaRPr/>
          </a:p>
        </p:txBody>
      </p:sp>
      <p:sp>
        <p:nvSpPr>
          <p:cNvPr id="1256" name="Google Shape;1256;p47"/>
          <p:cNvSpPr txBox="1">
            <a:spLocks noGrp="1"/>
          </p:cNvSpPr>
          <p:nvPr>
            <p:ph type="subTitle" idx="13"/>
          </p:nvPr>
        </p:nvSpPr>
        <p:spPr>
          <a:xfrm>
            <a:off x="5353068" y="1780359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Support</a:t>
            </a:r>
            <a:endParaRPr/>
          </a:p>
        </p:txBody>
      </p:sp>
      <p:sp>
        <p:nvSpPr>
          <p:cNvPr id="1257" name="Google Shape;1257;p47"/>
          <p:cNvSpPr txBox="1">
            <a:spLocks noGrp="1"/>
          </p:cNvSpPr>
          <p:nvPr>
            <p:ph type="subTitle" idx="14"/>
          </p:nvPr>
        </p:nvSpPr>
        <p:spPr>
          <a:xfrm>
            <a:off x="2137882" y="2935055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Governance</a:t>
            </a:r>
            <a:endParaRPr/>
          </a:p>
        </p:txBody>
      </p:sp>
      <p:sp>
        <p:nvSpPr>
          <p:cNvPr id="1258" name="Google Shape;1258;p47"/>
          <p:cNvSpPr txBox="1">
            <a:spLocks noGrp="1"/>
          </p:cNvSpPr>
          <p:nvPr>
            <p:ph type="subTitle" idx="15"/>
          </p:nvPr>
        </p:nvSpPr>
        <p:spPr>
          <a:xfrm>
            <a:off x="5353068" y="2935055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Learning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Two Strategic Messages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Define an end-to-end execution baseline, align governance checkpoints, and coordinate implementation dependencies across delivery streams.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01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Transformation Program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Two Strategic Messages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 support readiness, triage boundaries, escalation pathways, and KPI ownership for reliable adoption during phased rollout.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02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Operational Stabilization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0" name="Google Shape;1190;p45"/>
          <p:cNvSpPr/>
          <p:nvPr/>
        </p:nvSpPr>
        <p:spPr>
          <a:xfrm>
            <a:off x="5335650" y="771525"/>
            <a:ext cx="3119337" cy="2894946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rgbClr val="CED4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5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z="5200"/>
              <a:t>Thank You</a:t>
            </a:r>
            <a:r>
              <a:rPr lang="en" sz="5200" b="0" dirty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sz="5200"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713225" y="911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5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Discussion and next actions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194" name="Google Shape;1194;p45"/>
          <p:cNvGrpSpPr/>
          <p:nvPr/>
        </p:nvGrpSpPr>
        <p:grpSpPr>
          <a:xfrm>
            <a:off x="7463300" y="1687900"/>
            <a:ext cx="1168925" cy="284175"/>
            <a:chOff x="6017825" y="3809000"/>
            <a:chExt cx="1168925" cy="284175"/>
          </a:xfrm>
        </p:grpSpPr>
        <p:sp>
          <p:nvSpPr>
            <p:cNvPr id="1195" name="Google Shape;1195;p4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2333</Words>
  <Application>Microsoft Office PowerPoint</Application>
  <PresentationFormat>On-screen Show (16:9)</PresentationFormat>
  <Paragraphs>357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0" baseType="lpstr">
      <vt:lpstr>PT Sans</vt:lpstr>
      <vt:lpstr>Proxima Nova</vt:lpstr>
      <vt:lpstr>Arial</vt:lpstr>
      <vt:lpstr>Lato</vt:lpstr>
      <vt:lpstr>Roboto Medium</vt:lpstr>
      <vt:lpstr>Calibri</vt:lpstr>
      <vt:lpstr>Amatic SC</vt:lpstr>
      <vt:lpstr>Roboto Condensed</vt:lpstr>
      <vt:lpstr>Bebas Neue</vt:lpstr>
      <vt:lpstr>Nunito Light</vt:lpstr>
      <vt:lpstr>Red Hat Text Light</vt:lpstr>
      <vt:lpstr>Anaheim</vt:lpstr>
      <vt:lpstr>Red Hat Text</vt:lpstr>
      <vt:lpstr>Humman Thermoregulation by Slidesgo</vt:lpstr>
      <vt:lpstr>Slidesgo Final Pages</vt:lpstr>
      <vt:lpstr>HUMAN THERMOREGULATION</vt:lpstr>
      <vt:lpstr>CONTENTS OF THIS TEMPLATE</vt:lpstr>
      <vt:lpstr>04</vt:lpstr>
      <vt:lpstr>WHOA!</vt:lpstr>
      <vt:lpstr>01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386,000 km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1</cp:revision>
  <dcterms:modified xsi:type="dcterms:W3CDTF">2026-04-22T06:23:23Z</dcterms:modified>
</cp:coreProperties>
</file>