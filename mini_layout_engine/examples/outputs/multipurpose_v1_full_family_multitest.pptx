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9"/>
  </p:notesMasterIdLst>
  <p:sldIdLst>
    <p:sldId id="312" r:id="rId99"/>
    <p:sldId id="313" r:id="rId100"/>
    <p:sldId id="314" r:id="rId101"/>
    <p:sldId id="315" r:id="rId102"/>
    <p:sldId id="316" r:id="rId103"/>
    <p:sldId id="317" r:id="rId104"/>
    <p:sldId id="318" r:id="rId105"/>
    <p:sldId id="319" r:id="rId106"/>
    <p:sldId id="320" r:id="rId107"/>
    <p:sldId id="321" r:id="rId108"/>
    <p:sldId id="322" r:id="rId109"/>
    <p:sldId id="323" r:id="rId110"/>
    <p:sldId id="324" r:id="rId111"/>
    <p:sldId id="325" r:id="rId112"/>
    <p:sldId id="326" r:id="rId113"/>
    <p:sldId id="327" r:id="rId114"/>
    <p:sldId id="328" r:id="rId115"/>
    <p:sldId id="329" r:id="rId116"/>
    <p:sldId id="330" r:id="rId117"/>
    <p:sldId id="331" r:id="rId118"/>
    <p:sldId id="332" r:id="rId119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60"/>
      <p:bold r:id="rId61"/>
    </p:embeddedFont>
    <p:embeddedFont>
      <p:font typeface="Anaheim" panose="020B0604020202020204" charset="0"/>
      <p:regular r:id="rId62"/>
      <p:bold r:id="rId63"/>
    </p:embeddedFont>
    <p:embeddedFont>
      <p:font typeface="Bebas Neue" panose="020B0606020202050201" pitchFamily="34" charset="0"/>
      <p:regular r:id="rId64"/>
    </p:embeddedFon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Nunito Light" pitchFamily="2" charset="0"/>
      <p:regular r:id="rId69"/>
      <p:italic r:id="rId70"/>
    </p:embeddedFon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PT Sans" panose="020B0503020203020204" pitchFamily="34" charset="0"/>
      <p:regular r:id="rId75"/>
      <p:bold r:id="rId76"/>
      <p:italic r:id="rId77"/>
      <p:boldItalic r:id="rId78"/>
    </p:embeddedFont>
    <p:embeddedFont>
      <p:font typeface="Red Hat Text" panose="020B0604020202020204" charset="0"/>
      <p:regular r:id="rId79"/>
      <p:bold r:id="rId80"/>
      <p:italic r:id="rId81"/>
      <p:boldItalic r:id="rId82"/>
    </p:embeddedFont>
    <p:embeddedFont>
      <p:font typeface="Red Hat Text Light" panose="020B0604020202020204" charset="0"/>
      <p:regular r:id="rId83"/>
      <p:bold r:id="rId84"/>
      <p:italic r:id="rId85"/>
      <p:boldItalic r:id="rId86"/>
    </p:embeddedFont>
    <p:embeddedFont>
      <p:font typeface="Roboto Condensed" panose="02000000000000000000" pitchFamily="2" charset="0"/>
      <p:regular r:id="rId87"/>
      <p:bold r:id="rId88"/>
      <p:italic r:id="rId89"/>
      <p:boldItalic r:id="rId90"/>
    </p:embeddedFont>
    <p:embeddedFont>
      <p:font typeface="Roboto Medium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font" Target="fonts/font18.fntdata"/><Relationship Id="rId78" Type="http://schemas.openxmlformats.org/officeDocument/2006/relationships/font" Target="fonts/font19.fntdata"/><Relationship Id="rId79" Type="http://schemas.openxmlformats.org/officeDocument/2006/relationships/font" Target="fonts/font20.fntdata"/><Relationship Id="rId80" Type="http://schemas.openxmlformats.org/officeDocument/2006/relationships/font" Target="fonts/font21.fntdata"/><Relationship Id="rId81" Type="http://schemas.openxmlformats.org/officeDocument/2006/relationships/font" Target="fonts/font22.fntdata"/><Relationship Id="rId82" Type="http://schemas.openxmlformats.org/officeDocument/2006/relationships/font" Target="fonts/font23.fntdata"/><Relationship Id="rId83" Type="http://schemas.openxmlformats.org/officeDocument/2006/relationships/font" Target="fonts/font24.fntdata"/><Relationship Id="rId84" Type="http://schemas.openxmlformats.org/officeDocument/2006/relationships/font" Target="fonts/font25.fntdata"/><Relationship Id="rId85" Type="http://schemas.openxmlformats.org/officeDocument/2006/relationships/font" Target="fonts/font26.fntdata"/><Relationship Id="rId86" Type="http://schemas.openxmlformats.org/officeDocument/2006/relationships/font" Target="fonts/font27.fntdata"/><Relationship Id="rId87" Type="http://schemas.openxmlformats.org/officeDocument/2006/relationships/font" Target="fonts/font28.fntdata"/><Relationship Id="rId88" Type="http://schemas.openxmlformats.org/officeDocument/2006/relationships/font" Target="fonts/font29.fntdata"/><Relationship Id="rId89" Type="http://schemas.openxmlformats.org/officeDocument/2006/relationships/font" Target="fonts/font30.fntdata"/><Relationship Id="rId90" Type="http://schemas.openxmlformats.org/officeDocument/2006/relationships/font" Target="fonts/font31.fntdata"/><Relationship Id="rId91" Type="http://schemas.openxmlformats.org/officeDocument/2006/relationships/font" Target="fonts/font32.fntdata"/><Relationship Id="rId92" Type="http://schemas.openxmlformats.org/officeDocument/2006/relationships/font" Target="fonts/font33.fntdata"/><Relationship Id="rId93" Type="http://schemas.openxmlformats.org/officeDocument/2006/relationships/font" Target="fonts/font34.fntdata"/><Relationship Id="rId94" Type="http://schemas.openxmlformats.org/officeDocument/2006/relationships/font" Target="fonts/font35.fntdata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57.xml"/><Relationship Id="rId100" Type="http://schemas.openxmlformats.org/officeDocument/2006/relationships/slide" Target="slides/slide58.xml"/><Relationship Id="rId101" Type="http://schemas.openxmlformats.org/officeDocument/2006/relationships/slide" Target="slides/slide59.xml"/><Relationship Id="rId102" Type="http://schemas.openxmlformats.org/officeDocument/2006/relationships/slide" Target="slides/slide60.xml"/><Relationship Id="rId103" Type="http://schemas.openxmlformats.org/officeDocument/2006/relationships/slide" Target="slides/slide61.xml"/><Relationship Id="rId104" Type="http://schemas.openxmlformats.org/officeDocument/2006/relationships/slide" Target="slides/slide62.xml"/><Relationship Id="rId105" Type="http://schemas.openxmlformats.org/officeDocument/2006/relationships/slide" Target="slides/slide63.xml"/><Relationship Id="rId106" Type="http://schemas.openxmlformats.org/officeDocument/2006/relationships/slide" Target="slides/slide64.xml"/><Relationship Id="rId107" Type="http://schemas.openxmlformats.org/officeDocument/2006/relationships/slide" Target="slides/slide65.xml"/><Relationship Id="rId108" Type="http://schemas.openxmlformats.org/officeDocument/2006/relationships/slide" Target="slides/slide66.xml"/><Relationship Id="rId109" Type="http://schemas.openxmlformats.org/officeDocument/2006/relationships/slide" Target="slides/slide67.xml"/><Relationship Id="rId110" Type="http://schemas.openxmlformats.org/officeDocument/2006/relationships/slide" Target="slides/slide68.xml"/><Relationship Id="rId111" Type="http://schemas.openxmlformats.org/officeDocument/2006/relationships/slide" Target="slides/slide69.xml"/><Relationship Id="rId112" Type="http://schemas.openxmlformats.org/officeDocument/2006/relationships/slide" Target="slides/slide70.xml"/><Relationship Id="rId113" Type="http://schemas.openxmlformats.org/officeDocument/2006/relationships/slide" Target="slides/slide71.xml"/><Relationship Id="rId114" Type="http://schemas.openxmlformats.org/officeDocument/2006/relationships/slide" Target="slides/slide72.xml"/><Relationship Id="rId115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Relationship Id="rId118" Type="http://schemas.openxmlformats.org/officeDocument/2006/relationships/slide" Target="slides/slide76.xml"/><Relationship Id="rId119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z="5200"/>
              <a:t>Multipurpose V1 Full Family Multi-Test</a:t>
            </a:r>
            <a:r>
              <a:rPr lang="en" sz="5200" b="0" dirty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All layouts + media aspect checks + continuation stress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0">
                <a:solidFill>
                  <a:schemeClr val="dk1"/>
                </a:solidFill>
              </a:rPr>
              <a:t>Regression test deck for mapping and rendering stability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slide validates hero typography and baseline text replacement behavior before image and continuation stress cases.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FB7AEED-3E72-0AE6-7AD6-82CA959F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-544235"/>
            <a:ext cx="7704000" cy="572700"/>
          </a:xfrm>
        </p:spPr>
        <p:txBody>
          <a:bodyPr/>
          <a:lstStyle/>
          <a:p>
            <a:r>
              <a:t>Large Media - Wide Source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1B1CD-1EFF-41E8-57B8-84F6FC4A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120" y="4426311"/>
            <a:ext cx="7704000" cy="372600"/>
          </a:xfrm>
        </p:spPr>
        <p:txBody>
          <a:bodyPr/>
          <a:lstStyle/>
          <a:p>
            <a:r>
              <a:t>Contain-fit check with a wide image inside the fixed media placeholder.</a:t>
            </a:r>
          </a:p>
        </p:txBody>
      </p:sp>
      <p:pic>
        <p:nvPicPr>
          <p:cNvPr id="4" name="Picture 3" descr="wide__contain_2092x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436880"/>
            <a:ext cx="8696960" cy="376120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FB7AEED-3E72-0AE6-7AD6-82CA959F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-544235"/>
            <a:ext cx="7704000" cy="572700"/>
          </a:xfrm>
        </p:spPr>
        <p:txBody>
          <a:bodyPr/>
          <a:lstStyle/>
          <a:p>
            <a:r>
              <a:t>Large Media - Earth Source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1B1CD-1EFF-41E8-57B8-84F6FC4A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120" y="4426311"/>
            <a:ext cx="7704000" cy="372600"/>
          </a:xfrm>
        </p:spPr>
        <p:txBody>
          <a:bodyPr/>
          <a:lstStyle/>
          <a:p>
            <a:r>
              <a:t>Contain-fit check with a differently sized source image.</a:t>
            </a:r>
          </a:p>
        </p:txBody>
      </p:sp>
      <p:pic>
        <p:nvPicPr>
          <p:cNvPr id="4" name="Picture 3" descr="earth__contain_2092x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436880"/>
            <a:ext cx="8696960" cy="376120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3" name="Google Shape;1323;p51"/>
          <p:cNvSpPr/>
          <p:nvPr/>
        </p:nvSpPr>
        <p:spPr>
          <a:xfrm>
            <a:off x="4638698" y="353365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51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ed Hat Text Light"/>
                <a:ea typeface="Red Hat Text Light"/>
                <a:cs typeface="Red Hat Text Light"/>
                <a:sym typeface="Red Hat Text Light"/>
              </a:rPr>
              <a:t>Title + Bullets + Image</a:t>
            </a:r>
            <a:r>
              <a:rPr lang="en" b="1"/>
              <a:t/>
            </a:r>
            <a:r>
              <a:rPr lang="en" b="1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25" name="Google Shape;1325;p51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This validates composite body rendering and real PowerPoint bullets.</a:t>
            </a:r>
            <a:endParaRPr/>
          </a:p>
          <a:p>
            <a:pPr>
              <a:buChar char="•"/>
            </a:pPr>
            <a:r>
              <a:t>Intro text should appear as a normal paragraph.</a:t>
            </a:r>
          </a:p>
          <a:p>
            <a:pPr>
              <a:buChar char="•"/>
            </a:pPr>
            <a:r>
              <a:t>Each bullet item should be rendered as a real bullet paragraph.</a:t>
            </a:r>
          </a:p>
          <a:p>
            <a:pPr>
              <a:buChar char="•"/>
            </a:pPr>
            <a:r>
              <a:t>Closing text should appear as a normal paragraph after bullets.</a:t>
            </a:r>
          </a:p>
          <a:p>
            <a:pPr>
              <a:buNone/>
            </a:pPr>
            <a:r>
              <a:t>Image replacement should target the mapped shape without changing layout coordinates.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BCFE4A-4832-3393-3A0E-E5461B006E73}"/>
              </a:ext>
            </a:extLst>
          </p:cNvPr>
          <p:cNvSpPr/>
          <p:nvPr/>
        </p:nvSpPr>
        <p:spPr>
          <a:xfrm>
            <a:off x="4972050" y="481693"/>
            <a:ext cx="3739243" cy="378818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6" name="Picture 1325" descr="ai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25" y="782650"/>
            <a:ext cx="3195600" cy="3244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Table Continuation Stress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rows to force pagination/continuation behavior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6642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Table Continuation Stress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rows to force pagination/continuation behavior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6642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R09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Table Continuation Stress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rows to force pagination/continuation behavior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6642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Table Continuation Stress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rows to force pagination/continuation behavior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6642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R19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Table Continuation Stress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rows to force pagination/continuation behavior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Auto-generated continuation expected.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Keep style and alignment stable across pages.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902208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R28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Baseline row for pagination test.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- 6 Sections (3x2 target)</a:t>
            </a:r>
            <a:r>
              <a:rPr lang="en"/>
              <a:t/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Implement prioritized tasks.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Define final boundaries.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Freeze visual system.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Execute targeted regression tests.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393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A1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415451"/>
            <a:ext cx="775687" cy="393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A3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393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A2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415451"/>
            <a:ext cx="775687" cy="393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Scope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Design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Build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Verify</a:t>
            </a:r>
            <a:endParaRPr/>
          </a:p>
        </p:txBody>
      </p:sp>
      <p:sp>
        <p:nvSpPr>
          <p:cNvPr id="1252" name="Google Shape;1252;p47__clone_5"/>
          <p:cNvSpPr txBox="1">
            <a:spLocks noGrp="1"/>
          </p:cNvSpPr>
          <p:nvPr>
            <p:ph type="title" idx="6"/>
          </p:nvPr>
        </p:nvSpPr>
        <p:spPr>
          <a:xfrm>
            <a:off x="1356814" y="3185249"/>
            <a:ext cx="775687" cy="393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A5</a:t>
            </a:r>
            <a:endParaRPr/>
          </a:p>
        </p:txBody>
      </p:sp>
      <p:sp>
        <p:nvSpPr>
          <p:cNvPr id="1257" name="Google Shape;1257;p47__clone_5"/>
          <p:cNvSpPr txBox="1">
            <a:spLocks noGrp="1"/>
          </p:cNvSpPr>
          <p:nvPr>
            <p:ph type="subTitle" idx="14"/>
          </p:nvPr>
        </p:nvSpPr>
        <p:spPr>
          <a:xfrm>
            <a:off x="2137882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Rollout</a:t>
            </a:r>
            <a:endParaRPr/>
          </a:p>
        </p:txBody>
      </p:sp>
      <p:sp>
        <p:nvSpPr>
          <p:cNvPr id="1247" name="Google Shape;1247;p47__clone_5"/>
          <p:cNvSpPr txBox="1">
            <a:spLocks noGrp="1"/>
          </p:cNvSpPr>
          <p:nvPr>
            <p:ph type="subTitle" idx="3"/>
          </p:nvPr>
        </p:nvSpPr>
        <p:spPr>
          <a:xfrm>
            <a:off x="2137882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Deploy with checkpoints.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54" name="Google Shape;1254;p47__clone_6"/>
          <p:cNvSpPr txBox="1">
            <a:spLocks noGrp="1"/>
          </p:cNvSpPr>
          <p:nvPr>
            <p:ph type="title" idx="8"/>
          </p:nvPr>
        </p:nvSpPr>
        <p:spPr>
          <a:xfrm>
            <a:off x="4572000" y="3185249"/>
            <a:ext cx="775687" cy="393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A6</a:t>
            </a:r>
            <a:endParaRPr/>
          </a:p>
        </p:txBody>
      </p:sp>
      <p:sp>
        <p:nvSpPr>
          <p:cNvPr id="1258" name="Google Shape;1258;p47__clone_6"/>
          <p:cNvSpPr txBox="1">
            <a:spLocks noGrp="1"/>
          </p:cNvSpPr>
          <p:nvPr>
            <p:ph type="subTitle" idx="15"/>
          </p:nvPr>
        </p:nvSpPr>
        <p:spPr>
          <a:xfrm>
            <a:off x="5353068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Operate</a:t>
            </a:r>
            <a:endParaRPr/>
          </a:p>
        </p:txBody>
      </p:sp>
      <p:sp>
        <p:nvSpPr>
          <p:cNvPr id="1250" name="Google Shape;1250;p47__clone_6"/>
          <p:cNvSpPr txBox="1">
            <a:spLocks noGrp="1"/>
          </p:cNvSpPr>
          <p:nvPr>
            <p:ph type="subTitle" idx="4"/>
          </p:nvPr>
        </p:nvSpPr>
        <p:spPr>
          <a:xfrm>
            <a:off x="5353068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Monitor outcomes and iterate.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Collect detailed requirements and constraints from all stakeholders for consistent implementation.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B1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Discovery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Lock data flow, dependency boundaries, and error-handling strategy before implementation starts.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B2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Architecture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Deliver functionality in thin, verifiable increments with strict ownership and clear checkpoints.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B3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Implementation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Run focused regression suites and visual checks to prevent behavior drift in existing layouts.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Quality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Measure heavy cases and ensure output generation remains stable as content density increases.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B5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Performance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Review input and output handling with minimal trust assumptions and safe defaults.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B6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Security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Capture exact mapping and usage notes so future layout additions follow predictable patterns.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B7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Documentation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Define monitoring, alerting, and triage playbooks for real-world post-release support.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B8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Operations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Prepare concise enablement content for editors, reviewers, and delivery teams.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B9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Training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Continuation Stress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Track open risks, owners, and deadlines in a shared review cadence until closure.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B10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Governance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2333</Words>
  <Application>Microsoft Office PowerPoint</Application>
  <PresentationFormat>On-screen Show (16:9)</PresentationFormat>
  <Paragraphs>357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Bebas Neue</vt:lpstr>
      <vt:lpstr>Roboto Condensed</vt:lpstr>
      <vt:lpstr>Anaheim</vt:lpstr>
      <vt:lpstr>Roboto Medium</vt:lpstr>
      <vt:lpstr>Red Hat Text</vt:lpstr>
      <vt:lpstr>Amatic SC</vt:lpstr>
      <vt:lpstr>Red Hat Text Light</vt:lpstr>
      <vt:lpstr>Nunito Light</vt:lpstr>
      <vt:lpstr>Proxima Nova</vt:lpstr>
      <vt:lpstr>Arial</vt:lpstr>
      <vt:lpstr>PT Sans</vt:lpstr>
      <vt:lpstr>Calibri</vt:lpstr>
      <vt:lpstr>Lato</vt:lpstr>
      <vt:lpstr>Humman Thermoregulation by Slidesgo</vt:lpstr>
      <vt:lpstr>Slidesgo Final Pages</vt:lpstr>
      <vt:lpstr>HUMAN THERMOREGULATION</vt:lpstr>
      <vt:lpstr>CONTENTS OF THIS TEMPLATE</vt:lpstr>
      <vt:lpstr>TABLE OF CONTENTS</vt:lpstr>
      <vt:lpstr>WHOA!</vt:lpstr>
      <vt:lpstr>NAME OF THE SECTION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9h 55m 23s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PowerPoint Presentation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4</cp:revision>
  <dcterms:modified xsi:type="dcterms:W3CDTF">2026-04-25T13:30:34Z</dcterms:modified>
</cp:coreProperties>
</file>