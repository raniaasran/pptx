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8" r:id="rId4"/>
    <p:sldId id="258" r:id="rId5"/>
    <p:sldId id="269" r:id="rId6"/>
    <p:sldId id="259" r:id="rId7"/>
    <p:sldId id="260" r:id="rId8"/>
    <p:sldId id="270" r:id="rId9"/>
    <p:sldId id="261" r:id="rId10"/>
    <p:sldId id="271" r:id="rId11"/>
    <p:sldId id="266" r:id="rId12"/>
    <p:sldId id="267" r:id="rId13"/>
    <p:sldId id="262" r:id="rId14"/>
    <p:sldId id="263" r:id="rId15"/>
    <p:sldId id="265" r:id="rId16"/>
    <p:sldId id="264" r:id="rId17"/>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Roboto Italics" panose="020B0604020202020204" charset="0"/>
      <p:regular r:id="rId22"/>
    </p:embeddedFont>
    <p:embeddedFont>
      <p:font typeface="Oswald" panose="020B0604020202020204" charset="0"/>
      <p:regular r:id="rId23"/>
    </p:embeddedFont>
    <p:embeddedFont>
      <p:font typeface="Roboto" panose="02000000000000000000" pitchFamily="2" charset="0"/>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6" d="100"/>
          <a:sy n="46" d="100"/>
        </p:scale>
        <p:origin x="75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0.svg"/><Relationship Id="rId7" Type="http://schemas.openxmlformats.org/officeDocument/2006/relationships/image" Target="../media/image26.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30.sv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0.sv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grpSp>
        <p:nvGrpSpPr>
          <p:cNvPr id="2" name="Group 2"/>
          <p:cNvGrpSpPr/>
          <p:nvPr/>
        </p:nvGrpSpPr>
        <p:grpSpPr>
          <a:xfrm>
            <a:off x="-1432397" y="6354591"/>
            <a:ext cx="4922194" cy="492219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9677"/>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01216" y="7269192"/>
            <a:ext cx="4739803" cy="4739803"/>
          </a:xfrm>
          <a:custGeom>
            <a:avLst/>
            <a:gdLst/>
            <a:ahLst/>
            <a:cxnLst/>
            <a:rect l="l" t="t" r="r" b="b"/>
            <a:pathLst>
              <a:path w="4739803" h="4739803">
                <a:moveTo>
                  <a:pt x="0" y="0"/>
                </a:moveTo>
                <a:lnTo>
                  <a:pt x="4739803" y="0"/>
                </a:lnTo>
                <a:lnTo>
                  <a:pt x="4739803" y="4739803"/>
                </a:lnTo>
                <a:lnTo>
                  <a:pt x="0" y="47398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6" name="Group 6"/>
          <p:cNvGrpSpPr/>
          <p:nvPr/>
        </p:nvGrpSpPr>
        <p:grpSpPr>
          <a:xfrm>
            <a:off x="14173200" y="-1551210"/>
            <a:ext cx="3086100" cy="3798277"/>
            <a:chOff x="0" y="0"/>
            <a:chExt cx="660400" cy="812800"/>
          </a:xfrm>
        </p:grpSpPr>
        <p:sp>
          <p:nvSpPr>
            <p:cNvPr id="7" name="Freeform 7"/>
            <p:cNvSpPr/>
            <p:nvPr/>
          </p:nvSpPr>
          <p:spPr>
            <a:xfrm>
              <a:off x="0" y="0"/>
              <a:ext cx="660400" cy="812800"/>
            </a:xfrm>
            <a:custGeom>
              <a:avLst/>
              <a:gdLst/>
              <a:ahLst/>
              <a:cxnLst/>
              <a:rect l="l" t="t" r="r" b="b"/>
              <a:pathLst>
                <a:path w="660400" h="8128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8D9677"/>
            </a:solidFill>
          </p:spPr>
        </p:sp>
        <p:sp>
          <p:nvSpPr>
            <p:cNvPr id="8" name="TextBox 8"/>
            <p:cNvSpPr txBox="1"/>
            <p:nvPr/>
          </p:nvSpPr>
          <p:spPr>
            <a:xfrm>
              <a:off x="0" y="-38100"/>
              <a:ext cx="660400" cy="72390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462111" y="3494842"/>
            <a:ext cx="15363778" cy="1127760"/>
          </a:xfrm>
          <a:prstGeom prst="rect">
            <a:avLst/>
          </a:prstGeom>
        </p:spPr>
        <p:txBody>
          <a:bodyPr lIns="0" tIns="0" rIns="0" bIns="0" rtlCol="0" anchor="t">
            <a:spAutoFit/>
          </a:bodyPr>
          <a:lstStyle/>
          <a:p>
            <a:pPr marL="0" lvl="0" indent="0" algn="ctr">
              <a:lnSpc>
                <a:spcPts val="9240"/>
              </a:lnSpc>
              <a:spcBef>
                <a:spcPct val="0"/>
              </a:spcBef>
            </a:pPr>
            <a:r>
              <a:rPr lang="en-US" sz="6600">
                <a:solidFill>
                  <a:srgbClr val="000000"/>
                </a:solidFill>
                <a:latin typeface="Oswald"/>
                <a:ea typeface="Oswald"/>
                <a:cs typeface="Oswald"/>
                <a:sym typeface="Oswald"/>
              </a:rPr>
              <a:t>Simultaneous Equations hhhhhh hhhhhh hhhh hh</a:t>
            </a:r>
          </a:p>
        </p:txBody>
      </p:sp>
      <p:sp>
        <p:nvSpPr>
          <p:cNvPr id="10" name="TextBox 10"/>
          <p:cNvSpPr txBox="1"/>
          <p:nvPr/>
        </p:nvSpPr>
        <p:spPr>
          <a:xfrm>
            <a:off x="5782571" y="5038725"/>
            <a:ext cx="11043319" cy="863600"/>
          </a:xfrm>
          <a:prstGeom prst="rect">
            <a:avLst/>
          </a:prstGeom>
        </p:spPr>
        <p:txBody>
          <a:bodyPr lIns="0" tIns="0" rIns="0" bIns="0" rtlCol="0" anchor="t">
            <a:spAutoFit/>
          </a:bodyPr>
          <a:lstStyle/>
          <a:p>
            <a:pPr marL="0" lvl="0" indent="0" algn="just">
              <a:lnSpc>
                <a:spcPts val="7000"/>
              </a:lnSpc>
              <a:spcBef>
                <a:spcPct val="0"/>
              </a:spcBef>
            </a:pPr>
            <a:r>
              <a:rPr lang="en-US" sz="5000">
                <a:solidFill>
                  <a:srgbClr val="000000"/>
                </a:solidFill>
                <a:latin typeface="Roboto"/>
                <a:ea typeface="Roboto"/>
                <a:cs typeface="Roboto"/>
                <a:sym typeface="Roboto"/>
              </a:rPr>
              <a:t>Grade 8 hghghg ghghg jhjhj ghg</a:t>
            </a:r>
          </a:p>
        </p:txBody>
      </p:sp>
      <p:sp>
        <p:nvSpPr>
          <p:cNvPr id="11" name="Freeform 11"/>
          <p:cNvSpPr/>
          <p:nvPr/>
        </p:nvSpPr>
        <p:spPr>
          <a:xfrm>
            <a:off x="1281996" y="-609298"/>
            <a:ext cx="5205221" cy="2856365"/>
          </a:xfrm>
          <a:custGeom>
            <a:avLst/>
            <a:gdLst/>
            <a:ahLst/>
            <a:cxnLst/>
            <a:rect l="l" t="t" r="r" b="b"/>
            <a:pathLst>
              <a:path w="5205221" h="2856365">
                <a:moveTo>
                  <a:pt x="0" y="0"/>
                </a:moveTo>
                <a:lnTo>
                  <a:pt x="5205221" y="0"/>
                </a:lnTo>
                <a:lnTo>
                  <a:pt x="5205221" y="2856365"/>
                </a:lnTo>
                <a:lnTo>
                  <a:pt x="0" y="285636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2" name="Freeform 12"/>
          <p:cNvSpPr/>
          <p:nvPr/>
        </p:nvSpPr>
        <p:spPr>
          <a:xfrm>
            <a:off x="11669180" y="7425442"/>
            <a:ext cx="4427302" cy="4427302"/>
          </a:xfrm>
          <a:custGeom>
            <a:avLst/>
            <a:gdLst/>
            <a:ahLst/>
            <a:cxnLst/>
            <a:rect l="l" t="t" r="r" b="b"/>
            <a:pathLst>
              <a:path w="4427302" h="4427302">
                <a:moveTo>
                  <a:pt x="0" y="0"/>
                </a:moveTo>
                <a:lnTo>
                  <a:pt x="4427302" y="0"/>
                </a:lnTo>
                <a:lnTo>
                  <a:pt x="4427302" y="4427302"/>
                </a:lnTo>
                <a:lnTo>
                  <a:pt x="0" y="44273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13" name="Group 13"/>
          <p:cNvGrpSpPr/>
          <p:nvPr/>
        </p:nvGrpSpPr>
        <p:grpSpPr>
          <a:xfrm>
            <a:off x="14867996" y="7791384"/>
            <a:ext cx="2755192" cy="2048609"/>
            <a:chOff x="0" y="0"/>
            <a:chExt cx="1093142" cy="812800"/>
          </a:xfrm>
        </p:grpSpPr>
        <p:sp>
          <p:nvSpPr>
            <p:cNvPr id="14" name="Freeform 14"/>
            <p:cNvSpPr/>
            <p:nvPr/>
          </p:nvSpPr>
          <p:spPr>
            <a:xfrm>
              <a:off x="0" y="0"/>
              <a:ext cx="1093142" cy="812800"/>
            </a:xfrm>
            <a:custGeom>
              <a:avLst/>
              <a:gdLst/>
              <a:ahLst/>
              <a:cxnLst/>
              <a:rect l="l" t="t" r="r" b="b"/>
              <a:pathLst>
                <a:path w="1093142" h="812800">
                  <a:moveTo>
                    <a:pt x="1093142" y="406400"/>
                  </a:moveTo>
                  <a:lnTo>
                    <a:pt x="686742" y="0"/>
                  </a:lnTo>
                  <a:lnTo>
                    <a:pt x="686742" y="203200"/>
                  </a:lnTo>
                  <a:lnTo>
                    <a:pt x="0" y="203200"/>
                  </a:lnTo>
                  <a:lnTo>
                    <a:pt x="0" y="609600"/>
                  </a:lnTo>
                  <a:lnTo>
                    <a:pt x="686742" y="609600"/>
                  </a:lnTo>
                  <a:lnTo>
                    <a:pt x="686742" y="812800"/>
                  </a:lnTo>
                  <a:lnTo>
                    <a:pt x="1093142" y="406400"/>
                  </a:lnTo>
                  <a:close/>
                </a:path>
              </a:pathLst>
            </a:custGeom>
            <a:solidFill>
              <a:srgbClr val="6E7658"/>
            </a:solidFill>
          </p:spPr>
        </p:sp>
        <p:sp>
          <p:nvSpPr>
            <p:cNvPr id="15" name="TextBox 15"/>
            <p:cNvSpPr txBox="1"/>
            <p:nvPr/>
          </p:nvSpPr>
          <p:spPr>
            <a:xfrm>
              <a:off x="0" y="165100"/>
              <a:ext cx="991542" cy="444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grpSp>
        <p:nvGrpSpPr>
          <p:cNvPr id="2" name="Group 2"/>
          <p:cNvGrpSpPr/>
          <p:nvPr/>
        </p:nvGrpSpPr>
        <p:grpSpPr>
          <a:xfrm>
            <a:off x="-359649" y="-283568"/>
            <a:ext cx="19007298" cy="3614291"/>
            <a:chOff x="0" y="0"/>
            <a:chExt cx="5006037" cy="951912"/>
          </a:xfrm>
        </p:grpSpPr>
        <p:sp>
          <p:nvSpPr>
            <p:cNvPr id="3" name="Freeform 3"/>
            <p:cNvSpPr/>
            <p:nvPr/>
          </p:nvSpPr>
          <p:spPr>
            <a:xfrm>
              <a:off x="0" y="0"/>
              <a:ext cx="5006037" cy="951912"/>
            </a:xfrm>
            <a:custGeom>
              <a:avLst/>
              <a:gdLst/>
              <a:ahLst/>
              <a:cxnLst/>
              <a:rect l="l" t="t" r="r" b="b"/>
              <a:pathLst>
                <a:path w="5006037" h="951912">
                  <a:moveTo>
                    <a:pt x="0" y="0"/>
                  </a:moveTo>
                  <a:lnTo>
                    <a:pt x="5006037" y="0"/>
                  </a:lnTo>
                  <a:lnTo>
                    <a:pt x="5006037" y="951912"/>
                  </a:lnTo>
                  <a:lnTo>
                    <a:pt x="0" y="951912"/>
                  </a:lnTo>
                  <a:close/>
                </a:path>
              </a:pathLst>
            </a:custGeom>
            <a:solidFill>
              <a:srgbClr val="6E7658"/>
            </a:solidFill>
          </p:spPr>
        </p:sp>
        <p:sp>
          <p:nvSpPr>
            <p:cNvPr id="4" name="TextBox 4"/>
            <p:cNvSpPr txBox="1"/>
            <p:nvPr/>
          </p:nvSpPr>
          <p:spPr>
            <a:xfrm>
              <a:off x="0" y="-38100"/>
              <a:ext cx="5006037" cy="99001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4679307"/>
            <a:ext cx="524766" cy="540393"/>
            <a:chOff x="0" y="0"/>
            <a:chExt cx="699688" cy="720524"/>
          </a:xfrm>
        </p:grpSpPr>
        <p:grpSp>
          <p:nvGrpSpPr>
            <p:cNvPr id="6" name="Group 6"/>
            <p:cNvGrpSpPr/>
            <p:nvPr/>
          </p:nvGrpSpPr>
          <p:grpSpPr>
            <a:xfrm>
              <a:off x="139700" y="127000"/>
              <a:ext cx="559988" cy="593524"/>
              <a:chOff x="0" y="0"/>
              <a:chExt cx="110615" cy="117239"/>
            </a:xfrm>
          </p:grpSpPr>
          <p:sp>
            <p:nvSpPr>
              <p:cNvPr id="7" name="Freeform 7"/>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8" name="TextBox 8"/>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559988" cy="593524"/>
              <a:chOff x="0" y="0"/>
              <a:chExt cx="110615" cy="117239"/>
            </a:xfrm>
          </p:grpSpPr>
          <p:sp>
            <p:nvSpPr>
              <p:cNvPr id="10" name="Freeform 10"/>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6E7658"/>
              </a:solidFill>
            </p:spPr>
          </p:sp>
          <p:sp>
            <p:nvSpPr>
              <p:cNvPr id="11" name="TextBox 11"/>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2173612" y="616124"/>
            <a:ext cx="13940777" cy="1510031"/>
          </a:xfrm>
          <a:prstGeom prst="rect">
            <a:avLst/>
          </a:prstGeom>
        </p:spPr>
        <p:txBody>
          <a:bodyPr lIns="0" tIns="0" rIns="0" bIns="0" rtlCol="0" anchor="t">
            <a:spAutoFit/>
          </a:bodyPr>
          <a:lstStyle/>
          <a:p>
            <a:pPr marL="0" lvl="0" indent="0" algn="ctr">
              <a:lnSpc>
                <a:spcPts val="12319"/>
              </a:lnSpc>
              <a:spcBef>
                <a:spcPct val="0"/>
              </a:spcBef>
            </a:pPr>
            <a:r>
              <a:rPr lang="en-US" sz="8799" dirty="0">
                <a:solidFill>
                  <a:srgbClr val="FDF4F4"/>
                </a:solidFill>
                <a:latin typeface="Oswald"/>
                <a:ea typeface="Oswald"/>
                <a:cs typeface="Oswald"/>
                <a:sym typeface="Oswald"/>
              </a:rPr>
              <a:t>Learning Outcomes</a:t>
            </a:r>
          </a:p>
        </p:txBody>
      </p:sp>
      <p:grpSp>
        <p:nvGrpSpPr>
          <p:cNvPr id="13" name="Group 13"/>
          <p:cNvGrpSpPr/>
          <p:nvPr/>
        </p:nvGrpSpPr>
        <p:grpSpPr>
          <a:xfrm rot="-5400000">
            <a:off x="-747073" y="248682"/>
            <a:ext cx="2235194" cy="2751008"/>
            <a:chOff x="0" y="0"/>
            <a:chExt cx="660400" cy="812800"/>
          </a:xfrm>
        </p:grpSpPr>
        <p:sp>
          <p:nvSpPr>
            <p:cNvPr id="14" name="Freeform 14"/>
            <p:cNvSpPr/>
            <p:nvPr/>
          </p:nvSpPr>
          <p:spPr>
            <a:xfrm>
              <a:off x="0" y="0"/>
              <a:ext cx="660400" cy="812800"/>
            </a:xfrm>
            <a:custGeom>
              <a:avLst/>
              <a:gdLst/>
              <a:ahLst/>
              <a:cxnLst/>
              <a:rect l="l" t="t" r="r" b="b"/>
              <a:pathLst>
                <a:path w="660400" h="8128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8D9677"/>
            </a:solidFill>
          </p:spPr>
        </p:sp>
        <p:sp>
          <p:nvSpPr>
            <p:cNvPr id="15" name="TextBox 15"/>
            <p:cNvSpPr txBox="1"/>
            <p:nvPr/>
          </p:nvSpPr>
          <p:spPr>
            <a:xfrm>
              <a:off x="0" y="-38100"/>
              <a:ext cx="660400" cy="723900"/>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5159655" y="1313600"/>
            <a:ext cx="5205221" cy="2856365"/>
          </a:xfrm>
          <a:custGeom>
            <a:avLst/>
            <a:gdLst/>
            <a:ahLst/>
            <a:cxnLst/>
            <a:rect l="l" t="t" r="r" b="b"/>
            <a:pathLst>
              <a:path w="5205221" h="2856365">
                <a:moveTo>
                  <a:pt x="0" y="0"/>
                </a:moveTo>
                <a:lnTo>
                  <a:pt x="5205221" y="0"/>
                </a:lnTo>
                <a:lnTo>
                  <a:pt x="5205221" y="2856365"/>
                </a:lnTo>
                <a:lnTo>
                  <a:pt x="0" y="28563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17" name="Group 17"/>
          <p:cNvGrpSpPr/>
          <p:nvPr/>
        </p:nvGrpSpPr>
        <p:grpSpPr>
          <a:xfrm>
            <a:off x="1028700" y="7153275"/>
            <a:ext cx="524766" cy="540393"/>
            <a:chOff x="0" y="0"/>
            <a:chExt cx="699688" cy="720524"/>
          </a:xfrm>
        </p:grpSpPr>
        <p:grpSp>
          <p:nvGrpSpPr>
            <p:cNvPr id="18" name="Group 18"/>
            <p:cNvGrpSpPr/>
            <p:nvPr/>
          </p:nvGrpSpPr>
          <p:grpSpPr>
            <a:xfrm>
              <a:off x="139700" y="127000"/>
              <a:ext cx="559988" cy="593524"/>
              <a:chOff x="0" y="0"/>
              <a:chExt cx="110615" cy="117239"/>
            </a:xfrm>
          </p:grpSpPr>
          <p:sp>
            <p:nvSpPr>
              <p:cNvPr id="19" name="Freeform 19"/>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20" name="TextBox 20"/>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0" y="0"/>
              <a:ext cx="559988" cy="593524"/>
              <a:chOff x="0" y="0"/>
              <a:chExt cx="110615" cy="117239"/>
            </a:xfrm>
          </p:grpSpPr>
          <p:sp>
            <p:nvSpPr>
              <p:cNvPr id="22" name="Freeform 22"/>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6E7658"/>
              </a:solidFill>
            </p:spPr>
          </p:sp>
          <p:sp>
            <p:nvSpPr>
              <p:cNvPr id="23" name="TextBox 23"/>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sp>
        <p:nvSpPr>
          <p:cNvPr id="24" name="Freeform 24"/>
          <p:cNvSpPr/>
          <p:nvPr/>
        </p:nvSpPr>
        <p:spPr>
          <a:xfrm>
            <a:off x="12954439" y="8701702"/>
            <a:ext cx="4304861" cy="1815868"/>
          </a:xfrm>
          <a:custGeom>
            <a:avLst/>
            <a:gdLst/>
            <a:ahLst/>
            <a:cxnLst/>
            <a:rect l="l" t="t" r="r" b="b"/>
            <a:pathLst>
              <a:path w="4304861" h="1815868">
                <a:moveTo>
                  <a:pt x="0" y="0"/>
                </a:moveTo>
                <a:lnTo>
                  <a:pt x="4304861" y="0"/>
                </a:lnTo>
                <a:lnTo>
                  <a:pt x="4304861" y="1815869"/>
                </a:lnTo>
                <a:lnTo>
                  <a:pt x="0" y="181586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25" name="TextBox 25"/>
          <p:cNvSpPr txBox="1"/>
          <p:nvPr/>
        </p:nvSpPr>
        <p:spPr>
          <a:xfrm>
            <a:off x="1746028" y="4471245"/>
            <a:ext cx="14995759" cy="1360792"/>
          </a:xfrm>
          <a:prstGeom prst="rect">
            <a:avLst/>
          </a:prstGeom>
        </p:spPr>
        <p:txBody>
          <a:bodyPr lIns="0" tIns="0" rIns="0" bIns="0" rtlCol="0" anchor="t">
            <a:spAutoFit/>
          </a:bodyPr>
          <a:lstStyle/>
          <a:p>
            <a:pPr algn="l">
              <a:lnSpc>
                <a:spcPts val="5499"/>
              </a:lnSpc>
              <a:spcBef>
                <a:spcPct val="0"/>
              </a:spcBef>
            </a:pPr>
            <a:r>
              <a:rPr lang="en-US" sz="3928">
                <a:solidFill>
                  <a:srgbClr val="000000"/>
                </a:solidFill>
                <a:latin typeface="Roboto"/>
                <a:ea typeface="Roboto"/>
                <a:cs typeface="Roboto"/>
                <a:sym typeface="Roboto"/>
              </a:rPr>
              <a:t>Understand that solutions to a system of two linear equations in hg two variables correspond to points of intersection of their graphs g</a:t>
            </a:r>
          </a:p>
        </p:txBody>
      </p:sp>
      <p:sp>
        <p:nvSpPr>
          <p:cNvPr id="26" name="TextBox 26"/>
          <p:cNvSpPr txBox="1"/>
          <p:nvPr/>
        </p:nvSpPr>
        <p:spPr>
          <a:xfrm>
            <a:off x="1746028" y="7077075"/>
            <a:ext cx="14995759" cy="1360792"/>
          </a:xfrm>
          <a:prstGeom prst="rect">
            <a:avLst/>
          </a:prstGeom>
        </p:spPr>
        <p:txBody>
          <a:bodyPr lIns="0" tIns="0" rIns="0" bIns="0" rtlCol="0" anchor="t">
            <a:spAutoFit/>
          </a:bodyPr>
          <a:lstStyle/>
          <a:p>
            <a:pPr algn="l">
              <a:lnSpc>
                <a:spcPts val="5499"/>
              </a:lnSpc>
              <a:spcBef>
                <a:spcPct val="0"/>
              </a:spcBef>
            </a:pPr>
            <a:r>
              <a:rPr lang="en-US" sz="3928">
                <a:solidFill>
                  <a:srgbClr val="000000"/>
                </a:solidFill>
                <a:latin typeface="Roboto"/>
                <a:ea typeface="Roboto"/>
                <a:cs typeface="Roboto"/>
                <a:sym typeface="Roboto"/>
              </a:rPr>
              <a:t>Understand that solutions to a system of two linear equations in hg two variables correspond to points of intersection of their graphs 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grpSp>
        <p:nvGrpSpPr>
          <p:cNvPr id="2" name="Group 2"/>
          <p:cNvGrpSpPr/>
          <p:nvPr/>
        </p:nvGrpSpPr>
        <p:grpSpPr>
          <a:xfrm>
            <a:off x="-359649" y="-283568"/>
            <a:ext cx="19007298" cy="3614291"/>
            <a:chOff x="0" y="0"/>
            <a:chExt cx="5006037" cy="951912"/>
          </a:xfrm>
        </p:grpSpPr>
        <p:sp>
          <p:nvSpPr>
            <p:cNvPr id="3" name="Freeform 3"/>
            <p:cNvSpPr/>
            <p:nvPr/>
          </p:nvSpPr>
          <p:spPr>
            <a:xfrm>
              <a:off x="0" y="0"/>
              <a:ext cx="5006037" cy="951912"/>
            </a:xfrm>
            <a:custGeom>
              <a:avLst/>
              <a:gdLst/>
              <a:ahLst/>
              <a:cxnLst/>
              <a:rect l="l" t="t" r="r" b="b"/>
              <a:pathLst>
                <a:path w="5006037" h="951912">
                  <a:moveTo>
                    <a:pt x="0" y="0"/>
                  </a:moveTo>
                  <a:lnTo>
                    <a:pt x="5006037" y="0"/>
                  </a:lnTo>
                  <a:lnTo>
                    <a:pt x="5006037" y="951912"/>
                  </a:lnTo>
                  <a:lnTo>
                    <a:pt x="0" y="951912"/>
                  </a:lnTo>
                  <a:close/>
                </a:path>
              </a:pathLst>
            </a:custGeom>
            <a:solidFill>
              <a:srgbClr val="6E7658"/>
            </a:solidFill>
          </p:spPr>
        </p:sp>
        <p:sp>
          <p:nvSpPr>
            <p:cNvPr id="4" name="TextBox 4"/>
            <p:cNvSpPr txBox="1"/>
            <p:nvPr/>
          </p:nvSpPr>
          <p:spPr>
            <a:xfrm>
              <a:off x="0" y="-38100"/>
              <a:ext cx="5006037" cy="99001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4679307"/>
            <a:ext cx="524766" cy="540393"/>
            <a:chOff x="0" y="0"/>
            <a:chExt cx="699688" cy="720524"/>
          </a:xfrm>
        </p:grpSpPr>
        <p:grpSp>
          <p:nvGrpSpPr>
            <p:cNvPr id="6" name="Group 6"/>
            <p:cNvGrpSpPr/>
            <p:nvPr/>
          </p:nvGrpSpPr>
          <p:grpSpPr>
            <a:xfrm>
              <a:off x="139700" y="127000"/>
              <a:ext cx="559988" cy="593524"/>
              <a:chOff x="0" y="0"/>
              <a:chExt cx="110615" cy="117239"/>
            </a:xfrm>
          </p:grpSpPr>
          <p:sp>
            <p:nvSpPr>
              <p:cNvPr id="7" name="Freeform 7"/>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8" name="TextBox 8"/>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559988" cy="593524"/>
              <a:chOff x="0" y="0"/>
              <a:chExt cx="110615" cy="117239"/>
            </a:xfrm>
          </p:grpSpPr>
          <p:sp>
            <p:nvSpPr>
              <p:cNvPr id="10" name="Freeform 10"/>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6E7658"/>
              </a:solidFill>
            </p:spPr>
          </p:sp>
          <p:sp>
            <p:nvSpPr>
              <p:cNvPr id="11" name="TextBox 11"/>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2173612" y="616124"/>
            <a:ext cx="13940777" cy="1510031"/>
          </a:xfrm>
          <a:prstGeom prst="rect">
            <a:avLst/>
          </a:prstGeom>
        </p:spPr>
        <p:txBody>
          <a:bodyPr lIns="0" tIns="0" rIns="0" bIns="0" rtlCol="0" anchor="t">
            <a:spAutoFit/>
          </a:bodyPr>
          <a:lstStyle/>
          <a:p>
            <a:pPr marL="0" lvl="0" indent="0" algn="ctr">
              <a:lnSpc>
                <a:spcPts val="12319"/>
              </a:lnSpc>
              <a:spcBef>
                <a:spcPct val="0"/>
              </a:spcBef>
            </a:pPr>
            <a:r>
              <a:rPr lang="en-US" sz="8799" dirty="0">
                <a:solidFill>
                  <a:srgbClr val="FDF4F4"/>
                </a:solidFill>
                <a:latin typeface="Oswald"/>
                <a:ea typeface="Oswald"/>
                <a:cs typeface="Oswald"/>
                <a:sym typeface="Oswald"/>
              </a:rPr>
              <a:t>Learning Outcomes</a:t>
            </a:r>
          </a:p>
        </p:txBody>
      </p:sp>
      <p:grpSp>
        <p:nvGrpSpPr>
          <p:cNvPr id="13" name="Group 13"/>
          <p:cNvGrpSpPr/>
          <p:nvPr/>
        </p:nvGrpSpPr>
        <p:grpSpPr>
          <a:xfrm rot="-5400000">
            <a:off x="-747073" y="248682"/>
            <a:ext cx="2235194" cy="2751008"/>
            <a:chOff x="0" y="0"/>
            <a:chExt cx="660400" cy="812800"/>
          </a:xfrm>
        </p:grpSpPr>
        <p:sp>
          <p:nvSpPr>
            <p:cNvPr id="14" name="Freeform 14"/>
            <p:cNvSpPr/>
            <p:nvPr/>
          </p:nvSpPr>
          <p:spPr>
            <a:xfrm>
              <a:off x="0" y="0"/>
              <a:ext cx="660400" cy="812800"/>
            </a:xfrm>
            <a:custGeom>
              <a:avLst/>
              <a:gdLst/>
              <a:ahLst/>
              <a:cxnLst/>
              <a:rect l="l" t="t" r="r" b="b"/>
              <a:pathLst>
                <a:path w="660400" h="8128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8D9677"/>
            </a:solidFill>
          </p:spPr>
        </p:sp>
        <p:sp>
          <p:nvSpPr>
            <p:cNvPr id="15" name="TextBox 15"/>
            <p:cNvSpPr txBox="1"/>
            <p:nvPr/>
          </p:nvSpPr>
          <p:spPr>
            <a:xfrm>
              <a:off x="0" y="-38100"/>
              <a:ext cx="660400" cy="723900"/>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5159655" y="1313600"/>
            <a:ext cx="5205221" cy="2856365"/>
          </a:xfrm>
          <a:custGeom>
            <a:avLst/>
            <a:gdLst/>
            <a:ahLst/>
            <a:cxnLst/>
            <a:rect l="l" t="t" r="r" b="b"/>
            <a:pathLst>
              <a:path w="5205221" h="2856365">
                <a:moveTo>
                  <a:pt x="0" y="0"/>
                </a:moveTo>
                <a:lnTo>
                  <a:pt x="5205221" y="0"/>
                </a:lnTo>
                <a:lnTo>
                  <a:pt x="5205221" y="2856365"/>
                </a:lnTo>
                <a:lnTo>
                  <a:pt x="0" y="28563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17" name="Group 17"/>
          <p:cNvGrpSpPr/>
          <p:nvPr/>
        </p:nvGrpSpPr>
        <p:grpSpPr>
          <a:xfrm>
            <a:off x="1028700" y="7153275"/>
            <a:ext cx="524766" cy="540393"/>
            <a:chOff x="0" y="0"/>
            <a:chExt cx="699688" cy="720524"/>
          </a:xfrm>
        </p:grpSpPr>
        <p:grpSp>
          <p:nvGrpSpPr>
            <p:cNvPr id="18" name="Group 18"/>
            <p:cNvGrpSpPr/>
            <p:nvPr/>
          </p:nvGrpSpPr>
          <p:grpSpPr>
            <a:xfrm>
              <a:off x="139700" y="127000"/>
              <a:ext cx="559988" cy="593524"/>
              <a:chOff x="0" y="0"/>
              <a:chExt cx="110615" cy="117239"/>
            </a:xfrm>
          </p:grpSpPr>
          <p:sp>
            <p:nvSpPr>
              <p:cNvPr id="19" name="Freeform 19"/>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20" name="TextBox 20"/>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0" y="0"/>
              <a:ext cx="559988" cy="593524"/>
              <a:chOff x="0" y="0"/>
              <a:chExt cx="110615" cy="117239"/>
            </a:xfrm>
          </p:grpSpPr>
          <p:sp>
            <p:nvSpPr>
              <p:cNvPr id="22" name="Freeform 22"/>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6E7658"/>
              </a:solidFill>
            </p:spPr>
          </p:sp>
          <p:sp>
            <p:nvSpPr>
              <p:cNvPr id="23" name="TextBox 23"/>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sp>
        <p:nvSpPr>
          <p:cNvPr id="24" name="Freeform 24"/>
          <p:cNvSpPr/>
          <p:nvPr/>
        </p:nvSpPr>
        <p:spPr>
          <a:xfrm>
            <a:off x="12954439" y="8701702"/>
            <a:ext cx="4304861" cy="1815868"/>
          </a:xfrm>
          <a:custGeom>
            <a:avLst/>
            <a:gdLst/>
            <a:ahLst/>
            <a:cxnLst/>
            <a:rect l="l" t="t" r="r" b="b"/>
            <a:pathLst>
              <a:path w="4304861" h="1815868">
                <a:moveTo>
                  <a:pt x="0" y="0"/>
                </a:moveTo>
                <a:lnTo>
                  <a:pt x="4304861" y="0"/>
                </a:lnTo>
                <a:lnTo>
                  <a:pt x="4304861" y="1815869"/>
                </a:lnTo>
                <a:lnTo>
                  <a:pt x="0" y="181586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25" name="TextBox 25"/>
          <p:cNvSpPr txBox="1"/>
          <p:nvPr/>
        </p:nvSpPr>
        <p:spPr>
          <a:xfrm>
            <a:off x="1746028" y="4471245"/>
            <a:ext cx="14995759" cy="1360792"/>
          </a:xfrm>
          <a:prstGeom prst="rect">
            <a:avLst/>
          </a:prstGeom>
        </p:spPr>
        <p:txBody>
          <a:bodyPr lIns="0" tIns="0" rIns="0" bIns="0" rtlCol="0" anchor="t">
            <a:spAutoFit/>
          </a:bodyPr>
          <a:lstStyle/>
          <a:p>
            <a:pPr algn="l">
              <a:lnSpc>
                <a:spcPts val="5499"/>
              </a:lnSpc>
              <a:spcBef>
                <a:spcPct val="0"/>
              </a:spcBef>
            </a:pPr>
            <a:r>
              <a:rPr lang="en-US" sz="3928">
                <a:solidFill>
                  <a:srgbClr val="000000"/>
                </a:solidFill>
                <a:latin typeface="Roboto"/>
                <a:ea typeface="Roboto"/>
                <a:cs typeface="Roboto"/>
                <a:sym typeface="Roboto"/>
              </a:rPr>
              <a:t>Understand that solutions to a system of two linear equations in hg two variables correspond to points of intersection of their graphs g</a:t>
            </a:r>
          </a:p>
        </p:txBody>
      </p:sp>
      <p:sp>
        <p:nvSpPr>
          <p:cNvPr id="26" name="TextBox 26"/>
          <p:cNvSpPr txBox="1"/>
          <p:nvPr/>
        </p:nvSpPr>
        <p:spPr>
          <a:xfrm>
            <a:off x="1746028" y="7077075"/>
            <a:ext cx="14995759" cy="1360792"/>
          </a:xfrm>
          <a:prstGeom prst="rect">
            <a:avLst/>
          </a:prstGeom>
        </p:spPr>
        <p:txBody>
          <a:bodyPr lIns="0" tIns="0" rIns="0" bIns="0" rtlCol="0" anchor="t">
            <a:spAutoFit/>
          </a:bodyPr>
          <a:lstStyle/>
          <a:p>
            <a:pPr algn="l">
              <a:lnSpc>
                <a:spcPts val="5499"/>
              </a:lnSpc>
              <a:spcBef>
                <a:spcPct val="0"/>
              </a:spcBef>
            </a:pPr>
            <a:r>
              <a:rPr lang="en-US" sz="3928">
                <a:solidFill>
                  <a:srgbClr val="000000"/>
                </a:solidFill>
                <a:latin typeface="Roboto"/>
                <a:ea typeface="Roboto"/>
                <a:cs typeface="Roboto"/>
                <a:sym typeface="Roboto"/>
              </a:rPr>
              <a:t>Understand that solutions to a system of two linear equations in hg two variables correspond to points of intersection of their graphs g</a:t>
            </a:r>
          </a:p>
        </p:txBody>
      </p:sp>
    </p:spTree>
    <p:extLst>
      <p:ext uri="{BB962C8B-B14F-4D97-AF65-F5344CB8AC3E}">
        <p14:creationId xmlns:p14="http://schemas.microsoft.com/office/powerpoint/2010/main" val="1243261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p:cNvGrpSpPr/>
        <p:nvPr/>
      </p:nvGrpSpPr>
      <p:grpSpPr>
        <a:xfrm>
          <a:off x="0" y="0"/>
          <a:ext cx="0" cy="0"/>
          <a:chOff x="0" y="0"/>
          <a:chExt cx="0" cy="0"/>
        </a:xfrm>
      </p:grpSpPr>
      <p:grpSp>
        <p:nvGrpSpPr>
          <p:cNvPr id="2" name="Group 2"/>
          <p:cNvGrpSpPr/>
          <p:nvPr/>
        </p:nvGrpSpPr>
        <p:grpSpPr>
          <a:xfrm>
            <a:off x="1755553" y="5054183"/>
            <a:ext cx="385694" cy="397179"/>
            <a:chOff x="0" y="0"/>
            <a:chExt cx="514258" cy="529572"/>
          </a:xfrm>
        </p:grpSpPr>
        <p:grpSp>
          <p:nvGrpSpPr>
            <p:cNvPr id="3" name="Group 3"/>
            <p:cNvGrpSpPr/>
            <p:nvPr/>
          </p:nvGrpSpPr>
          <p:grpSpPr>
            <a:xfrm>
              <a:off x="102677" y="93343"/>
              <a:ext cx="411581" cy="436229"/>
              <a:chOff x="0" y="0"/>
              <a:chExt cx="110615" cy="117239"/>
            </a:xfrm>
          </p:grpSpPr>
          <p:sp>
            <p:nvSpPr>
              <p:cNvPr id="4" name="Freeform 4"/>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5" name="TextBox 5"/>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411581" cy="436229"/>
              <a:chOff x="0" y="0"/>
              <a:chExt cx="110615" cy="117239"/>
            </a:xfrm>
          </p:grpSpPr>
          <p:sp>
            <p:nvSpPr>
              <p:cNvPr id="7" name="Freeform 7"/>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FDF4F4"/>
              </a:solidFill>
            </p:spPr>
          </p:sp>
          <p:sp>
            <p:nvSpPr>
              <p:cNvPr id="8" name="TextBox 8"/>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grpSp>
        <p:nvGrpSpPr>
          <p:cNvPr id="9" name="Group 9"/>
          <p:cNvGrpSpPr/>
          <p:nvPr/>
        </p:nvGrpSpPr>
        <p:grpSpPr>
          <a:xfrm>
            <a:off x="1755553" y="5622625"/>
            <a:ext cx="385694" cy="397179"/>
            <a:chOff x="0" y="0"/>
            <a:chExt cx="514258" cy="529572"/>
          </a:xfrm>
        </p:grpSpPr>
        <p:grpSp>
          <p:nvGrpSpPr>
            <p:cNvPr id="10" name="Group 10"/>
            <p:cNvGrpSpPr/>
            <p:nvPr/>
          </p:nvGrpSpPr>
          <p:grpSpPr>
            <a:xfrm>
              <a:off x="102677" y="93343"/>
              <a:ext cx="411581" cy="436229"/>
              <a:chOff x="0" y="0"/>
              <a:chExt cx="110615" cy="117239"/>
            </a:xfrm>
          </p:grpSpPr>
          <p:sp>
            <p:nvSpPr>
              <p:cNvPr id="11" name="Freeform 11"/>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12" name="TextBox 12"/>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0" y="0"/>
              <a:ext cx="411581" cy="436229"/>
              <a:chOff x="0" y="0"/>
              <a:chExt cx="110615" cy="117239"/>
            </a:xfrm>
          </p:grpSpPr>
          <p:sp>
            <p:nvSpPr>
              <p:cNvPr id="14" name="Freeform 14"/>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FDF4F4"/>
              </a:solidFill>
            </p:spPr>
          </p:sp>
          <p:sp>
            <p:nvSpPr>
              <p:cNvPr id="15" name="TextBox 15"/>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grpSp>
        <p:nvGrpSpPr>
          <p:cNvPr id="16" name="Group 16"/>
          <p:cNvGrpSpPr/>
          <p:nvPr/>
        </p:nvGrpSpPr>
        <p:grpSpPr>
          <a:xfrm>
            <a:off x="1755553" y="6209665"/>
            <a:ext cx="385694" cy="397179"/>
            <a:chOff x="0" y="0"/>
            <a:chExt cx="514258" cy="529572"/>
          </a:xfrm>
        </p:grpSpPr>
        <p:grpSp>
          <p:nvGrpSpPr>
            <p:cNvPr id="17" name="Group 17"/>
            <p:cNvGrpSpPr/>
            <p:nvPr/>
          </p:nvGrpSpPr>
          <p:grpSpPr>
            <a:xfrm>
              <a:off x="102677" y="93343"/>
              <a:ext cx="411581" cy="436229"/>
              <a:chOff x="0" y="0"/>
              <a:chExt cx="110615" cy="117239"/>
            </a:xfrm>
          </p:grpSpPr>
          <p:sp>
            <p:nvSpPr>
              <p:cNvPr id="18" name="Freeform 18"/>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19" name="TextBox 19"/>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0" y="0"/>
              <a:ext cx="411581" cy="436229"/>
              <a:chOff x="0" y="0"/>
              <a:chExt cx="110615" cy="117239"/>
            </a:xfrm>
          </p:grpSpPr>
          <p:sp>
            <p:nvSpPr>
              <p:cNvPr id="21" name="Freeform 21"/>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FDF4F4"/>
              </a:solidFill>
            </p:spPr>
          </p:sp>
          <p:sp>
            <p:nvSpPr>
              <p:cNvPr id="22" name="TextBox 22"/>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sp>
        <p:nvSpPr>
          <p:cNvPr id="23" name="TextBox 23"/>
          <p:cNvSpPr txBox="1"/>
          <p:nvPr/>
        </p:nvSpPr>
        <p:spPr>
          <a:xfrm>
            <a:off x="2762625" y="663749"/>
            <a:ext cx="13940777" cy="1127760"/>
          </a:xfrm>
          <a:prstGeom prst="rect">
            <a:avLst/>
          </a:prstGeom>
        </p:spPr>
        <p:txBody>
          <a:bodyPr lIns="0" tIns="0" rIns="0" bIns="0" rtlCol="0" anchor="t">
            <a:spAutoFit/>
          </a:bodyPr>
          <a:lstStyle/>
          <a:p>
            <a:pPr marL="0" lvl="0" indent="0" algn="ctr">
              <a:lnSpc>
                <a:spcPts val="9240"/>
              </a:lnSpc>
              <a:spcBef>
                <a:spcPct val="0"/>
              </a:spcBef>
            </a:pPr>
            <a:r>
              <a:rPr lang="en-US" sz="6600">
                <a:solidFill>
                  <a:srgbClr val="FDF4F4"/>
                </a:solidFill>
                <a:latin typeface="Oswald"/>
                <a:ea typeface="Oswald"/>
                <a:cs typeface="Oswald"/>
                <a:sym typeface="Oswald"/>
              </a:rPr>
              <a:t>Simultaneous Equations kjkj jhjhjh jhhj jh j j j </a:t>
            </a:r>
          </a:p>
        </p:txBody>
      </p:sp>
      <p:grpSp>
        <p:nvGrpSpPr>
          <p:cNvPr id="24" name="Group 24"/>
          <p:cNvGrpSpPr/>
          <p:nvPr/>
        </p:nvGrpSpPr>
        <p:grpSpPr>
          <a:xfrm>
            <a:off x="-2461097" y="-1673523"/>
            <a:ext cx="4922194" cy="492219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9677"/>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1755553" y="2861481"/>
            <a:ext cx="14947849" cy="1731243"/>
          </a:xfrm>
          <a:prstGeom prst="rect">
            <a:avLst/>
          </a:prstGeom>
        </p:spPr>
        <p:txBody>
          <a:bodyPr lIns="0" tIns="0" rIns="0" bIns="0" rtlCol="0" anchor="t">
            <a:spAutoFit/>
          </a:bodyPr>
          <a:lstStyle/>
          <a:p>
            <a:pPr algn="l">
              <a:lnSpc>
                <a:spcPts val="4480"/>
              </a:lnSpc>
              <a:spcBef>
                <a:spcPct val="0"/>
              </a:spcBef>
            </a:pPr>
            <a:r>
              <a:rPr lang="en-US" sz="3200" dirty="0">
                <a:solidFill>
                  <a:srgbClr val="FFFFFF"/>
                </a:solidFill>
                <a:latin typeface="Roboto"/>
                <a:ea typeface="Roboto"/>
                <a:cs typeface="Roboto"/>
                <a:sym typeface="Roboto"/>
              </a:rPr>
              <a:t>Simultaneous equations are two or more algebraic equations that can be solved at the same time. Linear simultaneous equations with two unknown variables can be solved by using the following methods: </a:t>
            </a:r>
            <a:r>
              <a:rPr lang="en-US" sz="3200" dirty="0" err="1">
                <a:solidFill>
                  <a:srgbClr val="FFFFFF"/>
                </a:solidFill>
                <a:latin typeface="Roboto"/>
                <a:ea typeface="Roboto"/>
                <a:cs typeface="Roboto"/>
                <a:sym typeface="Roboto"/>
              </a:rPr>
              <a:t>nghghgh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ghghghghg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ghghg</a:t>
            </a:r>
            <a:endParaRPr lang="en-US" sz="3200" dirty="0">
              <a:solidFill>
                <a:srgbClr val="FFFFFF"/>
              </a:solidFill>
              <a:latin typeface="Roboto"/>
              <a:ea typeface="Roboto"/>
              <a:cs typeface="Roboto"/>
              <a:sym typeface="Roboto"/>
            </a:endParaRPr>
          </a:p>
        </p:txBody>
      </p:sp>
      <p:sp>
        <p:nvSpPr>
          <p:cNvPr id="28" name="TextBox 28"/>
          <p:cNvSpPr txBox="1"/>
          <p:nvPr/>
        </p:nvSpPr>
        <p:spPr>
          <a:xfrm>
            <a:off x="2435994" y="4943009"/>
            <a:ext cx="13678394" cy="577081"/>
          </a:xfrm>
          <a:prstGeom prst="rect">
            <a:avLst/>
          </a:prstGeom>
        </p:spPr>
        <p:txBody>
          <a:bodyPr lIns="0" tIns="0" rIns="0" bIns="0" rtlCol="0" anchor="t">
            <a:spAutoFit/>
          </a:bodyPr>
          <a:lstStyle/>
          <a:p>
            <a:pPr algn="l">
              <a:lnSpc>
                <a:spcPts val="4480"/>
              </a:lnSpc>
              <a:spcBef>
                <a:spcPct val="0"/>
              </a:spcBef>
            </a:pP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a:t>
            </a:r>
            <a:r>
              <a:rPr lang="en-US" sz="3200" dirty="0" smtClean="0">
                <a:solidFill>
                  <a:srgbClr val="FFFFFF"/>
                </a:solidFill>
                <a:latin typeface="Roboto"/>
                <a:ea typeface="Roboto"/>
                <a:cs typeface="Roboto"/>
                <a:sym typeface="Roboto"/>
              </a:rPr>
              <a:t>  </a:t>
            </a:r>
            <a:r>
              <a:rPr lang="en-US" sz="3200" dirty="0">
                <a:solidFill>
                  <a:srgbClr val="FFFFFF"/>
                </a:solidFill>
                <a:latin typeface="Roboto"/>
                <a:ea typeface="Roboto"/>
                <a:cs typeface="Roboto"/>
                <a:sym typeface="Roboto"/>
              </a:rPr>
              <a:t>hg</a:t>
            </a:r>
          </a:p>
        </p:txBody>
      </p:sp>
      <p:sp>
        <p:nvSpPr>
          <p:cNvPr id="29" name="TextBox 29"/>
          <p:cNvSpPr txBox="1"/>
          <p:nvPr/>
        </p:nvSpPr>
        <p:spPr>
          <a:xfrm>
            <a:off x="1755553" y="7023904"/>
            <a:ext cx="13215835" cy="1731243"/>
          </a:xfrm>
          <a:prstGeom prst="rect">
            <a:avLst/>
          </a:prstGeom>
        </p:spPr>
        <p:txBody>
          <a:bodyPr lIns="0" tIns="0" rIns="0" bIns="0" rtlCol="0" anchor="t">
            <a:spAutoFit/>
          </a:bodyPr>
          <a:lstStyle/>
          <a:p>
            <a:pPr algn="l">
              <a:lnSpc>
                <a:spcPts val="4480"/>
              </a:lnSpc>
            </a:pPr>
            <a:r>
              <a:rPr lang="en-US" sz="3200" dirty="0">
                <a:solidFill>
                  <a:srgbClr val="FFFFFF"/>
                </a:solidFill>
                <a:latin typeface="Roboto"/>
                <a:ea typeface="Roboto"/>
                <a:cs typeface="Roboto"/>
                <a:sym typeface="Roboto"/>
              </a:rPr>
              <a:t>In this lesson, we will focus on solving linear simultaneous equations hg algebraically using the elimination method, but first, let's have a look </a:t>
            </a:r>
            <a:r>
              <a:rPr lang="en-US" sz="3200" dirty="0" err="1">
                <a:solidFill>
                  <a:srgbClr val="FFFFFF"/>
                </a:solidFill>
                <a:latin typeface="Roboto"/>
                <a:ea typeface="Roboto"/>
                <a:cs typeface="Roboto"/>
                <a:sym typeface="Roboto"/>
              </a:rPr>
              <a:t>gh</a:t>
            </a:r>
            <a:endParaRPr lang="en-US" sz="3200" dirty="0">
              <a:solidFill>
                <a:srgbClr val="FFFFFF"/>
              </a:solidFill>
              <a:latin typeface="Roboto"/>
              <a:ea typeface="Roboto"/>
              <a:cs typeface="Roboto"/>
              <a:sym typeface="Roboto"/>
            </a:endParaRPr>
          </a:p>
          <a:p>
            <a:pPr algn="l">
              <a:lnSpc>
                <a:spcPts val="4480"/>
              </a:lnSpc>
              <a:spcBef>
                <a:spcPct val="0"/>
              </a:spcBef>
            </a:pPr>
            <a:r>
              <a:rPr lang="en-US" sz="3200" dirty="0">
                <a:solidFill>
                  <a:srgbClr val="FFFFFF"/>
                </a:solidFill>
                <a:latin typeface="Roboto"/>
                <a:ea typeface="Roboto"/>
                <a:cs typeface="Roboto"/>
                <a:sym typeface="Roboto"/>
              </a:rPr>
              <a:t>at some </a:t>
            </a:r>
            <a:r>
              <a:rPr lang="en-US" sz="3200" dirty="0" err="1">
                <a:solidFill>
                  <a:srgbClr val="FFFFFF"/>
                </a:solidFill>
                <a:latin typeface="Roboto"/>
                <a:ea typeface="Roboto"/>
                <a:cs typeface="Roboto"/>
                <a:sym typeface="Roboto"/>
              </a:rPr>
              <a:t>graphs.hgh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hgghghghgh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hghghg</a:t>
            </a:r>
            <a:r>
              <a:rPr lang="en-US" sz="3200" dirty="0" smtClean="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a:t>
            </a:r>
            <a:endParaRPr lang="en-US" sz="3200" dirty="0">
              <a:solidFill>
                <a:srgbClr val="FFFFFF"/>
              </a:solidFill>
              <a:latin typeface="Roboto"/>
              <a:ea typeface="Roboto"/>
              <a:cs typeface="Roboto"/>
              <a:sym typeface="Roboto"/>
            </a:endParaRPr>
          </a:p>
        </p:txBody>
      </p:sp>
      <p:sp>
        <p:nvSpPr>
          <p:cNvPr id="30" name="Freeform 30"/>
          <p:cNvSpPr/>
          <p:nvPr/>
        </p:nvSpPr>
        <p:spPr>
          <a:xfrm>
            <a:off x="-2004940" y="653903"/>
            <a:ext cx="3408343" cy="3086100"/>
          </a:xfrm>
          <a:custGeom>
            <a:avLst/>
            <a:gdLst/>
            <a:ahLst/>
            <a:cxnLst/>
            <a:rect l="l" t="t" r="r" b="b"/>
            <a:pathLst>
              <a:path w="3408343" h="3086100">
                <a:moveTo>
                  <a:pt x="0" y="0"/>
                </a:moveTo>
                <a:lnTo>
                  <a:pt x="3408344" y="0"/>
                </a:lnTo>
                <a:lnTo>
                  <a:pt x="3408344" y="3086100"/>
                </a:lnTo>
                <a:lnTo>
                  <a:pt x="0" y="30861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1" name="Freeform 31"/>
          <p:cNvSpPr/>
          <p:nvPr/>
        </p:nvSpPr>
        <p:spPr>
          <a:xfrm>
            <a:off x="16703402" y="5987345"/>
            <a:ext cx="4941056" cy="4941056"/>
          </a:xfrm>
          <a:custGeom>
            <a:avLst/>
            <a:gdLst/>
            <a:ahLst/>
            <a:cxnLst/>
            <a:rect l="l" t="t" r="r" b="b"/>
            <a:pathLst>
              <a:path w="4941056" h="4941056">
                <a:moveTo>
                  <a:pt x="0" y="0"/>
                </a:moveTo>
                <a:lnTo>
                  <a:pt x="4941056" y="0"/>
                </a:lnTo>
                <a:lnTo>
                  <a:pt x="4941056" y="4941055"/>
                </a:lnTo>
                <a:lnTo>
                  <a:pt x="0" y="494105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2" name="TextBox 32"/>
          <p:cNvSpPr txBox="1"/>
          <p:nvPr/>
        </p:nvSpPr>
        <p:spPr>
          <a:xfrm>
            <a:off x="2390281" y="5504667"/>
            <a:ext cx="13678394" cy="535403"/>
          </a:xfrm>
          <a:prstGeom prst="rect">
            <a:avLst/>
          </a:prstGeom>
        </p:spPr>
        <p:txBody>
          <a:bodyPr lIns="0" tIns="0" rIns="0" bIns="0" rtlCol="0" anchor="t">
            <a:spAutoFit/>
          </a:bodyPr>
          <a:lstStyle/>
          <a:p>
            <a:pPr algn="l">
              <a:lnSpc>
                <a:spcPts val="4480"/>
              </a:lnSpc>
              <a:spcBef>
                <a:spcPct val="0"/>
              </a:spcBef>
            </a:pPr>
            <a:r>
              <a:rPr lang="en-US" sz="3200" dirty="0" err="1" smtClean="0">
                <a:solidFill>
                  <a:srgbClr val="FFFFFF"/>
                </a:solidFill>
                <a:latin typeface="Roboto"/>
                <a:ea typeface="Roboto"/>
                <a:cs typeface="Roboto"/>
                <a:sym typeface="Roboto"/>
              </a:rPr>
              <a:t>hghghghghg</a:t>
            </a:r>
            <a:r>
              <a:rPr lang="en-US" sz="3200" dirty="0" smtClean="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ghghg</a:t>
            </a:r>
            <a:r>
              <a:rPr lang="en-US" sz="3200" dirty="0" smtClean="0">
                <a:solidFill>
                  <a:srgbClr val="FFFFFF"/>
                </a:solidFill>
                <a:latin typeface="Roboto"/>
                <a:ea typeface="Roboto"/>
                <a:cs typeface="Roboto"/>
                <a:sym typeface="Roboto"/>
              </a:rPr>
              <a:t> </a:t>
            </a:r>
            <a:r>
              <a:rPr lang="en-US" sz="3200" dirty="0">
                <a:solidFill>
                  <a:srgbClr val="FFFFFF"/>
                </a:solidFill>
                <a:latin typeface="Roboto"/>
                <a:ea typeface="Roboto"/>
                <a:cs typeface="Roboto"/>
                <a:sym typeface="Roboto"/>
              </a:rPr>
              <a:t>hg</a:t>
            </a:r>
          </a:p>
        </p:txBody>
      </p:sp>
      <p:sp>
        <p:nvSpPr>
          <p:cNvPr id="33" name="TextBox 33"/>
          <p:cNvSpPr txBox="1"/>
          <p:nvPr/>
        </p:nvSpPr>
        <p:spPr>
          <a:xfrm>
            <a:off x="2390281" y="6049949"/>
            <a:ext cx="13678394" cy="577081"/>
          </a:xfrm>
          <a:prstGeom prst="rect">
            <a:avLst/>
          </a:prstGeom>
        </p:spPr>
        <p:txBody>
          <a:bodyPr lIns="0" tIns="0" rIns="0" bIns="0" rtlCol="0" anchor="t">
            <a:spAutoFit/>
          </a:bodyPr>
          <a:lstStyle/>
          <a:p>
            <a:pPr algn="l">
              <a:lnSpc>
                <a:spcPts val="4480"/>
              </a:lnSpc>
              <a:spcBef>
                <a:spcPct val="0"/>
              </a:spcBef>
            </a:pP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ghghg</a:t>
            </a:r>
            <a:r>
              <a:rPr lang="en-US" sz="3200" dirty="0" smtClean="0">
                <a:solidFill>
                  <a:srgbClr val="FFFFFF"/>
                </a:solidFill>
                <a:latin typeface="Roboto"/>
                <a:ea typeface="Roboto"/>
                <a:cs typeface="Roboto"/>
                <a:sym typeface="Roboto"/>
              </a:rPr>
              <a:t> hg</a:t>
            </a:r>
            <a:endParaRPr lang="en-US" sz="3200" dirty="0">
              <a:solidFill>
                <a:srgbClr val="FFFFFF"/>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p:cNvGrpSpPr/>
        <p:nvPr/>
      </p:nvGrpSpPr>
      <p:grpSpPr>
        <a:xfrm>
          <a:off x="0" y="0"/>
          <a:ext cx="0" cy="0"/>
          <a:chOff x="0" y="0"/>
          <a:chExt cx="0" cy="0"/>
        </a:xfrm>
      </p:grpSpPr>
      <p:grpSp>
        <p:nvGrpSpPr>
          <p:cNvPr id="2" name="Group 2"/>
          <p:cNvGrpSpPr/>
          <p:nvPr/>
        </p:nvGrpSpPr>
        <p:grpSpPr>
          <a:xfrm>
            <a:off x="1755553" y="5054183"/>
            <a:ext cx="385694" cy="397179"/>
            <a:chOff x="0" y="0"/>
            <a:chExt cx="514258" cy="529572"/>
          </a:xfrm>
        </p:grpSpPr>
        <p:grpSp>
          <p:nvGrpSpPr>
            <p:cNvPr id="3" name="Group 3"/>
            <p:cNvGrpSpPr/>
            <p:nvPr/>
          </p:nvGrpSpPr>
          <p:grpSpPr>
            <a:xfrm>
              <a:off x="102677" y="93343"/>
              <a:ext cx="411581" cy="436229"/>
              <a:chOff x="0" y="0"/>
              <a:chExt cx="110615" cy="117239"/>
            </a:xfrm>
          </p:grpSpPr>
          <p:sp>
            <p:nvSpPr>
              <p:cNvPr id="4" name="Freeform 4"/>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5" name="TextBox 5"/>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411581" cy="436229"/>
              <a:chOff x="0" y="0"/>
              <a:chExt cx="110615" cy="117239"/>
            </a:xfrm>
          </p:grpSpPr>
          <p:sp>
            <p:nvSpPr>
              <p:cNvPr id="7" name="Freeform 7"/>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FDF4F4"/>
              </a:solidFill>
            </p:spPr>
          </p:sp>
          <p:sp>
            <p:nvSpPr>
              <p:cNvPr id="8" name="TextBox 8"/>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grpSp>
        <p:nvGrpSpPr>
          <p:cNvPr id="9" name="Group 9"/>
          <p:cNvGrpSpPr/>
          <p:nvPr/>
        </p:nvGrpSpPr>
        <p:grpSpPr>
          <a:xfrm>
            <a:off x="1755553" y="5622625"/>
            <a:ext cx="385694" cy="397179"/>
            <a:chOff x="0" y="0"/>
            <a:chExt cx="514258" cy="529572"/>
          </a:xfrm>
        </p:grpSpPr>
        <p:grpSp>
          <p:nvGrpSpPr>
            <p:cNvPr id="10" name="Group 10"/>
            <p:cNvGrpSpPr/>
            <p:nvPr/>
          </p:nvGrpSpPr>
          <p:grpSpPr>
            <a:xfrm>
              <a:off x="102677" y="93343"/>
              <a:ext cx="411581" cy="436229"/>
              <a:chOff x="0" y="0"/>
              <a:chExt cx="110615" cy="117239"/>
            </a:xfrm>
          </p:grpSpPr>
          <p:sp>
            <p:nvSpPr>
              <p:cNvPr id="11" name="Freeform 11"/>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12" name="TextBox 12"/>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0" y="0"/>
              <a:ext cx="411581" cy="436229"/>
              <a:chOff x="0" y="0"/>
              <a:chExt cx="110615" cy="117239"/>
            </a:xfrm>
          </p:grpSpPr>
          <p:sp>
            <p:nvSpPr>
              <p:cNvPr id="14" name="Freeform 14"/>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FDF4F4"/>
              </a:solidFill>
            </p:spPr>
          </p:sp>
          <p:sp>
            <p:nvSpPr>
              <p:cNvPr id="15" name="TextBox 15"/>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grpSp>
        <p:nvGrpSpPr>
          <p:cNvPr id="16" name="Group 16"/>
          <p:cNvGrpSpPr/>
          <p:nvPr/>
        </p:nvGrpSpPr>
        <p:grpSpPr>
          <a:xfrm>
            <a:off x="1755553" y="6209665"/>
            <a:ext cx="385694" cy="397179"/>
            <a:chOff x="0" y="0"/>
            <a:chExt cx="514258" cy="529572"/>
          </a:xfrm>
        </p:grpSpPr>
        <p:grpSp>
          <p:nvGrpSpPr>
            <p:cNvPr id="17" name="Group 17"/>
            <p:cNvGrpSpPr/>
            <p:nvPr/>
          </p:nvGrpSpPr>
          <p:grpSpPr>
            <a:xfrm>
              <a:off x="102677" y="93343"/>
              <a:ext cx="411581" cy="436229"/>
              <a:chOff x="0" y="0"/>
              <a:chExt cx="110615" cy="117239"/>
            </a:xfrm>
          </p:grpSpPr>
          <p:sp>
            <p:nvSpPr>
              <p:cNvPr id="18" name="Freeform 18"/>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19" name="TextBox 19"/>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0" y="0"/>
              <a:ext cx="411581" cy="436229"/>
              <a:chOff x="0" y="0"/>
              <a:chExt cx="110615" cy="117239"/>
            </a:xfrm>
          </p:grpSpPr>
          <p:sp>
            <p:nvSpPr>
              <p:cNvPr id="21" name="Freeform 21"/>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FDF4F4"/>
              </a:solidFill>
            </p:spPr>
          </p:sp>
          <p:sp>
            <p:nvSpPr>
              <p:cNvPr id="22" name="TextBox 22"/>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sp>
        <p:nvSpPr>
          <p:cNvPr id="23" name="TextBox 23"/>
          <p:cNvSpPr txBox="1"/>
          <p:nvPr/>
        </p:nvSpPr>
        <p:spPr>
          <a:xfrm>
            <a:off x="2762625" y="663749"/>
            <a:ext cx="13940777" cy="1127760"/>
          </a:xfrm>
          <a:prstGeom prst="rect">
            <a:avLst/>
          </a:prstGeom>
        </p:spPr>
        <p:txBody>
          <a:bodyPr lIns="0" tIns="0" rIns="0" bIns="0" rtlCol="0" anchor="t">
            <a:spAutoFit/>
          </a:bodyPr>
          <a:lstStyle/>
          <a:p>
            <a:pPr marL="0" lvl="0" indent="0" algn="ctr">
              <a:lnSpc>
                <a:spcPts val="9240"/>
              </a:lnSpc>
              <a:spcBef>
                <a:spcPct val="0"/>
              </a:spcBef>
            </a:pPr>
            <a:r>
              <a:rPr lang="en-US" sz="6600">
                <a:solidFill>
                  <a:srgbClr val="FDF4F4"/>
                </a:solidFill>
                <a:latin typeface="Oswald"/>
                <a:ea typeface="Oswald"/>
                <a:cs typeface="Oswald"/>
                <a:sym typeface="Oswald"/>
              </a:rPr>
              <a:t>Simultaneous Equations kjkj jhjhjh jhhj jh j j j </a:t>
            </a:r>
          </a:p>
        </p:txBody>
      </p:sp>
      <p:grpSp>
        <p:nvGrpSpPr>
          <p:cNvPr id="24" name="Group 24"/>
          <p:cNvGrpSpPr/>
          <p:nvPr/>
        </p:nvGrpSpPr>
        <p:grpSpPr>
          <a:xfrm>
            <a:off x="-2461097" y="-1673523"/>
            <a:ext cx="4922194" cy="492219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9677"/>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1755553" y="2861481"/>
            <a:ext cx="14947849" cy="1731243"/>
          </a:xfrm>
          <a:prstGeom prst="rect">
            <a:avLst/>
          </a:prstGeom>
        </p:spPr>
        <p:txBody>
          <a:bodyPr lIns="0" tIns="0" rIns="0" bIns="0" rtlCol="0" anchor="t">
            <a:spAutoFit/>
          </a:bodyPr>
          <a:lstStyle/>
          <a:p>
            <a:pPr algn="l">
              <a:lnSpc>
                <a:spcPts val="4480"/>
              </a:lnSpc>
              <a:spcBef>
                <a:spcPct val="0"/>
              </a:spcBef>
            </a:pPr>
            <a:r>
              <a:rPr lang="en-US" sz="3200" dirty="0">
                <a:solidFill>
                  <a:srgbClr val="FFFFFF"/>
                </a:solidFill>
                <a:latin typeface="Roboto"/>
                <a:ea typeface="Roboto"/>
                <a:cs typeface="Roboto"/>
                <a:sym typeface="Roboto"/>
              </a:rPr>
              <a:t>Simultaneous equations are two or more algebraic equations that can be solved at the same time. Linear simultaneous equations with two unknown variables can be solved by using the following methods: </a:t>
            </a:r>
            <a:r>
              <a:rPr lang="en-US" sz="3200" dirty="0" err="1">
                <a:solidFill>
                  <a:srgbClr val="FFFFFF"/>
                </a:solidFill>
                <a:latin typeface="Roboto"/>
                <a:ea typeface="Roboto"/>
                <a:cs typeface="Roboto"/>
                <a:sym typeface="Roboto"/>
              </a:rPr>
              <a:t>nghghgh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ghghghghg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ghghg</a:t>
            </a:r>
            <a:endParaRPr lang="en-US" sz="3200" dirty="0">
              <a:solidFill>
                <a:srgbClr val="FFFFFF"/>
              </a:solidFill>
              <a:latin typeface="Roboto"/>
              <a:ea typeface="Roboto"/>
              <a:cs typeface="Roboto"/>
              <a:sym typeface="Roboto"/>
            </a:endParaRPr>
          </a:p>
        </p:txBody>
      </p:sp>
      <p:sp>
        <p:nvSpPr>
          <p:cNvPr id="28" name="TextBox 28"/>
          <p:cNvSpPr txBox="1"/>
          <p:nvPr/>
        </p:nvSpPr>
        <p:spPr>
          <a:xfrm>
            <a:off x="2435994" y="4943009"/>
            <a:ext cx="13678394" cy="577081"/>
          </a:xfrm>
          <a:prstGeom prst="rect">
            <a:avLst/>
          </a:prstGeom>
        </p:spPr>
        <p:txBody>
          <a:bodyPr lIns="0" tIns="0" rIns="0" bIns="0" rtlCol="0" anchor="t">
            <a:spAutoFit/>
          </a:bodyPr>
          <a:lstStyle/>
          <a:p>
            <a:pPr algn="l">
              <a:lnSpc>
                <a:spcPts val="4480"/>
              </a:lnSpc>
              <a:spcBef>
                <a:spcPct val="0"/>
              </a:spcBef>
            </a:pP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a:t>
            </a:r>
            <a:r>
              <a:rPr lang="en-US" sz="3200" dirty="0" smtClean="0">
                <a:solidFill>
                  <a:srgbClr val="FFFFFF"/>
                </a:solidFill>
                <a:latin typeface="Roboto"/>
                <a:ea typeface="Roboto"/>
                <a:cs typeface="Roboto"/>
                <a:sym typeface="Roboto"/>
              </a:rPr>
              <a:t>  </a:t>
            </a:r>
            <a:r>
              <a:rPr lang="en-US" sz="3200" dirty="0">
                <a:solidFill>
                  <a:srgbClr val="FFFFFF"/>
                </a:solidFill>
                <a:latin typeface="Roboto"/>
                <a:ea typeface="Roboto"/>
                <a:cs typeface="Roboto"/>
                <a:sym typeface="Roboto"/>
              </a:rPr>
              <a:t>hg</a:t>
            </a:r>
          </a:p>
        </p:txBody>
      </p:sp>
      <p:sp>
        <p:nvSpPr>
          <p:cNvPr id="29" name="TextBox 29"/>
          <p:cNvSpPr txBox="1"/>
          <p:nvPr/>
        </p:nvSpPr>
        <p:spPr>
          <a:xfrm>
            <a:off x="1755553" y="7023904"/>
            <a:ext cx="13215835" cy="1731243"/>
          </a:xfrm>
          <a:prstGeom prst="rect">
            <a:avLst/>
          </a:prstGeom>
        </p:spPr>
        <p:txBody>
          <a:bodyPr lIns="0" tIns="0" rIns="0" bIns="0" rtlCol="0" anchor="t">
            <a:spAutoFit/>
          </a:bodyPr>
          <a:lstStyle/>
          <a:p>
            <a:pPr algn="l">
              <a:lnSpc>
                <a:spcPts val="4480"/>
              </a:lnSpc>
            </a:pPr>
            <a:r>
              <a:rPr lang="en-US" sz="3200" dirty="0">
                <a:solidFill>
                  <a:srgbClr val="FFFFFF"/>
                </a:solidFill>
                <a:latin typeface="Roboto"/>
                <a:ea typeface="Roboto"/>
                <a:cs typeface="Roboto"/>
                <a:sym typeface="Roboto"/>
              </a:rPr>
              <a:t>In this lesson, we will focus on solving linear simultaneous equations hg algebraically using the elimination method, but first, let's have a look </a:t>
            </a:r>
            <a:r>
              <a:rPr lang="en-US" sz="3200" dirty="0" err="1">
                <a:solidFill>
                  <a:srgbClr val="FFFFFF"/>
                </a:solidFill>
                <a:latin typeface="Roboto"/>
                <a:ea typeface="Roboto"/>
                <a:cs typeface="Roboto"/>
                <a:sym typeface="Roboto"/>
              </a:rPr>
              <a:t>gh</a:t>
            </a:r>
            <a:endParaRPr lang="en-US" sz="3200" dirty="0">
              <a:solidFill>
                <a:srgbClr val="FFFFFF"/>
              </a:solidFill>
              <a:latin typeface="Roboto"/>
              <a:ea typeface="Roboto"/>
              <a:cs typeface="Roboto"/>
              <a:sym typeface="Roboto"/>
            </a:endParaRPr>
          </a:p>
          <a:p>
            <a:pPr algn="l">
              <a:lnSpc>
                <a:spcPts val="4480"/>
              </a:lnSpc>
              <a:spcBef>
                <a:spcPct val="0"/>
              </a:spcBef>
            </a:pPr>
            <a:r>
              <a:rPr lang="en-US" sz="3200" dirty="0">
                <a:solidFill>
                  <a:srgbClr val="FFFFFF"/>
                </a:solidFill>
                <a:latin typeface="Roboto"/>
                <a:ea typeface="Roboto"/>
                <a:cs typeface="Roboto"/>
                <a:sym typeface="Roboto"/>
              </a:rPr>
              <a:t>at some </a:t>
            </a:r>
            <a:r>
              <a:rPr lang="en-US" sz="3200" dirty="0" err="1">
                <a:solidFill>
                  <a:srgbClr val="FFFFFF"/>
                </a:solidFill>
                <a:latin typeface="Roboto"/>
                <a:ea typeface="Roboto"/>
                <a:cs typeface="Roboto"/>
                <a:sym typeface="Roboto"/>
              </a:rPr>
              <a:t>graphs.hgh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hgghghghgh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hghghg</a:t>
            </a:r>
            <a:r>
              <a:rPr lang="en-US" sz="3200" dirty="0" smtClean="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a:t>
            </a:r>
            <a:endParaRPr lang="en-US" sz="3200" dirty="0">
              <a:solidFill>
                <a:srgbClr val="FFFFFF"/>
              </a:solidFill>
              <a:latin typeface="Roboto"/>
              <a:ea typeface="Roboto"/>
              <a:cs typeface="Roboto"/>
              <a:sym typeface="Roboto"/>
            </a:endParaRPr>
          </a:p>
        </p:txBody>
      </p:sp>
      <p:sp>
        <p:nvSpPr>
          <p:cNvPr id="30" name="Freeform 30"/>
          <p:cNvSpPr/>
          <p:nvPr/>
        </p:nvSpPr>
        <p:spPr>
          <a:xfrm>
            <a:off x="-2004940" y="653903"/>
            <a:ext cx="3408343" cy="3086100"/>
          </a:xfrm>
          <a:custGeom>
            <a:avLst/>
            <a:gdLst/>
            <a:ahLst/>
            <a:cxnLst/>
            <a:rect l="l" t="t" r="r" b="b"/>
            <a:pathLst>
              <a:path w="3408343" h="3086100">
                <a:moveTo>
                  <a:pt x="0" y="0"/>
                </a:moveTo>
                <a:lnTo>
                  <a:pt x="3408344" y="0"/>
                </a:lnTo>
                <a:lnTo>
                  <a:pt x="3408344" y="3086100"/>
                </a:lnTo>
                <a:lnTo>
                  <a:pt x="0" y="30861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1" name="Freeform 31"/>
          <p:cNvSpPr/>
          <p:nvPr/>
        </p:nvSpPr>
        <p:spPr>
          <a:xfrm>
            <a:off x="16703402" y="5987345"/>
            <a:ext cx="4941056" cy="4941056"/>
          </a:xfrm>
          <a:custGeom>
            <a:avLst/>
            <a:gdLst/>
            <a:ahLst/>
            <a:cxnLst/>
            <a:rect l="l" t="t" r="r" b="b"/>
            <a:pathLst>
              <a:path w="4941056" h="4941056">
                <a:moveTo>
                  <a:pt x="0" y="0"/>
                </a:moveTo>
                <a:lnTo>
                  <a:pt x="4941056" y="0"/>
                </a:lnTo>
                <a:lnTo>
                  <a:pt x="4941056" y="4941055"/>
                </a:lnTo>
                <a:lnTo>
                  <a:pt x="0" y="494105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2" name="TextBox 32"/>
          <p:cNvSpPr txBox="1"/>
          <p:nvPr/>
        </p:nvSpPr>
        <p:spPr>
          <a:xfrm>
            <a:off x="2390281" y="5504667"/>
            <a:ext cx="13678394" cy="535403"/>
          </a:xfrm>
          <a:prstGeom prst="rect">
            <a:avLst/>
          </a:prstGeom>
        </p:spPr>
        <p:txBody>
          <a:bodyPr lIns="0" tIns="0" rIns="0" bIns="0" rtlCol="0" anchor="t">
            <a:spAutoFit/>
          </a:bodyPr>
          <a:lstStyle/>
          <a:p>
            <a:pPr algn="l">
              <a:lnSpc>
                <a:spcPts val="4480"/>
              </a:lnSpc>
              <a:spcBef>
                <a:spcPct val="0"/>
              </a:spcBef>
            </a:pPr>
            <a:r>
              <a:rPr lang="en-US" sz="3200" dirty="0" err="1" smtClean="0">
                <a:solidFill>
                  <a:srgbClr val="FFFFFF"/>
                </a:solidFill>
                <a:latin typeface="Roboto"/>
                <a:ea typeface="Roboto"/>
                <a:cs typeface="Roboto"/>
                <a:sym typeface="Roboto"/>
              </a:rPr>
              <a:t>hghghghghg</a:t>
            </a:r>
            <a:r>
              <a:rPr lang="en-US" sz="3200" dirty="0" smtClean="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ghghg</a:t>
            </a:r>
            <a:r>
              <a:rPr lang="en-US" sz="3200" dirty="0" smtClean="0">
                <a:solidFill>
                  <a:srgbClr val="FFFFFF"/>
                </a:solidFill>
                <a:latin typeface="Roboto"/>
                <a:ea typeface="Roboto"/>
                <a:cs typeface="Roboto"/>
                <a:sym typeface="Roboto"/>
              </a:rPr>
              <a:t> </a:t>
            </a:r>
            <a:r>
              <a:rPr lang="en-US" sz="3200" dirty="0">
                <a:solidFill>
                  <a:srgbClr val="FFFFFF"/>
                </a:solidFill>
                <a:latin typeface="Roboto"/>
                <a:ea typeface="Roboto"/>
                <a:cs typeface="Roboto"/>
                <a:sym typeface="Roboto"/>
              </a:rPr>
              <a:t>hg</a:t>
            </a:r>
          </a:p>
        </p:txBody>
      </p:sp>
      <p:sp>
        <p:nvSpPr>
          <p:cNvPr id="33" name="TextBox 33"/>
          <p:cNvSpPr txBox="1"/>
          <p:nvPr/>
        </p:nvSpPr>
        <p:spPr>
          <a:xfrm>
            <a:off x="2390281" y="6049949"/>
            <a:ext cx="13678394" cy="577081"/>
          </a:xfrm>
          <a:prstGeom prst="rect">
            <a:avLst/>
          </a:prstGeom>
        </p:spPr>
        <p:txBody>
          <a:bodyPr lIns="0" tIns="0" rIns="0" bIns="0" rtlCol="0" anchor="t">
            <a:spAutoFit/>
          </a:bodyPr>
          <a:lstStyle/>
          <a:p>
            <a:pPr algn="l">
              <a:lnSpc>
                <a:spcPts val="4480"/>
              </a:lnSpc>
              <a:spcBef>
                <a:spcPct val="0"/>
              </a:spcBef>
            </a:pP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ghghg</a:t>
            </a:r>
            <a:r>
              <a:rPr lang="en-US" sz="3200" dirty="0" smtClean="0">
                <a:solidFill>
                  <a:srgbClr val="FFFFFF"/>
                </a:solidFill>
                <a:latin typeface="Roboto"/>
                <a:ea typeface="Roboto"/>
                <a:cs typeface="Roboto"/>
                <a:sym typeface="Roboto"/>
              </a:rPr>
              <a:t> hg</a:t>
            </a:r>
            <a:endParaRPr lang="en-US" sz="3200" dirty="0">
              <a:solidFill>
                <a:srgbClr val="FFFFFF"/>
              </a:solidFill>
              <a:latin typeface="Roboto"/>
              <a:ea typeface="Roboto"/>
              <a:cs typeface="Roboto"/>
              <a:sym typeface="Roboto"/>
            </a:endParaRPr>
          </a:p>
        </p:txBody>
      </p:sp>
    </p:spTree>
    <p:extLst>
      <p:ext uri="{BB962C8B-B14F-4D97-AF65-F5344CB8AC3E}">
        <p14:creationId xmlns:p14="http://schemas.microsoft.com/office/powerpoint/2010/main" val="828412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sp>
        <p:nvSpPr>
          <p:cNvPr id="3" name="TextBox 3"/>
          <p:cNvSpPr txBox="1"/>
          <p:nvPr/>
        </p:nvSpPr>
        <p:spPr>
          <a:xfrm>
            <a:off x="1607544" y="671291"/>
            <a:ext cx="15072912" cy="1127760"/>
          </a:xfrm>
          <a:prstGeom prst="rect">
            <a:avLst/>
          </a:prstGeom>
        </p:spPr>
        <p:txBody>
          <a:bodyPr lIns="0" tIns="0" rIns="0" bIns="0" rtlCol="0" anchor="t">
            <a:spAutoFit/>
          </a:bodyPr>
          <a:lstStyle/>
          <a:p>
            <a:pPr marL="0" lvl="0" indent="0" algn="ctr">
              <a:lnSpc>
                <a:spcPts val="9240"/>
              </a:lnSpc>
              <a:spcBef>
                <a:spcPct val="0"/>
              </a:spcBef>
            </a:pPr>
            <a:r>
              <a:rPr lang="en-US" sz="6600" dirty="0">
                <a:solidFill>
                  <a:srgbClr val="000000"/>
                </a:solidFill>
                <a:latin typeface="Oswald"/>
                <a:ea typeface="Oswald"/>
                <a:cs typeface="Oswald"/>
                <a:sym typeface="Oswald"/>
              </a:rPr>
              <a:t>Graphs of Simultaneous Equations </a:t>
            </a:r>
            <a:r>
              <a:rPr lang="en-US" sz="6600" dirty="0" err="1">
                <a:solidFill>
                  <a:srgbClr val="000000"/>
                </a:solidFill>
                <a:latin typeface="Oswald"/>
                <a:ea typeface="Oswald"/>
                <a:cs typeface="Oswald"/>
                <a:sym typeface="Oswald"/>
              </a:rPr>
              <a:t>bnb</a:t>
            </a:r>
            <a:r>
              <a:rPr lang="en-US" sz="6600" dirty="0">
                <a:solidFill>
                  <a:srgbClr val="000000"/>
                </a:solidFill>
                <a:latin typeface="Oswald"/>
                <a:ea typeface="Oswald"/>
                <a:cs typeface="Oswald"/>
                <a:sym typeface="Oswald"/>
              </a:rPr>
              <a:t> </a:t>
            </a:r>
            <a:r>
              <a:rPr lang="en-US" sz="6600" dirty="0" err="1">
                <a:solidFill>
                  <a:srgbClr val="000000"/>
                </a:solidFill>
                <a:latin typeface="Oswald"/>
                <a:ea typeface="Oswald"/>
                <a:cs typeface="Oswald"/>
                <a:sym typeface="Oswald"/>
              </a:rPr>
              <a:t>bh</a:t>
            </a:r>
            <a:r>
              <a:rPr lang="en-US" sz="6600" dirty="0">
                <a:solidFill>
                  <a:srgbClr val="000000"/>
                </a:solidFill>
                <a:latin typeface="Oswald"/>
                <a:ea typeface="Oswald"/>
                <a:cs typeface="Oswald"/>
                <a:sym typeface="Oswald"/>
              </a:rPr>
              <a:t> </a:t>
            </a:r>
            <a:r>
              <a:rPr lang="en-US" sz="6600" dirty="0" err="1">
                <a:solidFill>
                  <a:srgbClr val="000000"/>
                </a:solidFill>
                <a:latin typeface="Oswald"/>
                <a:ea typeface="Oswald"/>
                <a:cs typeface="Oswald"/>
                <a:sym typeface="Oswald"/>
              </a:rPr>
              <a:t>jh</a:t>
            </a:r>
            <a:r>
              <a:rPr lang="en-US" sz="6600" dirty="0">
                <a:solidFill>
                  <a:srgbClr val="000000"/>
                </a:solidFill>
                <a:latin typeface="Oswald"/>
                <a:ea typeface="Oswald"/>
                <a:cs typeface="Oswald"/>
                <a:sym typeface="Oswald"/>
              </a:rPr>
              <a:t> j </a:t>
            </a:r>
            <a:r>
              <a:rPr lang="en-US" sz="6600" dirty="0" err="1">
                <a:solidFill>
                  <a:srgbClr val="000000"/>
                </a:solidFill>
                <a:latin typeface="Oswald"/>
                <a:ea typeface="Oswald"/>
                <a:cs typeface="Oswald"/>
                <a:sym typeface="Oswald"/>
              </a:rPr>
              <a:t>j</a:t>
            </a:r>
            <a:r>
              <a:rPr lang="en-US" sz="6600" dirty="0">
                <a:solidFill>
                  <a:srgbClr val="000000"/>
                </a:solidFill>
                <a:latin typeface="Oswald"/>
                <a:ea typeface="Oswald"/>
                <a:cs typeface="Oswald"/>
                <a:sym typeface="Oswald"/>
              </a:rPr>
              <a:t> </a:t>
            </a:r>
            <a:r>
              <a:rPr lang="en-US" sz="6600" dirty="0" err="1">
                <a:solidFill>
                  <a:srgbClr val="000000"/>
                </a:solidFill>
                <a:latin typeface="Oswald"/>
                <a:ea typeface="Oswald"/>
                <a:cs typeface="Oswald"/>
                <a:sym typeface="Oswald"/>
              </a:rPr>
              <a:t>jnj</a:t>
            </a:r>
            <a:endParaRPr lang="en-US" sz="6600" dirty="0">
              <a:solidFill>
                <a:srgbClr val="000000"/>
              </a:solidFill>
              <a:latin typeface="Oswald"/>
              <a:ea typeface="Oswald"/>
              <a:cs typeface="Oswald"/>
              <a:sym typeface="Oswald"/>
            </a:endParaRPr>
          </a:p>
        </p:txBody>
      </p:sp>
      <p:sp>
        <p:nvSpPr>
          <p:cNvPr id="4" name="TextBox 4"/>
          <p:cNvSpPr txBox="1"/>
          <p:nvPr/>
        </p:nvSpPr>
        <p:spPr>
          <a:xfrm>
            <a:off x="1010888" y="6976872"/>
            <a:ext cx="9123711" cy="1731243"/>
          </a:xfrm>
          <a:prstGeom prst="rect">
            <a:avLst/>
          </a:prstGeom>
        </p:spPr>
        <p:txBody>
          <a:bodyPr wrap="square" lIns="0" tIns="0" rIns="0" bIns="0" rtlCol="0" anchor="t">
            <a:spAutoFit/>
          </a:bodyPr>
          <a:lstStyle/>
          <a:p>
            <a:pPr algn="l">
              <a:lnSpc>
                <a:spcPts val="4480"/>
              </a:lnSpc>
              <a:spcBef>
                <a:spcPct val="0"/>
              </a:spcBef>
            </a:pPr>
            <a:r>
              <a:rPr lang="en-US" sz="3200" dirty="0">
                <a:solidFill>
                  <a:srgbClr val="000000"/>
                </a:solidFill>
                <a:latin typeface="Roboto"/>
                <a:ea typeface="Roboto"/>
                <a:cs typeface="Roboto"/>
                <a:sym typeface="Roboto"/>
              </a:rPr>
              <a:t>The solutions of simultaneous equations with two unknown variables correspond to the point of intersection of their graphs.</a:t>
            </a:r>
          </a:p>
        </p:txBody>
      </p:sp>
      <p:sp>
        <p:nvSpPr>
          <p:cNvPr id="5" name="TextBox 5"/>
          <p:cNvSpPr txBox="1"/>
          <p:nvPr/>
        </p:nvSpPr>
        <p:spPr>
          <a:xfrm>
            <a:off x="1028700" y="2618550"/>
            <a:ext cx="9105900" cy="4039567"/>
          </a:xfrm>
          <a:prstGeom prst="rect">
            <a:avLst/>
          </a:prstGeom>
        </p:spPr>
        <p:txBody>
          <a:bodyPr wrap="square" lIns="0" tIns="0" rIns="0" bIns="0" rtlCol="0" anchor="t">
            <a:spAutoFit/>
          </a:bodyPr>
          <a:lstStyle/>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endParaRPr lang="en-US" sz="3200" dirty="0">
              <a:solidFill>
                <a:srgbClr val="000000"/>
              </a:solidFill>
              <a:latin typeface="Roboto"/>
              <a:ea typeface="Roboto"/>
              <a:cs typeface="Roboto"/>
              <a:sym typeface="Roboto"/>
            </a:endParaRP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6600" y="2656650"/>
            <a:ext cx="6614733" cy="5541744"/>
          </a:xfrm>
          <a:prstGeom prst="rect">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p:cNvGrpSpPr/>
        <p:nvPr/>
      </p:nvGrpSpPr>
      <p:grpSpPr>
        <a:xfrm>
          <a:off x="0" y="0"/>
          <a:ext cx="0" cy="0"/>
          <a:chOff x="0" y="0"/>
          <a:chExt cx="0" cy="0"/>
        </a:xfrm>
      </p:grpSpPr>
      <p:sp>
        <p:nvSpPr>
          <p:cNvPr id="2" name="Freeform 2"/>
          <p:cNvSpPr/>
          <p:nvPr/>
        </p:nvSpPr>
        <p:spPr>
          <a:xfrm>
            <a:off x="-3111195" y="7038579"/>
            <a:ext cx="4543444" cy="4543444"/>
          </a:xfrm>
          <a:custGeom>
            <a:avLst/>
            <a:gdLst/>
            <a:ahLst/>
            <a:cxnLst/>
            <a:rect l="l" t="t" r="r" b="b"/>
            <a:pathLst>
              <a:path w="4543444" h="4543444">
                <a:moveTo>
                  <a:pt x="0" y="0"/>
                </a:moveTo>
                <a:lnTo>
                  <a:pt x="4543443" y="0"/>
                </a:lnTo>
                <a:lnTo>
                  <a:pt x="4543443" y="4543444"/>
                </a:lnTo>
                <a:lnTo>
                  <a:pt x="0" y="454344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173612" y="663749"/>
            <a:ext cx="13940777" cy="1127760"/>
          </a:xfrm>
          <a:prstGeom prst="rect">
            <a:avLst/>
          </a:prstGeom>
        </p:spPr>
        <p:txBody>
          <a:bodyPr lIns="0" tIns="0" rIns="0" bIns="0" rtlCol="0" anchor="t">
            <a:spAutoFit/>
          </a:bodyPr>
          <a:lstStyle/>
          <a:p>
            <a:pPr marL="0" lvl="0" indent="0" algn="ctr">
              <a:lnSpc>
                <a:spcPts val="9240"/>
              </a:lnSpc>
              <a:spcBef>
                <a:spcPct val="0"/>
              </a:spcBef>
            </a:pPr>
            <a:r>
              <a:rPr lang="en-US" sz="6600">
                <a:solidFill>
                  <a:srgbClr val="FDF4F4"/>
                </a:solidFill>
                <a:latin typeface="Oswald"/>
                <a:ea typeface="Oswald"/>
                <a:cs typeface="Oswald"/>
                <a:sym typeface="Oswald"/>
              </a:rPr>
              <a:t>Elimination Method jhjhj jhjh jhjh jhjh jh jh hjj</a:t>
            </a:r>
          </a:p>
        </p:txBody>
      </p:sp>
      <p:sp>
        <p:nvSpPr>
          <p:cNvPr id="4" name="TextBox 4"/>
          <p:cNvSpPr txBox="1"/>
          <p:nvPr/>
        </p:nvSpPr>
        <p:spPr>
          <a:xfrm>
            <a:off x="1755553" y="2861481"/>
            <a:ext cx="14947849" cy="1154162"/>
          </a:xfrm>
          <a:prstGeom prst="rect">
            <a:avLst/>
          </a:prstGeom>
        </p:spPr>
        <p:txBody>
          <a:bodyPr lIns="0" tIns="0" rIns="0" bIns="0" rtlCol="0" anchor="t">
            <a:spAutoFit/>
          </a:bodyPr>
          <a:lstStyle/>
          <a:p>
            <a:pPr algn="l">
              <a:lnSpc>
                <a:spcPts val="4480"/>
              </a:lnSpc>
              <a:spcBef>
                <a:spcPct val="0"/>
              </a:spcBef>
            </a:pPr>
            <a:r>
              <a:rPr lang="en-US" sz="3200" dirty="0">
                <a:solidFill>
                  <a:srgbClr val="FFFFFF"/>
                </a:solidFill>
                <a:latin typeface="Roboto"/>
                <a:ea typeface="Roboto"/>
                <a:cs typeface="Roboto"/>
                <a:sym typeface="Roboto"/>
              </a:rPr>
              <a:t>In the elimination method, one variable is eliminated by adding or subtracting </a:t>
            </a:r>
            <a:r>
              <a:rPr lang="en-US" sz="3200" dirty="0" err="1">
                <a:solidFill>
                  <a:srgbClr val="FFFFFF"/>
                </a:solidFill>
                <a:latin typeface="Roboto"/>
                <a:ea typeface="Roboto"/>
                <a:cs typeface="Roboto"/>
                <a:sym typeface="Roboto"/>
              </a:rPr>
              <a:t>theb</a:t>
            </a:r>
            <a:r>
              <a:rPr lang="en-US" sz="3200" dirty="0">
                <a:solidFill>
                  <a:srgbClr val="FFFFFF"/>
                </a:solidFill>
                <a:latin typeface="Roboto"/>
                <a:ea typeface="Roboto"/>
                <a:cs typeface="Roboto"/>
                <a:sym typeface="Roboto"/>
              </a:rPr>
              <a:t> equations. This leaves one equation with one </a:t>
            </a:r>
            <a:r>
              <a:rPr lang="en-US" sz="3200" dirty="0" err="1">
                <a:solidFill>
                  <a:srgbClr val="FFFFFF"/>
                </a:solidFill>
                <a:latin typeface="Roboto"/>
                <a:ea typeface="Roboto"/>
                <a:cs typeface="Roboto"/>
                <a:sym typeface="Roboto"/>
              </a:rPr>
              <a:t>variable.bhhghghghg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hghgh</a:t>
            </a:r>
            <a:endParaRPr lang="en-US" sz="3200" dirty="0">
              <a:solidFill>
                <a:srgbClr val="FFFFFF"/>
              </a:solidFill>
              <a:latin typeface="Roboto"/>
              <a:ea typeface="Roboto"/>
              <a:cs typeface="Roboto"/>
              <a:sym typeface="Roboto"/>
            </a:endParaRPr>
          </a:p>
        </p:txBody>
      </p:sp>
      <p:sp>
        <p:nvSpPr>
          <p:cNvPr id="5" name="TextBox 5"/>
          <p:cNvSpPr txBox="1"/>
          <p:nvPr/>
        </p:nvSpPr>
        <p:spPr>
          <a:xfrm>
            <a:off x="2328009" y="7949430"/>
            <a:ext cx="5303336" cy="1118870"/>
          </a:xfrm>
          <a:prstGeom prst="rect">
            <a:avLst/>
          </a:prstGeom>
        </p:spPr>
        <p:txBody>
          <a:bodyPr lIns="0" tIns="0" rIns="0" bIns="0" rtlCol="0" anchor="t">
            <a:spAutoFit/>
          </a:bodyPr>
          <a:lstStyle/>
          <a:p>
            <a:pPr algn="l">
              <a:lnSpc>
                <a:spcPts val="4480"/>
              </a:lnSpc>
              <a:spcBef>
                <a:spcPct val="0"/>
              </a:spcBef>
            </a:pPr>
            <a:r>
              <a:rPr lang="en-US" sz="3200" i="1">
                <a:solidFill>
                  <a:srgbClr val="FFFFFF"/>
                </a:solidFill>
                <a:latin typeface="Roboto Italics"/>
                <a:ea typeface="Roboto Italics"/>
                <a:cs typeface="Roboto Italics"/>
                <a:sym typeface="Roboto Italics"/>
              </a:rPr>
              <a:t>Subtracting these equationsb eliminates the x variablennn n</a:t>
            </a:r>
          </a:p>
        </p:txBody>
      </p:sp>
      <p:sp>
        <p:nvSpPr>
          <p:cNvPr id="6" name="TextBox 6"/>
          <p:cNvSpPr txBox="1"/>
          <p:nvPr/>
        </p:nvSpPr>
        <p:spPr>
          <a:xfrm>
            <a:off x="10617147" y="7949430"/>
            <a:ext cx="5303336" cy="1118870"/>
          </a:xfrm>
          <a:prstGeom prst="rect">
            <a:avLst/>
          </a:prstGeom>
        </p:spPr>
        <p:txBody>
          <a:bodyPr lIns="0" tIns="0" rIns="0" bIns="0" rtlCol="0" anchor="t">
            <a:spAutoFit/>
          </a:bodyPr>
          <a:lstStyle/>
          <a:p>
            <a:pPr algn="r">
              <a:lnSpc>
                <a:spcPts val="4480"/>
              </a:lnSpc>
              <a:spcBef>
                <a:spcPct val="0"/>
              </a:spcBef>
            </a:pPr>
            <a:r>
              <a:rPr lang="en-US" sz="3200" i="1">
                <a:solidFill>
                  <a:srgbClr val="FFFFFF"/>
                </a:solidFill>
                <a:latin typeface="Roboto Italics"/>
                <a:ea typeface="Roboto Italics"/>
                <a:cs typeface="Roboto Italics"/>
                <a:sym typeface="Roboto Italics"/>
              </a:rPr>
              <a:t>Subtracting these equationsb eliminates the x variablennn n</a:t>
            </a:r>
          </a:p>
        </p:txBody>
      </p:sp>
      <p:sp>
        <p:nvSpPr>
          <p:cNvPr id="7" name="Freeform 7"/>
          <p:cNvSpPr/>
          <p:nvPr/>
        </p:nvSpPr>
        <p:spPr>
          <a:xfrm>
            <a:off x="14738548" y="-1174002"/>
            <a:ext cx="3067475" cy="3067475"/>
          </a:xfrm>
          <a:custGeom>
            <a:avLst/>
            <a:gdLst/>
            <a:ahLst/>
            <a:cxnLst/>
            <a:rect l="l" t="t" r="r" b="b"/>
            <a:pathLst>
              <a:path w="3067475" h="3067475">
                <a:moveTo>
                  <a:pt x="0" y="0"/>
                </a:moveTo>
                <a:lnTo>
                  <a:pt x="3067476" y="0"/>
                </a:lnTo>
                <a:lnTo>
                  <a:pt x="3067476" y="3067476"/>
                </a:lnTo>
                <a:lnTo>
                  <a:pt x="0" y="306747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755553" y="4565254"/>
            <a:ext cx="6855047" cy="3141886"/>
          </a:xfrm>
          <a:prstGeom prst="rect">
            <a:avLst/>
          </a:prstGeom>
        </p:spPr>
        <p:txBody>
          <a:bodyPr wrap="square" lIns="0" tIns="0" rIns="0" bIns="0" rtlCol="0" anchor="t">
            <a:spAutoFit/>
          </a:bodyPr>
          <a:lstStyle/>
          <a:p>
            <a:pPr marL="0" lvl="0" indent="0" algn="l">
              <a:lnSpc>
                <a:spcPts val="4900"/>
              </a:lnSpc>
              <a:spcBef>
                <a:spcPct val="0"/>
              </a:spcBef>
            </a:pPr>
            <a:r>
              <a:rPr lang="en-US" sz="3500" u="none" strike="noStrike" dirty="0">
                <a:solidFill>
                  <a:srgbClr val="FFFFFF"/>
                </a:solidFill>
                <a:latin typeface="Roboto"/>
                <a:ea typeface="Roboto"/>
                <a:cs typeface="Roboto"/>
                <a:sym typeface="Roboto"/>
              </a:rPr>
              <a:t>Your paragraph </a:t>
            </a:r>
            <a:r>
              <a:rPr lang="en-US" sz="3500" u="none" strike="noStrike" dirty="0" smtClean="0">
                <a:solidFill>
                  <a:srgbClr val="FFFFFF"/>
                </a:solidFill>
                <a:latin typeface="Roboto"/>
                <a:ea typeface="Roboto"/>
                <a:cs typeface="Roboto"/>
                <a:sym typeface="Roboto"/>
              </a:rPr>
              <a:t>text .</a:t>
            </a:r>
            <a:r>
              <a:rPr lang="en-US" sz="3500" u="none" strike="noStrike" dirty="0" err="1" smtClean="0">
                <a:solidFill>
                  <a:srgbClr val="FFFFFF"/>
                </a:solidFill>
                <a:latin typeface="Roboto"/>
                <a:ea typeface="Roboto"/>
                <a:cs typeface="Roboto"/>
                <a:sym typeface="Roboto"/>
              </a:rPr>
              <a:t>ghghghgh</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jjjjjjjjjjjjjjjjjjjjjjjjjj</a:t>
            </a:r>
            <a:r>
              <a:rPr lang="en-US" sz="3500"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jnnnjjjjnnnnnnnn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jjjjjjjjlllllllll</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kkkkkk</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kkkkkkkkkj</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jj</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jjllllll</a:t>
            </a:r>
            <a:r>
              <a:rPr lang="en-US" sz="3500" u="none" strike="noStrike"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nnnnn</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nnnnn</a:t>
            </a:r>
            <a:r>
              <a:rPr lang="en-US" sz="3500" u="none" strike="noStrike"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kjkjkjkjkj</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kjkjjkj</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kjjkk</a:t>
            </a:r>
            <a:endParaRPr lang="en-US" sz="3500" u="none" strike="noStrike" dirty="0">
              <a:solidFill>
                <a:srgbClr val="FFFFFF"/>
              </a:solidFill>
              <a:latin typeface="Roboto"/>
              <a:ea typeface="Roboto"/>
              <a:cs typeface="Roboto"/>
              <a:sym typeface="Roboto"/>
            </a:endParaRPr>
          </a:p>
        </p:txBody>
      </p:sp>
      <p:sp>
        <p:nvSpPr>
          <p:cNvPr id="9" name="TextBox 9"/>
          <p:cNvSpPr txBox="1"/>
          <p:nvPr/>
        </p:nvSpPr>
        <p:spPr>
          <a:xfrm>
            <a:off x="9539734" y="4565254"/>
            <a:ext cx="6995666" cy="3141886"/>
          </a:xfrm>
          <a:prstGeom prst="rect">
            <a:avLst/>
          </a:prstGeom>
        </p:spPr>
        <p:txBody>
          <a:bodyPr wrap="square" lIns="0" tIns="0" rIns="0" bIns="0" rtlCol="0" anchor="t">
            <a:spAutoFit/>
          </a:bodyPr>
          <a:lstStyle/>
          <a:p>
            <a:pPr marL="0" lvl="0" indent="0" algn="l">
              <a:lnSpc>
                <a:spcPts val="4900"/>
              </a:lnSpc>
              <a:spcBef>
                <a:spcPct val="0"/>
              </a:spcBef>
            </a:pPr>
            <a:r>
              <a:rPr lang="en-US" sz="3500" u="none" strike="noStrike" dirty="0">
                <a:solidFill>
                  <a:srgbClr val="FFFFFF"/>
                </a:solidFill>
                <a:latin typeface="Roboto"/>
                <a:ea typeface="Roboto"/>
                <a:cs typeface="Roboto"/>
                <a:sym typeface="Roboto"/>
              </a:rPr>
              <a:t>Your paragraph text</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ghghghgh</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jjjjjjjjjjjjjjjjjj</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jnnnnjjjjnnnnnnnn</a:t>
            </a:r>
            <a:r>
              <a:rPr lang="en-US" sz="3500" u="none" strike="noStrike"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jjj</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jjjlllllllllkkkkkkkkk</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kkkkkkkkkj</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jj</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jjllllll</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nnnnnnnnn</a:t>
            </a:r>
            <a:r>
              <a:rPr lang="en-US" sz="3500" u="none" strike="noStrike"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jhjhj</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nnnnn</a:t>
            </a:r>
            <a:r>
              <a:rPr lang="en-US" sz="3500" u="none" strike="noStrike"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nnnnnnnn</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nnnnnnn</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nnnn</a:t>
            </a:r>
            <a:endParaRPr lang="en-US" sz="3500" u="none" strike="noStrike" dirty="0">
              <a:solidFill>
                <a:srgbClr val="FFFFFF"/>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p:cNvGrpSpPr/>
        <p:nvPr/>
      </p:nvGrpSpPr>
      <p:grpSpPr>
        <a:xfrm>
          <a:off x="0" y="0"/>
          <a:ext cx="0" cy="0"/>
          <a:chOff x="0" y="0"/>
          <a:chExt cx="0" cy="0"/>
        </a:xfrm>
      </p:grpSpPr>
      <p:sp>
        <p:nvSpPr>
          <p:cNvPr id="2" name="Freeform 2"/>
          <p:cNvSpPr/>
          <p:nvPr/>
        </p:nvSpPr>
        <p:spPr>
          <a:xfrm>
            <a:off x="-3111195" y="7038579"/>
            <a:ext cx="4543444" cy="4543444"/>
          </a:xfrm>
          <a:custGeom>
            <a:avLst/>
            <a:gdLst/>
            <a:ahLst/>
            <a:cxnLst/>
            <a:rect l="l" t="t" r="r" b="b"/>
            <a:pathLst>
              <a:path w="4543444" h="4543444">
                <a:moveTo>
                  <a:pt x="0" y="0"/>
                </a:moveTo>
                <a:lnTo>
                  <a:pt x="4543443" y="0"/>
                </a:lnTo>
                <a:lnTo>
                  <a:pt x="4543443" y="4543444"/>
                </a:lnTo>
                <a:lnTo>
                  <a:pt x="0" y="454344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173612" y="663749"/>
            <a:ext cx="13940777" cy="1127760"/>
          </a:xfrm>
          <a:prstGeom prst="rect">
            <a:avLst/>
          </a:prstGeom>
        </p:spPr>
        <p:txBody>
          <a:bodyPr lIns="0" tIns="0" rIns="0" bIns="0" rtlCol="0" anchor="t">
            <a:spAutoFit/>
          </a:bodyPr>
          <a:lstStyle/>
          <a:p>
            <a:pPr marL="0" lvl="0" indent="0" algn="ctr">
              <a:lnSpc>
                <a:spcPts val="9240"/>
              </a:lnSpc>
              <a:spcBef>
                <a:spcPct val="0"/>
              </a:spcBef>
            </a:pPr>
            <a:r>
              <a:rPr lang="en-US" sz="6600">
                <a:solidFill>
                  <a:srgbClr val="FDF4F4"/>
                </a:solidFill>
                <a:latin typeface="Oswald"/>
                <a:ea typeface="Oswald"/>
                <a:cs typeface="Oswald"/>
                <a:sym typeface="Oswald"/>
              </a:rPr>
              <a:t>Elimination Method jhjhj jhjh jhjh jhjh jh jh hjj</a:t>
            </a:r>
          </a:p>
        </p:txBody>
      </p:sp>
      <p:sp>
        <p:nvSpPr>
          <p:cNvPr id="4" name="TextBox 4"/>
          <p:cNvSpPr txBox="1"/>
          <p:nvPr/>
        </p:nvSpPr>
        <p:spPr>
          <a:xfrm>
            <a:off x="1755553" y="2861481"/>
            <a:ext cx="14947849" cy="1154162"/>
          </a:xfrm>
          <a:prstGeom prst="rect">
            <a:avLst/>
          </a:prstGeom>
        </p:spPr>
        <p:txBody>
          <a:bodyPr lIns="0" tIns="0" rIns="0" bIns="0" rtlCol="0" anchor="t">
            <a:spAutoFit/>
          </a:bodyPr>
          <a:lstStyle/>
          <a:p>
            <a:pPr algn="l">
              <a:lnSpc>
                <a:spcPts val="4480"/>
              </a:lnSpc>
              <a:spcBef>
                <a:spcPct val="0"/>
              </a:spcBef>
            </a:pPr>
            <a:r>
              <a:rPr lang="en-US" sz="3200" dirty="0">
                <a:solidFill>
                  <a:srgbClr val="FFFFFF"/>
                </a:solidFill>
                <a:latin typeface="Roboto"/>
                <a:ea typeface="Roboto"/>
                <a:cs typeface="Roboto"/>
                <a:sym typeface="Roboto"/>
              </a:rPr>
              <a:t>In the elimination method, one variable is eliminated by adding or subtracting </a:t>
            </a:r>
            <a:r>
              <a:rPr lang="en-US" sz="3200" dirty="0" err="1">
                <a:solidFill>
                  <a:srgbClr val="FFFFFF"/>
                </a:solidFill>
                <a:latin typeface="Roboto"/>
                <a:ea typeface="Roboto"/>
                <a:cs typeface="Roboto"/>
                <a:sym typeface="Roboto"/>
              </a:rPr>
              <a:t>theb</a:t>
            </a:r>
            <a:r>
              <a:rPr lang="en-US" sz="3200" dirty="0">
                <a:solidFill>
                  <a:srgbClr val="FFFFFF"/>
                </a:solidFill>
                <a:latin typeface="Roboto"/>
                <a:ea typeface="Roboto"/>
                <a:cs typeface="Roboto"/>
                <a:sym typeface="Roboto"/>
              </a:rPr>
              <a:t> equations. This leaves one equation with one </a:t>
            </a:r>
            <a:r>
              <a:rPr lang="en-US" sz="3200" dirty="0" err="1">
                <a:solidFill>
                  <a:srgbClr val="FFFFFF"/>
                </a:solidFill>
                <a:latin typeface="Roboto"/>
                <a:ea typeface="Roboto"/>
                <a:cs typeface="Roboto"/>
                <a:sym typeface="Roboto"/>
              </a:rPr>
              <a:t>variable.bhhghghghg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hghgh</a:t>
            </a:r>
            <a:endParaRPr lang="en-US" sz="3200" dirty="0">
              <a:solidFill>
                <a:srgbClr val="FFFFFF"/>
              </a:solidFill>
              <a:latin typeface="Roboto"/>
              <a:ea typeface="Roboto"/>
              <a:cs typeface="Roboto"/>
              <a:sym typeface="Roboto"/>
            </a:endParaRPr>
          </a:p>
        </p:txBody>
      </p:sp>
      <p:sp>
        <p:nvSpPr>
          <p:cNvPr id="5" name="TextBox 5"/>
          <p:cNvSpPr txBox="1"/>
          <p:nvPr/>
        </p:nvSpPr>
        <p:spPr>
          <a:xfrm>
            <a:off x="2328009" y="7949430"/>
            <a:ext cx="5303336" cy="1118870"/>
          </a:xfrm>
          <a:prstGeom prst="rect">
            <a:avLst/>
          </a:prstGeom>
        </p:spPr>
        <p:txBody>
          <a:bodyPr lIns="0" tIns="0" rIns="0" bIns="0" rtlCol="0" anchor="t">
            <a:spAutoFit/>
          </a:bodyPr>
          <a:lstStyle/>
          <a:p>
            <a:pPr algn="l">
              <a:lnSpc>
                <a:spcPts val="4480"/>
              </a:lnSpc>
              <a:spcBef>
                <a:spcPct val="0"/>
              </a:spcBef>
            </a:pPr>
            <a:r>
              <a:rPr lang="en-US" sz="3200" i="1">
                <a:solidFill>
                  <a:srgbClr val="FFFFFF"/>
                </a:solidFill>
                <a:latin typeface="Roboto Italics"/>
                <a:ea typeface="Roboto Italics"/>
                <a:cs typeface="Roboto Italics"/>
                <a:sym typeface="Roboto Italics"/>
              </a:rPr>
              <a:t>Subtracting these equationsb eliminates the x variablennn n</a:t>
            </a:r>
          </a:p>
        </p:txBody>
      </p:sp>
      <p:sp>
        <p:nvSpPr>
          <p:cNvPr id="6" name="TextBox 6"/>
          <p:cNvSpPr txBox="1"/>
          <p:nvPr/>
        </p:nvSpPr>
        <p:spPr>
          <a:xfrm>
            <a:off x="10617147" y="7949430"/>
            <a:ext cx="5303336" cy="1118870"/>
          </a:xfrm>
          <a:prstGeom prst="rect">
            <a:avLst/>
          </a:prstGeom>
        </p:spPr>
        <p:txBody>
          <a:bodyPr lIns="0" tIns="0" rIns="0" bIns="0" rtlCol="0" anchor="t">
            <a:spAutoFit/>
          </a:bodyPr>
          <a:lstStyle/>
          <a:p>
            <a:pPr algn="r">
              <a:lnSpc>
                <a:spcPts val="4480"/>
              </a:lnSpc>
              <a:spcBef>
                <a:spcPct val="0"/>
              </a:spcBef>
            </a:pPr>
            <a:r>
              <a:rPr lang="en-US" sz="3200" i="1">
                <a:solidFill>
                  <a:srgbClr val="FFFFFF"/>
                </a:solidFill>
                <a:latin typeface="Roboto Italics"/>
                <a:ea typeface="Roboto Italics"/>
                <a:cs typeface="Roboto Italics"/>
                <a:sym typeface="Roboto Italics"/>
              </a:rPr>
              <a:t>Subtracting these equationsb eliminates the x variablennn n</a:t>
            </a:r>
          </a:p>
        </p:txBody>
      </p:sp>
      <p:sp>
        <p:nvSpPr>
          <p:cNvPr id="7" name="Freeform 7"/>
          <p:cNvSpPr/>
          <p:nvPr/>
        </p:nvSpPr>
        <p:spPr>
          <a:xfrm>
            <a:off x="14738548" y="-1174002"/>
            <a:ext cx="3067475" cy="3067475"/>
          </a:xfrm>
          <a:custGeom>
            <a:avLst/>
            <a:gdLst/>
            <a:ahLst/>
            <a:cxnLst/>
            <a:rect l="l" t="t" r="r" b="b"/>
            <a:pathLst>
              <a:path w="3067475" h="3067475">
                <a:moveTo>
                  <a:pt x="0" y="0"/>
                </a:moveTo>
                <a:lnTo>
                  <a:pt x="3067476" y="0"/>
                </a:lnTo>
                <a:lnTo>
                  <a:pt x="3067476" y="3067476"/>
                </a:lnTo>
                <a:lnTo>
                  <a:pt x="0" y="306747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755553" y="4565254"/>
            <a:ext cx="6855047" cy="3141886"/>
          </a:xfrm>
          <a:prstGeom prst="rect">
            <a:avLst/>
          </a:prstGeom>
        </p:spPr>
        <p:txBody>
          <a:bodyPr wrap="square" lIns="0" tIns="0" rIns="0" bIns="0" rtlCol="0" anchor="t">
            <a:spAutoFit/>
          </a:bodyPr>
          <a:lstStyle/>
          <a:p>
            <a:pPr marL="0" lvl="0" indent="0" algn="l">
              <a:lnSpc>
                <a:spcPts val="4900"/>
              </a:lnSpc>
              <a:spcBef>
                <a:spcPct val="0"/>
              </a:spcBef>
            </a:pPr>
            <a:r>
              <a:rPr lang="en-US" sz="3500" u="none" strike="noStrike" dirty="0">
                <a:solidFill>
                  <a:srgbClr val="FFFFFF"/>
                </a:solidFill>
                <a:latin typeface="Roboto"/>
                <a:ea typeface="Roboto"/>
                <a:cs typeface="Roboto"/>
                <a:sym typeface="Roboto"/>
              </a:rPr>
              <a:t>Your paragraph </a:t>
            </a:r>
            <a:r>
              <a:rPr lang="en-US" sz="3500" u="none" strike="noStrike" dirty="0" smtClean="0">
                <a:solidFill>
                  <a:srgbClr val="FFFFFF"/>
                </a:solidFill>
                <a:latin typeface="Roboto"/>
                <a:ea typeface="Roboto"/>
                <a:cs typeface="Roboto"/>
                <a:sym typeface="Roboto"/>
              </a:rPr>
              <a:t>text .</a:t>
            </a:r>
            <a:r>
              <a:rPr lang="en-US" sz="3500" u="none" strike="noStrike" dirty="0" err="1" smtClean="0">
                <a:solidFill>
                  <a:srgbClr val="FFFFFF"/>
                </a:solidFill>
                <a:latin typeface="Roboto"/>
                <a:ea typeface="Roboto"/>
                <a:cs typeface="Roboto"/>
                <a:sym typeface="Roboto"/>
              </a:rPr>
              <a:t>ghghghgh</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jjjjjjjjjjjjjjjjjjjjjjjjjj</a:t>
            </a:r>
            <a:r>
              <a:rPr lang="en-US" sz="3500"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jnnnjjjjnnnnnnnn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jjjjjjjjlllllllll</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kkkkkk</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kkkkkkkkkj</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jj</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jjllllll</a:t>
            </a:r>
            <a:r>
              <a:rPr lang="en-US" sz="3500" u="none" strike="noStrike"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nnnnn</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nnnnn</a:t>
            </a:r>
            <a:r>
              <a:rPr lang="en-US" sz="3500" u="none" strike="noStrike"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kjkjkjkjkj</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kjkjjkj</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kjjkk</a:t>
            </a:r>
            <a:endParaRPr lang="en-US" sz="3500" u="none" strike="noStrike" dirty="0">
              <a:solidFill>
                <a:srgbClr val="FFFFFF"/>
              </a:solidFill>
              <a:latin typeface="Roboto"/>
              <a:ea typeface="Roboto"/>
              <a:cs typeface="Roboto"/>
              <a:sym typeface="Roboto"/>
            </a:endParaRPr>
          </a:p>
        </p:txBody>
      </p:sp>
      <p:sp>
        <p:nvSpPr>
          <p:cNvPr id="9" name="TextBox 9"/>
          <p:cNvSpPr txBox="1"/>
          <p:nvPr/>
        </p:nvSpPr>
        <p:spPr>
          <a:xfrm>
            <a:off x="9539734" y="4565254"/>
            <a:ext cx="6995666" cy="3141886"/>
          </a:xfrm>
          <a:prstGeom prst="rect">
            <a:avLst/>
          </a:prstGeom>
        </p:spPr>
        <p:txBody>
          <a:bodyPr wrap="square" lIns="0" tIns="0" rIns="0" bIns="0" rtlCol="0" anchor="t">
            <a:spAutoFit/>
          </a:bodyPr>
          <a:lstStyle/>
          <a:p>
            <a:pPr marL="0" lvl="0" indent="0" algn="l">
              <a:lnSpc>
                <a:spcPts val="4900"/>
              </a:lnSpc>
              <a:spcBef>
                <a:spcPct val="0"/>
              </a:spcBef>
            </a:pPr>
            <a:r>
              <a:rPr lang="en-US" sz="3500" u="none" strike="noStrike" dirty="0">
                <a:solidFill>
                  <a:srgbClr val="FFFFFF"/>
                </a:solidFill>
                <a:latin typeface="Roboto"/>
                <a:ea typeface="Roboto"/>
                <a:cs typeface="Roboto"/>
                <a:sym typeface="Roboto"/>
              </a:rPr>
              <a:t>Your paragraph text</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ghghghgh</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jjjjjjjjjjjjjjjjjj</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jnnnnjjjjnnnnnnnn</a:t>
            </a:r>
            <a:r>
              <a:rPr lang="en-US" sz="3500" u="none" strike="noStrike"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jjj</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jjjlllllllllkkkkkkkkk</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kkkkkkkkkj</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jj</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jjllllll</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nnnnnnnnn</a:t>
            </a:r>
            <a:r>
              <a:rPr lang="en-US" sz="3500" u="none" strike="noStrike"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nnnnnnn</a:t>
            </a:r>
            <a:r>
              <a:rPr lang="en-US" sz="3500" u="none" strike="noStrike" dirty="0" smtClean="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jhjhj</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nnnnn</a:t>
            </a:r>
            <a:r>
              <a:rPr lang="en-US" sz="3500" u="none" strike="noStrike" dirty="0">
                <a:solidFill>
                  <a:srgbClr val="FFFFFF"/>
                </a:solidFill>
                <a:latin typeface="Roboto"/>
                <a:ea typeface="Roboto"/>
                <a:cs typeface="Roboto"/>
                <a:sym typeface="Roboto"/>
              </a:rPr>
              <a:t> </a:t>
            </a:r>
            <a:r>
              <a:rPr lang="en-US" sz="3500" u="none" strike="noStrike" dirty="0" err="1" smtClean="0">
                <a:solidFill>
                  <a:srgbClr val="FFFFFF"/>
                </a:solidFill>
                <a:latin typeface="Roboto"/>
                <a:ea typeface="Roboto"/>
                <a:cs typeface="Roboto"/>
                <a:sym typeface="Roboto"/>
              </a:rPr>
              <a:t>nnnnnnnn</a:t>
            </a:r>
            <a:r>
              <a:rPr lang="en-US" sz="3500" u="none" strike="noStrike" dirty="0" smtClean="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nnnnnnn</a:t>
            </a:r>
            <a:r>
              <a:rPr lang="en-US" sz="3500" u="none" strike="noStrike" dirty="0">
                <a:solidFill>
                  <a:srgbClr val="FFFFFF"/>
                </a:solidFill>
                <a:latin typeface="Roboto"/>
                <a:ea typeface="Roboto"/>
                <a:cs typeface="Roboto"/>
                <a:sym typeface="Roboto"/>
              </a:rPr>
              <a:t> </a:t>
            </a:r>
            <a:r>
              <a:rPr lang="en-US" sz="3500" u="none" strike="noStrike" dirty="0" err="1">
                <a:solidFill>
                  <a:srgbClr val="FFFFFF"/>
                </a:solidFill>
                <a:latin typeface="Roboto"/>
                <a:ea typeface="Roboto"/>
                <a:cs typeface="Roboto"/>
                <a:sym typeface="Roboto"/>
              </a:rPr>
              <a:t>nnnn</a:t>
            </a:r>
            <a:endParaRPr lang="en-US" sz="3500" u="none" strike="noStrike" dirty="0">
              <a:solidFill>
                <a:srgbClr val="FFFFFF"/>
              </a:solidFill>
              <a:latin typeface="Roboto"/>
              <a:ea typeface="Roboto"/>
              <a:cs typeface="Roboto"/>
              <a:sym typeface="Roboto"/>
            </a:endParaRPr>
          </a:p>
        </p:txBody>
      </p:sp>
    </p:spTree>
    <p:extLst>
      <p:ext uri="{BB962C8B-B14F-4D97-AF65-F5344CB8AC3E}">
        <p14:creationId xmlns:p14="http://schemas.microsoft.com/office/powerpoint/2010/main" val="1695226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grpSp>
        <p:nvGrpSpPr>
          <p:cNvPr id="2" name="Group 2"/>
          <p:cNvGrpSpPr/>
          <p:nvPr/>
        </p:nvGrpSpPr>
        <p:grpSpPr>
          <a:xfrm>
            <a:off x="-273050" y="-361215"/>
            <a:ext cx="5394939" cy="11240574"/>
            <a:chOff x="0" y="0"/>
            <a:chExt cx="1420889" cy="2960480"/>
          </a:xfrm>
        </p:grpSpPr>
        <p:sp>
          <p:nvSpPr>
            <p:cNvPr id="3" name="Freeform 3"/>
            <p:cNvSpPr/>
            <p:nvPr/>
          </p:nvSpPr>
          <p:spPr>
            <a:xfrm>
              <a:off x="0" y="0"/>
              <a:ext cx="1420889" cy="2960480"/>
            </a:xfrm>
            <a:custGeom>
              <a:avLst/>
              <a:gdLst/>
              <a:ahLst/>
              <a:cxnLst/>
              <a:rect l="l" t="t" r="r" b="b"/>
              <a:pathLst>
                <a:path w="1420889" h="2960480">
                  <a:moveTo>
                    <a:pt x="0" y="0"/>
                  </a:moveTo>
                  <a:lnTo>
                    <a:pt x="1420889" y="0"/>
                  </a:lnTo>
                  <a:lnTo>
                    <a:pt x="1420889" y="2960480"/>
                  </a:lnTo>
                  <a:lnTo>
                    <a:pt x="0" y="2960480"/>
                  </a:lnTo>
                  <a:close/>
                </a:path>
              </a:pathLst>
            </a:custGeom>
            <a:solidFill>
              <a:srgbClr val="6E7658"/>
            </a:solidFill>
          </p:spPr>
        </p:sp>
        <p:sp>
          <p:nvSpPr>
            <p:cNvPr id="4" name="TextBox 4"/>
            <p:cNvSpPr txBox="1"/>
            <p:nvPr/>
          </p:nvSpPr>
          <p:spPr>
            <a:xfrm>
              <a:off x="0" y="-38100"/>
              <a:ext cx="1420889" cy="299858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387363" y="-361215"/>
            <a:ext cx="1529426" cy="2779830"/>
            <a:chOff x="0" y="0"/>
            <a:chExt cx="660400" cy="1200319"/>
          </a:xfrm>
        </p:grpSpPr>
        <p:sp>
          <p:nvSpPr>
            <p:cNvPr id="6" name="Freeform 6"/>
            <p:cNvSpPr/>
            <p:nvPr/>
          </p:nvSpPr>
          <p:spPr>
            <a:xfrm>
              <a:off x="0" y="0"/>
              <a:ext cx="660400" cy="1200319"/>
            </a:xfrm>
            <a:custGeom>
              <a:avLst/>
              <a:gdLst/>
              <a:ahLst/>
              <a:cxnLst/>
              <a:rect l="l" t="t" r="r" b="b"/>
              <a:pathLst>
                <a:path w="660400" h="1200319">
                  <a:moveTo>
                    <a:pt x="220252" y="1181250"/>
                  </a:moveTo>
                  <a:cubicBezTo>
                    <a:pt x="254109" y="1192764"/>
                    <a:pt x="292600" y="1200319"/>
                    <a:pt x="330378" y="1200319"/>
                  </a:cubicBezTo>
                  <a:cubicBezTo>
                    <a:pt x="368157" y="1200319"/>
                    <a:pt x="404509" y="1193842"/>
                    <a:pt x="438009" y="1182329"/>
                  </a:cubicBezTo>
                  <a:cubicBezTo>
                    <a:pt x="438723" y="1181969"/>
                    <a:pt x="439435" y="1181969"/>
                    <a:pt x="440148" y="1181610"/>
                  </a:cubicBezTo>
                  <a:cubicBezTo>
                    <a:pt x="565955" y="1135554"/>
                    <a:pt x="658618" y="1013941"/>
                    <a:pt x="660400" y="863209"/>
                  </a:cubicBezTo>
                  <a:lnTo>
                    <a:pt x="660400" y="0"/>
                  </a:lnTo>
                  <a:lnTo>
                    <a:pt x="0" y="0"/>
                  </a:lnTo>
                  <a:lnTo>
                    <a:pt x="0" y="862569"/>
                  </a:lnTo>
                  <a:cubicBezTo>
                    <a:pt x="1782" y="1014659"/>
                    <a:pt x="93019" y="1136275"/>
                    <a:pt x="220252" y="1181250"/>
                  </a:cubicBezTo>
                  <a:close/>
                </a:path>
              </a:pathLst>
            </a:custGeom>
            <a:solidFill>
              <a:srgbClr val="8D9677"/>
            </a:solidFill>
          </p:spPr>
        </p:sp>
        <p:sp>
          <p:nvSpPr>
            <p:cNvPr id="7" name="TextBox 7"/>
            <p:cNvSpPr txBox="1"/>
            <p:nvPr/>
          </p:nvSpPr>
          <p:spPr>
            <a:xfrm>
              <a:off x="0" y="-38100"/>
              <a:ext cx="660400" cy="1111419"/>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266700" y="664179"/>
            <a:ext cx="4120663" cy="2635250"/>
          </a:xfrm>
          <a:prstGeom prst="rect">
            <a:avLst/>
          </a:prstGeom>
        </p:spPr>
        <p:txBody>
          <a:bodyPr lIns="0" tIns="0" rIns="0" bIns="0" rtlCol="0" anchor="t">
            <a:spAutoFit/>
          </a:bodyPr>
          <a:lstStyle/>
          <a:p>
            <a:pPr marL="0" lvl="0" indent="0" algn="l">
              <a:lnSpc>
                <a:spcPts val="7000"/>
              </a:lnSpc>
              <a:spcBef>
                <a:spcPct val="0"/>
              </a:spcBef>
            </a:pPr>
            <a:r>
              <a:rPr lang="en-US" sz="5000">
                <a:solidFill>
                  <a:srgbClr val="FDF4F4"/>
                </a:solidFill>
                <a:latin typeface="Oswald"/>
                <a:ea typeface="Oswald"/>
                <a:cs typeface="Oswald"/>
                <a:sym typeface="Oswald"/>
              </a:rPr>
              <a:t>Example hghg gh hghg hj j  ghhhjjjj jhjh jhjhj jhj jhjhh</a:t>
            </a:r>
          </a:p>
        </p:txBody>
      </p:sp>
      <p:sp>
        <p:nvSpPr>
          <p:cNvPr id="9" name="Freeform 9"/>
          <p:cNvSpPr/>
          <p:nvPr/>
        </p:nvSpPr>
        <p:spPr>
          <a:xfrm flipH="1">
            <a:off x="15300942" y="7560782"/>
            <a:ext cx="3318577" cy="3318577"/>
          </a:xfrm>
          <a:custGeom>
            <a:avLst/>
            <a:gdLst/>
            <a:ahLst/>
            <a:cxnLst/>
            <a:rect l="l" t="t" r="r" b="b"/>
            <a:pathLst>
              <a:path w="3318577" h="3318577">
                <a:moveTo>
                  <a:pt x="3318577" y="0"/>
                </a:moveTo>
                <a:lnTo>
                  <a:pt x="0" y="0"/>
                </a:lnTo>
                <a:lnTo>
                  <a:pt x="0" y="3318577"/>
                </a:lnTo>
                <a:lnTo>
                  <a:pt x="3318577" y="3318577"/>
                </a:lnTo>
                <a:lnTo>
                  <a:pt x="3318577"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TextBox 10"/>
          <p:cNvSpPr txBox="1"/>
          <p:nvPr/>
        </p:nvSpPr>
        <p:spPr>
          <a:xfrm>
            <a:off x="5776133" y="5487611"/>
            <a:ext cx="11483167" cy="1066800"/>
          </a:xfrm>
          <a:prstGeom prst="rect">
            <a:avLst/>
          </a:prstGeom>
        </p:spPr>
        <p:txBody>
          <a:bodyPr lIns="0" tIns="0" rIns="0" bIns="0" rtlCol="0" anchor="t">
            <a:spAutoFit/>
          </a:bodyPr>
          <a:lstStyle/>
          <a:p>
            <a:pPr algn="ctr">
              <a:lnSpc>
                <a:spcPts val="4200"/>
              </a:lnSpc>
            </a:pPr>
            <a:r>
              <a:rPr lang="en-US" sz="3000" dirty="0">
                <a:solidFill>
                  <a:srgbClr val="000000"/>
                </a:solidFill>
                <a:latin typeface="Roboto"/>
                <a:ea typeface="Roboto"/>
                <a:cs typeface="Roboto"/>
                <a:sym typeface="Roboto"/>
              </a:rPr>
              <a:t>Substitute into equation </a:t>
            </a:r>
            <a:r>
              <a:rPr lang="en-US" sz="3000" dirty="0" err="1">
                <a:solidFill>
                  <a:srgbClr val="000000"/>
                </a:solidFill>
                <a:latin typeface="Roboto"/>
                <a:ea typeface="Roboto"/>
                <a:cs typeface="Roboto"/>
                <a:sym typeface="Roboto"/>
              </a:rPr>
              <a:t>fdfdfdf</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fdssssssssss</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cccccccsssssssssss</a:t>
            </a:r>
            <a:r>
              <a:rPr lang="en-US" sz="3000" dirty="0">
                <a:solidFill>
                  <a:srgbClr val="000000"/>
                </a:solidFill>
                <a:latin typeface="Roboto"/>
                <a:ea typeface="Roboto"/>
                <a:cs typeface="Roboto"/>
                <a:sym typeface="Roboto"/>
              </a:rPr>
              <a:t> </a:t>
            </a:r>
          </a:p>
          <a:p>
            <a:pPr algn="ctr">
              <a:lnSpc>
                <a:spcPts val="4200"/>
              </a:lnSpc>
              <a:spcBef>
                <a:spcPct val="0"/>
              </a:spcBef>
            </a:pPr>
            <a:endParaRPr lang="en-US" sz="3000" dirty="0">
              <a:solidFill>
                <a:srgbClr val="000000"/>
              </a:solidFill>
              <a:latin typeface="Roboto"/>
              <a:ea typeface="Roboto"/>
              <a:cs typeface="Roboto"/>
              <a:sym typeface="Roboto"/>
            </a:endParaRPr>
          </a:p>
        </p:txBody>
      </p:sp>
      <p:sp>
        <p:nvSpPr>
          <p:cNvPr id="11" name="TextBox 11"/>
          <p:cNvSpPr txBox="1"/>
          <p:nvPr/>
        </p:nvSpPr>
        <p:spPr>
          <a:xfrm>
            <a:off x="5776133" y="6703532"/>
            <a:ext cx="11483167" cy="1077218"/>
          </a:xfrm>
          <a:prstGeom prst="rect">
            <a:avLst/>
          </a:prstGeom>
        </p:spPr>
        <p:txBody>
          <a:bodyPr lIns="0" tIns="0" rIns="0" bIns="0" rtlCol="0" anchor="t">
            <a:spAutoFit/>
          </a:bodyPr>
          <a:lstStyle/>
          <a:p>
            <a:pPr algn="ctr">
              <a:lnSpc>
                <a:spcPts val="4200"/>
              </a:lnSpc>
            </a:pPr>
            <a:r>
              <a:rPr lang="en-US" sz="3000" dirty="0">
                <a:solidFill>
                  <a:srgbClr val="000000"/>
                </a:solidFill>
                <a:latin typeface="Roboto"/>
                <a:ea typeface="Roboto"/>
                <a:cs typeface="Roboto"/>
                <a:sym typeface="Roboto"/>
              </a:rPr>
              <a:t>Solve the equation for y </a:t>
            </a:r>
            <a:r>
              <a:rPr lang="en-US" sz="3000" dirty="0" err="1">
                <a:solidFill>
                  <a:srgbClr val="000000"/>
                </a:solidFill>
                <a:latin typeface="Roboto"/>
                <a:ea typeface="Roboto"/>
                <a:cs typeface="Roboto"/>
                <a:sym typeface="Roboto"/>
              </a:rPr>
              <a:t>fdfdfdfdfffffffffffffffffffffffffffff</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sssss</a:t>
            </a:r>
            <a:r>
              <a:rPr lang="en-US" sz="3000" dirty="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llklk</a:t>
            </a:r>
            <a:endParaRPr lang="en-US" sz="3000" dirty="0">
              <a:solidFill>
                <a:srgbClr val="000000"/>
              </a:solidFill>
              <a:latin typeface="Roboto"/>
              <a:ea typeface="Roboto"/>
              <a:cs typeface="Roboto"/>
              <a:sym typeface="Roboto"/>
            </a:endParaRPr>
          </a:p>
          <a:p>
            <a:pPr algn="ctr">
              <a:lnSpc>
                <a:spcPts val="4200"/>
              </a:lnSpc>
              <a:spcBef>
                <a:spcPct val="0"/>
              </a:spcBef>
            </a:pPr>
            <a:endParaRPr lang="en-US" sz="3000" dirty="0">
              <a:solidFill>
                <a:srgbClr val="000000"/>
              </a:solidFill>
              <a:latin typeface="Roboto"/>
              <a:ea typeface="Roboto"/>
              <a:cs typeface="Roboto"/>
              <a:sym typeface="Roboto"/>
            </a:endParaRPr>
          </a:p>
        </p:txBody>
      </p:sp>
      <p:sp>
        <p:nvSpPr>
          <p:cNvPr id="12" name="TextBox 12"/>
          <p:cNvSpPr txBox="1"/>
          <p:nvPr/>
        </p:nvSpPr>
        <p:spPr>
          <a:xfrm>
            <a:off x="5916789" y="1853399"/>
            <a:ext cx="11342511" cy="1615827"/>
          </a:xfrm>
          <a:prstGeom prst="rect">
            <a:avLst/>
          </a:prstGeom>
        </p:spPr>
        <p:txBody>
          <a:bodyPr lIns="0" tIns="0" rIns="0" bIns="0" rtlCol="0" anchor="t">
            <a:spAutoFit/>
          </a:bodyPr>
          <a:lstStyle/>
          <a:p>
            <a:pPr algn="ctr">
              <a:lnSpc>
                <a:spcPts val="4200"/>
              </a:lnSpc>
            </a:pPr>
            <a:r>
              <a:rPr lang="en-US" sz="3000" dirty="0">
                <a:solidFill>
                  <a:srgbClr val="000000"/>
                </a:solidFill>
                <a:latin typeface="Roboto"/>
                <a:ea typeface="Roboto"/>
                <a:cs typeface="Roboto"/>
                <a:sym typeface="Roboto"/>
              </a:rPr>
              <a:t>Look for the same coefficient. Subtract if they both have the same </a:t>
            </a:r>
            <a:r>
              <a:rPr lang="en-US" sz="3000" dirty="0" err="1" smtClean="0">
                <a:solidFill>
                  <a:srgbClr val="000000"/>
                </a:solidFill>
                <a:latin typeface="Roboto"/>
                <a:ea typeface="Roboto"/>
                <a:cs typeface="Roboto"/>
                <a:sym typeface="Roboto"/>
              </a:rPr>
              <a:t>signkjkjjkjkjjjjjjjj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jjjjjjjjjjjjjjjjjjjjjjjjjjjj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nnnnnnnn</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nnnnnnn</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nnnnnnn</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nnn</a:t>
            </a:r>
            <a:r>
              <a:rPr lang="en-US" sz="3000" dirty="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nnk</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kjkjkjkj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kjkjkjk</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jjhjhjhj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jhjhjhj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jhjhjhj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jhjhjh</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jhjhjhjh</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jhjhjh</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jhhjjn</a:t>
            </a:r>
            <a:endParaRPr lang="en-US" sz="3000" dirty="0">
              <a:solidFill>
                <a:srgbClr val="000000"/>
              </a:solidFill>
              <a:latin typeface="Roboto"/>
              <a:ea typeface="Roboto"/>
              <a:cs typeface="Roboto"/>
              <a:sym typeface="Roboto"/>
            </a:endParaRPr>
          </a:p>
        </p:txBody>
      </p:sp>
      <p:sp>
        <p:nvSpPr>
          <p:cNvPr id="13" name="TextBox 13"/>
          <p:cNvSpPr txBox="1"/>
          <p:nvPr/>
        </p:nvSpPr>
        <p:spPr>
          <a:xfrm>
            <a:off x="11166065" y="5518283"/>
            <a:ext cx="140161" cy="491106"/>
          </a:xfrm>
          <a:prstGeom prst="rect">
            <a:avLst/>
          </a:prstGeom>
        </p:spPr>
        <p:txBody>
          <a:bodyPr lIns="0" tIns="0" rIns="0" bIns="0" rtlCol="0" anchor="t">
            <a:spAutoFit/>
          </a:bodyPr>
          <a:lstStyle/>
          <a:p>
            <a:pPr algn="r">
              <a:lnSpc>
                <a:spcPts val="4028"/>
              </a:lnSpc>
              <a:spcBef>
                <a:spcPct val="0"/>
              </a:spcBef>
            </a:pPr>
            <a:r>
              <a:rPr lang="en-US" sz="2877">
                <a:solidFill>
                  <a:srgbClr val="FDF4F4"/>
                </a:solidFill>
                <a:latin typeface="Oswald"/>
                <a:ea typeface="Oswald"/>
                <a:cs typeface="Oswald"/>
                <a:sym typeface="Oswald"/>
              </a:rPr>
              <a:t>1</a:t>
            </a:r>
          </a:p>
        </p:txBody>
      </p:sp>
      <p:grpSp>
        <p:nvGrpSpPr>
          <p:cNvPr id="14" name="Group 14"/>
          <p:cNvGrpSpPr/>
          <p:nvPr/>
        </p:nvGrpSpPr>
        <p:grpSpPr>
          <a:xfrm>
            <a:off x="-1432397" y="3294849"/>
            <a:ext cx="4922194" cy="492219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9677"/>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923122" y="6568542"/>
            <a:ext cx="3408343" cy="3086100"/>
          </a:xfrm>
          <a:custGeom>
            <a:avLst/>
            <a:gdLst/>
            <a:ahLst/>
            <a:cxnLst/>
            <a:rect l="l" t="t" r="r" b="b"/>
            <a:pathLst>
              <a:path w="3408343" h="3086100">
                <a:moveTo>
                  <a:pt x="0" y="0"/>
                </a:moveTo>
                <a:lnTo>
                  <a:pt x="3408344" y="0"/>
                </a:lnTo>
                <a:lnTo>
                  <a:pt x="3408344" y="3086100"/>
                </a:lnTo>
                <a:lnTo>
                  <a:pt x="0" y="30861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8" name="TextBox 18"/>
          <p:cNvSpPr txBox="1"/>
          <p:nvPr/>
        </p:nvSpPr>
        <p:spPr>
          <a:xfrm>
            <a:off x="5916789" y="7749600"/>
            <a:ext cx="11342511" cy="830111"/>
          </a:xfrm>
          <a:prstGeom prst="rect">
            <a:avLst/>
          </a:prstGeom>
        </p:spPr>
        <p:txBody>
          <a:bodyPr lIns="0" tIns="0" rIns="0" bIns="0" rtlCol="0" anchor="t">
            <a:spAutoFit/>
          </a:bodyPr>
          <a:lstStyle/>
          <a:p>
            <a:pPr algn="ctr">
              <a:lnSpc>
                <a:spcPts val="6745"/>
              </a:lnSpc>
              <a:spcBef>
                <a:spcPct val="0"/>
              </a:spcBef>
            </a:pPr>
            <a:r>
              <a:rPr lang="en-US" sz="4818" dirty="0">
                <a:solidFill>
                  <a:srgbClr val="6E7658"/>
                </a:solidFill>
                <a:latin typeface="Roboto"/>
                <a:ea typeface="Roboto"/>
                <a:cs typeface="Roboto"/>
                <a:sym typeface="Roboto"/>
              </a:rPr>
              <a:t>x = 4, y = 2 </a:t>
            </a:r>
            <a:r>
              <a:rPr lang="en-US" sz="4818" dirty="0" err="1">
                <a:solidFill>
                  <a:srgbClr val="6E7658"/>
                </a:solidFill>
                <a:latin typeface="Roboto"/>
                <a:ea typeface="Roboto"/>
                <a:cs typeface="Roboto"/>
                <a:sym typeface="Roboto"/>
              </a:rPr>
              <a:t>cvcvcvcvcvcvcvcvcvcv</a:t>
            </a:r>
            <a:r>
              <a:rPr lang="en-US" sz="4818" dirty="0">
                <a:solidFill>
                  <a:srgbClr val="6E7658"/>
                </a:solidFill>
                <a:latin typeface="Roboto"/>
                <a:ea typeface="Roboto"/>
                <a:cs typeface="Roboto"/>
                <a:sym typeface="Roboto"/>
              </a:rPr>
              <a:t> </a:t>
            </a:r>
            <a:r>
              <a:rPr lang="en-US" sz="4818" dirty="0" err="1" smtClean="0">
                <a:solidFill>
                  <a:srgbClr val="6E7658"/>
                </a:solidFill>
                <a:latin typeface="Roboto"/>
                <a:ea typeface="Roboto"/>
                <a:cs typeface="Roboto"/>
                <a:sym typeface="Roboto"/>
              </a:rPr>
              <a:t>vvkkk</a:t>
            </a:r>
            <a:endParaRPr lang="en-US" sz="4818" dirty="0">
              <a:solidFill>
                <a:srgbClr val="6E7658"/>
              </a:solidFill>
              <a:latin typeface="Roboto"/>
              <a:ea typeface="Roboto"/>
              <a:cs typeface="Roboto"/>
              <a:sym typeface="Roboto"/>
            </a:endParaRPr>
          </a:p>
        </p:txBody>
      </p:sp>
      <p:sp>
        <p:nvSpPr>
          <p:cNvPr id="19" name="TextBox 19"/>
          <p:cNvSpPr txBox="1"/>
          <p:nvPr/>
        </p:nvSpPr>
        <p:spPr>
          <a:xfrm>
            <a:off x="5916789" y="3908895"/>
            <a:ext cx="11342511" cy="1077218"/>
          </a:xfrm>
          <a:prstGeom prst="rect">
            <a:avLst/>
          </a:prstGeom>
        </p:spPr>
        <p:txBody>
          <a:bodyPr lIns="0" tIns="0" rIns="0" bIns="0" rtlCol="0" anchor="t">
            <a:spAutoFit/>
          </a:bodyPr>
          <a:lstStyle/>
          <a:p>
            <a:pPr algn="ctr">
              <a:lnSpc>
                <a:spcPts val="4200"/>
              </a:lnSpc>
            </a:pPr>
            <a:r>
              <a:rPr lang="en-US" sz="3000" dirty="0">
                <a:solidFill>
                  <a:srgbClr val="000000"/>
                </a:solidFill>
                <a:latin typeface="Roboto"/>
                <a:ea typeface="Roboto"/>
                <a:cs typeface="Roboto"/>
                <a:sym typeface="Roboto"/>
              </a:rPr>
              <a:t>The y variable has been eliminated, solve for </a:t>
            </a:r>
            <a:r>
              <a:rPr lang="en-US" sz="3000" dirty="0" err="1">
                <a:solidFill>
                  <a:srgbClr val="000000"/>
                </a:solidFill>
                <a:latin typeface="Roboto"/>
                <a:ea typeface="Roboto"/>
                <a:cs typeface="Roboto"/>
                <a:sym typeface="Roboto"/>
              </a:rPr>
              <a:t>xddddddd</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dddddd</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dd</a:t>
            </a:r>
            <a:endParaRPr lang="en-US" sz="3000" dirty="0">
              <a:solidFill>
                <a:srgbClr val="000000"/>
              </a:solidFill>
              <a:latin typeface="Roboto"/>
              <a:ea typeface="Roboto"/>
              <a:cs typeface="Roboto"/>
              <a:sym typeface="Roboto"/>
            </a:endParaRPr>
          </a:p>
          <a:p>
            <a:pPr algn="ctr">
              <a:lnSpc>
                <a:spcPts val="4200"/>
              </a:lnSpc>
            </a:pPr>
            <a:r>
              <a:rPr lang="en-US" sz="3000" dirty="0" err="1">
                <a:solidFill>
                  <a:srgbClr val="000000"/>
                </a:solidFill>
                <a:latin typeface="Roboto"/>
                <a:ea typeface="Roboto"/>
                <a:cs typeface="Roboto"/>
                <a:sym typeface="Roboto"/>
              </a:rPr>
              <a:t>dfdfd</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ffffffffffffffffffffffffffffffffffffffffffffffffffff</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sssssssss</a:t>
            </a:r>
            <a:r>
              <a:rPr lang="en-US" sz="3000" dirty="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ssss</a:t>
            </a:r>
            <a:endParaRPr lang="en-US" sz="3000" dirty="0">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grpSp>
        <p:nvGrpSpPr>
          <p:cNvPr id="2" name="Group 2"/>
          <p:cNvGrpSpPr/>
          <p:nvPr/>
        </p:nvGrpSpPr>
        <p:grpSpPr>
          <a:xfrm>
            <a:off x="-273050" y="-361215"/>
            <a:ext cx="5394939" cy="11240574"/>
            <a:chOff x="0" y="0"/>
            <a:chExt cx="1420889" cy="2960480"/>
          </a:xfrm>
        </p:grpSpPr>
        <p:sp>
          <p:nvSpPr>
            <p:cNvPr id="3" name="Freeform 3"/>
            <p:cNvSpPr/>
            <p:nvPr/>
          </p:nvSpPr>
          <p:spPr>
            <a:xfrm>
              <a:off x="0" y="0"/>
              <a:ext cx="1420889" cy="2960480"/>
            </a:xfrm>
            <a:custGeom>
              <a:avLst/>
              <a:gdLst/>
              <a:ahLst/>
              <a:cxnLst/>
              <a:rect l="l" t="t" r="r" b="b"/>
              <a:pathLst>
                <a:path w="1420889" h="2960480">
                  <a:moveTo>
                    <a:pt x="0" y="0"/>
                  </a:moveTo>
                  <a:lnTo>
                    <a:pt x="1420889" y="0"/>
                  </a:lnTo>
                  <a:lnTo>
                    <a:pt x="1420889" y="2960480"/>
                  </a:lnTo>
                  <a:lnTo>
                    <a:pt x="0" y="2960480"/>
                  </a:lnTo>
                  <a:close/>
                </a:path>
              </a:pathLst>
            </a:custGeom>
            <a:solidFill>
              <a:srgbClr val="6E7658"/>
            </a:solidFill>
          </p:spPr>
        </p:sp>
        <p:sp>
          <p:nvSpPr>
            <p:cNvPr id="4" name="TextBox 4"/>
            <p:cNvSpPr txBox="1"/>
            <p:nvPr/>
          </p:nvSpPr>
          <p:spPr>
            <a:xfrm>
              <a:off x="0" y="-38100"/>
              <a:ext cx="1420889" cy="299858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387363" y="-361215"/>
            <a:ext cx="1529426" cy="2779830"/>
            <a:chOff x="0" y="0"/>
            <a:chExt cx="660400" cy="1200319"/>
          </a:xfrm>
        </p:grpSpPr>
        <p:sp>
          <p:nvSpPr>
            <p:cNvPr id="6" name="Freeform 6"/>
            <p:cNvSpPr/>
            <p:nvPr/>
          </p:nvSpPr>
          <p:spPr>
            <a:xfrm>
              <a:off x="0" y="0"/>
              <a:ext cx="660400" cy="1200319"/>
            </a:xfrm>
            <a:custGeom>
              <a:avLst/>
              <a:gdLst/>
              <a:ahLst/>
              <a:cxnLst/>
              <a:rect l="l" t="t" r="r" b="b"/>
              <a:pathLst>
                <a:path w="660400" h="1200319">
                  <a:moveTo>
                    <a:pt x="220252" y="1181250"/>
                  </a:moveTo>
                  <a:cubicBezTo>
                    <a:pt x="254109" y="1192764"/>
                    <a:pt x="292600" y="1200319"/>
                    <a:pt x="330378" y="1200319"/>
                  </a:cubicBezTo>
                  <a:cubicBezTo>
                    <a:pt x="368157" y="1200319"/>
                    <a:pt x="404509" y="1193842"/>
                    <a:pt x="438009" y="1182329"/>
                  </a:cubicBezTo>
                  <a:cubicBezTo>
                    <a:pt x="438723" y="1181969"/>
                    <a:pt x="439435" y="1181969"/>
                    <a:pt x="440148" y="1181610"/>
                  </a:cubicBezTo>
                  <a:cubicBezTo>
                    <a:pt x="565955" y="1135554"/>
                    <a:pt x="658618" y="1013941"/>
                    <a:pt x="660400" y="863209"/>
                  </a:cubicBezTo>
                  <a:lnTo>
                    <a:pt x="660400" y="0"/>
                  </a:lnTo>
                  <a:lnTo>
                    <a:pt x="0" y="0"/>
                  </a:lnTo>
                  <a:lnTo>
                    <a:pt x="0" y="862569"/>
                  </a:lnTo>
                  <a:cubicBezTo>
                    <a:pt x="1782" y="1014659"/>
                    <a:pt x="93019" y="1136275"/>
                    <a:pt x="220252" y="1181250"/>
                  </a:cubicBezTo>
                  <a:close/>
                </a:path>
              </a:pathLst>
            </a:custGeom>
            <a:solidFill>
              <a:srgbClr val="8D9677"/>
            </a:solidFill>
          </p:spPr>
        </p:sp>
        <p:sp>
          <p:nvSpPr>
            <p:cNvPr id="7" name="TextBox 7"/>
            <p:cNvSpPr txBox="1"/>
            <p:nvPr/>
          </p:nvSpPr>
          <p:spPr>
            <a:xfrm>
              <a:off x="0" y="-38100"/>
              <a:ext cx="660400" cy="1111419"/>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266700" y="664179"/>
            <a:ext cx="4120663" cy="2635250"/>
          </a:xfrm>
          <a:prstGeom prst="rect">
            <a:avLst/>
          </a:prstGeom>
        </p:spPr>
        <p:txBody>
          <a:bodyPr lIns="0" tIns="0" rIns="0" bIns="0" rtlCol="0" anchor="t">
            <a:spAutoFit/>
          </a:bodyPr>
          <a:lstStyle/>
          <a:p>
            <a:pPr marL="0" lvl="0" indent="0" algn="l">
              <a:lnSpc>
                <a:spcPts val="7000"/>
              </a:lnSpc>
              <a:spcBef>
                <a:spcPct val="0"/>
              </a:spcBef>
            </a:pPr>
            <a:r>
              <a:rPr lang="en-US" sz="5000">
                <a:solidFill>
                  <a:srgbClr val="FDF4F4"/>
                </a:solidFill>
                <a:latin typeface="Oswald"/>
                <a:ea typeface="Oswald"/>
                <a:cs typeface="Oswald"/>
                <a:sym typeface="Oswald"/>
              </a:rPr>
              <a:t>Example hghg gh hghg hj j  ghhhjjjj jhjh jhjhj jhj jhjhh</a:t>
            </a:r>
          </a:p>
        </p:txBody>
      </p:sp>
      <p:sp>
        <p:nvSpPr>
          <p:cNvPr id="9" name="Freeform 9"/>
          <p:cNvSpPr/>
          <p:nvPr/>
        </p:nvSpPr>
        <p:spPr>
          <a:xfrm flipH="1">
            <a:off x="15300942" y="7560782"/>
            <a:ext cx="3318577" cy="3318577"/>
          </a:xfrm>
          <a:custGeom>
            <a:avLst/>
            <a:gdLst/>
            <a:ahLst/>
            <a:cxnLst/>
            <a:rect l="l" t="t" r="r" b="b"/>
            <a:pathLst>
              <a:path w="3318577" h="3318577">
                <a:moveTo>
                  <a:pt x="3318577" y="0"/>
                </a:moveTo>
                <a:lnTo>
                  <a:pt x="0" y="0"/>
                </a:lnTo>
                <a:lnTo>
                  <a:pt x="0" y="3318577"/>
                </a:lnTo>
                <a:lnTo>
                  <a:pt x="3318577" y="3318577"/>
                </a:lnTo>
                <a:lnTo>
                  <a:pt x="3318577"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TextBox 10"/>
          <p:cNvSpPr txBox="1"/>
          <p:nvPr/>
        </p:nvSpPr>
        <p:spPr>
          <a:xfrm>
            <a:off x="5776133" y="5487611"/>
            <a:ext cx="11483167" cy="1066800"/>
          </a:xfrm>
          <a:prstGeom prst="rect">
            <a:avLst/>
          </a:prstGeom>
        </p:spPr>
        <p:txBody>
          <a:bodyPr lIns="0" tIns="0" rIns="0" bIns="0" rtlCol="0" anchor="t">
            <a:spAutoFit/>
          </a:bodyPr>
          <a:lstStyle/>
          <a:p>
            <a:pPr algn="ctr">
              <a:lnSpc>
                <a:spcPts val="4200"/>
              </a:lnSpc>
            </a:pPr>
            <a:r>
              <a:rPr lang="en-US" sz="3000" dirty="0">
                <a:solidFill>
                  <a:srgbClr val="000000"/>
                </a:solidFill>
                <a:latin typeface="Roboto"/>
                <a:ea typeface="Roboto"/>
                <a:cs typeface="Roboto"/>
                <a:sym typeface="Roboto"/>
              </a:rPr>
              <a:t>Substitute into equation </a:t>
            </a:r>
            <a:r>
              <a:rPr lang="en-US" sz="3000" dirty="0" err="1">
                <a:solidFill>
                  <a:srgbClr val="000000"/>
                </a:solidFill>
                <a:latin typeface="Roboto"/>
                <a:ea typeface="Roboto"/>
                <a:cs typeface="Roboto"/>
                <a:sym typeface="Roboto"/>
              </a:rPr>
              <a:t>fdfdfdf</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fdssssssssss</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cccccccsssssssssss</a:t>
            </a:r>
            <a:r>
              <a:rPr lang="en-US" sz="3000" dirty="0">
                <a:solidFill>
                  <a:srgbClr val="000000"/>
                </a:solidFill>
                <a:latin typeface="Roboto"/>
                <a:ea typeface="Roboto"/>
                <a:cs typeface="Roboto"/>
                <a:sym typeface="Roboto"/>
              </a:rPr>
              <a:t> </a:t>
            </a:r>
          </a:p>
          <a:p>
            <a:pPr algn="ctr">
              <a:lnSpc>
                <a:spcPts val="4200"/>
              </a:lnSpc>
              <a:spcBef>
                <a:spcPct val="0"/>
              </a:spcBef>
            </a:pPr>
            <a:endParaRPr lang="en-US" sz="3000" dirty="0">
              <a:solidFill>
                <a:srgbClr val="000000"/>
              </a:solidFill>
              <a:latin typeface="Roboto"/>
              <a:ea typeface="Roboto"/>
              <a:cs typeface="Roboto"/>
              <a:sym typeface="Roboto"/>
            </a:endParaRPr>
          </a:p>
        </p:txBody>
      </p:sp>
      <p:sp>
        <p:nvSpPr>
          <p:cNvPr id="11" name="TextBox 11"/>
          <p:cNvSpPr txBox="1"/>
          <p:nvPr/>
        </p:nvSpPr>
        <p:spPr>
          <a:xfrm>
            <a:off x="5776133" y="6703532"/>
            <a:ext cx="11483167" cy="1077218"/>
          </a:xfrm>
          <a:prstGeom prst="rect">
            <a:avLst/>
          </a:prstGeom>
        </p:spPr>
        <p:txBody>
          <a:bodyPr lIns="0" tIns="0" rIns="0" bIns="0" rtlCol="0" anchor="t">
            <a:spAutoFit/>
          </a:bodyPr>
          <a:lstStyle/>
          <a:p>
            <a:pPr algn="ctr">
              <a:lnSpc>
                <a:spcPts val="4200"/>
              </a:lnSpc>
            </a:pPr>
            <a:r>
              <a:rPr lang="en-US" sz="3000" dirty="0">
                <a:solidFill>
                  <a:srgbClr val="000000"/>
                </a:solidFill>
                <a:latin typeface="Roboto"/>
                <a:ea typeface="Roboto"/>
                <a:cs typeface="Roboto"/>
                <a:sym typeface="Roboto"/>
              </a:rPr>
              <a:t>Solve the equation for y </a:t>
            </a:r>
            <a:r>
              <a:rPr lang="en-US" sz="3000" dirty="0" err="1">
                <a:solidFill>
                  <a:srgbClr val="000000"/>
                </a:solidFill>
                <a:latin typeface="Roboto"/>
                <a:ea typeface="Roboto"/>
                <a:cs typeface="Roboto"/>
                <a:sym typeface="Roboto"/>
              </a:rPr>
              <a:t>fdfdfdfdfffffffffffffffffffffffffffff</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sssss</a:t>
            </a:r>
            <a:r>
              <a:rPr lang="en-US" sz="3000" dirty="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llklk</a:t>
            </a:r>
            <a:endParaRPr lang="en-US" sz="3000" dirty="0">
              <a:solidFill>
                <a:srgbClr val="000000"/>
              </a:solidFill>
              <a:latin typeface="Roboto"/>
              <a:ea typeface="Roboto"/>
              <a:cs typeface="Roboto"/>
              <a:sym typeface="Roboto"/>
            </a:endParaRPr>
          </a:p>
          <a:p>
            <a:pPr algn="ctr">
              <a:lnSpc>
                <a:spcPts val="4200"/>
              </a:lnSpc>
              <a:spcBef>
                <a:spcPct val="0"/>
              </a:spcBef>
            </a:pPr>
            <a:endParaRPr lang="en-US" sz="3000" dirty="0">
              <a:solidFill>
                <a:srgbClr val="000000"/>
              </a:solidFill>
              <a:latin typeface="Roboto"/>
              <a:ea typeface="Roboto"/>
              <a:cs typeface="Roboto"/>
              <a:sym typeface="Roboto"/>
            </a:endParaRPr>
          </a:p>
        </p:txBody>
      </p:sp>
      <p:sp>
        <p:nvSpPr>
          <p:cNvPr id="12" name="TextBox 12"/>
          <p:cNvSpPr txBox="1"/>
          <p:nvPr/>
        </p:nvSpPr>
        <p:spPr>
          <a:xfrm>
            <a:off x="5916789" y="1853399"/>
            <a:ext cx="11342511" cy="1615827"/>
          </a:xfrm>
          <a:prstGeom prst="rect">
            <a:avLst/>
          </a:prstGeom>
        </p:spPr>
        <p:txBody>
          <a:bodyPr lIns="0" tIns="0" rIns="0" bIns="0" rtlCol="0" anchor="t">
            <a:spAutoFit/>
          </a:bodyPr>
          <a:lstStyle/>
          <a:p>
            <a:pPr algn="ctr">
              <a:lnSpc>
                <a:spcPts val="4200"/>
              </a:lnSpc>
            </a:pPr>
            <a:r>
              <a:rPr lang="en-US" sz="3000" dirty="0">
                <a:solidFill>
                  <a:srgbClr val="000000"/>
                </a:solidFill>
                <a:latin typeface="Roboto"/>
                <a:ea typeface="Roboto"/>
                <a:cs typeface="Roboto"/>
                <a:sym typeface="Roboto"/>
              </a:rPr>
              <a:t>Look for the same coefficient. Subtract if they both have the same </a:t>
            </a:r>
            <a:r>
              <a:rPr lang="en-US" sz="3000" dirty="0" err="1" smtClean="0">
                <a:solidFill>
                  <a:srgbClr val="000000"/>
                </a:solidFill>
                <a:latin typeface="Roboto"/>
                <a:ea typeface="Roboto"/>
                <a:cs typeface="Roboto"/>
                <a:sym typeface="Roboto"/>
              </a:rPr>
              <a:t>signkjkjjkjkjjjjjjjj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jjjjjjjjjjjjjjjjjjjjjjjjjjjj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nnnnnnnn</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nnnnnnn</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nnnnnnn</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nnn</a:t>
            </a:r>
            <a:r>
              <a:rPr lang="en-US" sz="3000" dirty="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nnk</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kjkjkjkj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kjkjkjk</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jjhjhjhj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jhjhjhj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jhjhjhj</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jhjhjh</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jhjhjhjh</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jhjhjh</a:t>
            </a:r>
            <a:r>
              <a:rPr lang="en-US" sz="3000" dirty="0" smtClean="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jhhjjn</a:t>
            </a:r>
            <a:endParaRPr lang="en-US" sz="3000" dirty="0">
              <a:solidFill>
                <a:srgbClr val="000000"/>
              </a:solidFill>
              <a:latin typeface="Roboto"/>
              <a:ea typeface="Roboto"/>
              <a:cs typeface="Roboto"/>
              <a:sym typeface="Roboto"/>
            </a:endParaRPr>
          </a:p>
        </p:txBody>
      </p:sp>
      <p:sp>
        <p:nvSpPr>
          <p:cNvPr id="13" name="TextBox 13"/>
          <p:cNvSpPr txBox="1"/>
          <p:nvPr/>
        </p:nvSpPr>
        <p:spPr>
          <a:xfrm>
            <a:off x="11166065" y="5518283"/>
            <a:ext cx="140161" cy="491106"/>
          </a:xfrm>
          <a:prstGeom prst="rect">
            <a:avLst/>
          </a:prstGeom>
        </p:spPr>
        <p:txBody>
          <a:bodyPr lIns="0" tIns="0" rIns="0" bIns="0" rtlCol="0" anchor="t">
            <a:spAutoFit/>
          </a:bodyPr>
          <a:lstStyle/>
          <a:p>
            <a:pPr algn="r">
              <a:lnSpc>
                <a:spcPts val="4028"/>
              </a:lnSpc>
              <a:spcBef>
                <a:spcPct val="0"/>
              </a:spcBef>
            </a:pPr>
            <a:r>
              <a:rPr lang="en-US" sz="2877">
                <a:solidFill>
                  <a:srgbClr val="FDF4F4"/>
                </a:solidFill>
                <a:latin typeface="Oswald"/>
                <a:ea typeface="Oswald"/>
                <a:cs typeface="Oswald"/>
                <a:sym typeface="Oswald"/>
              </a:rPr>
              <a:t>1</a:t>
            </a:r>
          </a:p>
        </p:txBody>
      </p:sp>
      <p:grpSp>
        <p:nvGrpSpPr>
          <p:cNvPr id="14" name="Group 14"/>
          <p:cNvGrpSpPr/>
          <p:nvPr/>
        </p:nvGrpSpPr>
        <p:grpSpPr>
          <a:xfrm>
            <a:off x="-1432397" y="3294849"/>
            <a:ext cx="4922194" cy="492219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9677"/>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923122" y="6568542"/>
            <a:ext cx="3408343" cy="3086100"/>
          </a:xfrm>
          <a:custGeom>
            <a:avLst/>
            <a:gdLst/>
            <a:ahLst/>
            <a:cxnLst/>
            <a:rect l="l" t="t" r="r" b="b"/>
            <a:pathLst>
              <a:path w="3408343" h="3086100">
                <a:moveTo>
                  <a:pt x="0" y="0"/>
                </a:moveTo>
                <a:lnTo>
                  <a:pt x="3408344" y="0"/>
                </a:lnTo>
                <a:lnTo>
                  <a:pt x="3408344" y="3086100"/>
                </a:lnTo>
                <a:lnTo>
                  <a:pt x="0" y="30861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8" name="TextBox 18"/>
          <p:cNvSpPr txBox="1"/>
          <p:nvPr/>
        </p:nvSpPr>
        <p:spPr>
          <a:xfrm>
            <a:off x="5916789" y="7749600"/>
            <a:ext cx="11342511" cy="830111"/>
          </a:xfrm>
          <a:prstGeom prst="rect">
            <a:avLst/>
          </a:prstGeom>
        </p:spPr>
        <p:txBody>
          <a:bodyPr lIns="0" tIns="0" rIns="0" bIns="0" rtlCol="0" anchor="t">
            <a:spAutoFit/>
          </a:bodyPr>
          <a:lstStyle/>
          <a:p>
            <a:pPr algn="ctr">
              <a:lnSpc>
                <a:spcPts val="6745"/>
              </a:lnSpc>
              <a:spcBef>
                <a:spcPct val="0"/>
              </a:spcBef>
            </a:pPr>
            <a:r>
              <a:rPr lang="en-US" sz="4818" dirty="0">
                <a:solidFill>
                  <a:srgbClr val="6E7658"/>
                </a:solidFill>
                <a:latin typeface="Roboto"/>
                <a:ea typeface="Roboto"/>
                <a:cs typeface="Roboto"/>
                <a:sym typeface="Roboto"/>
              </a:rPr>
              <a:t>x = 4, y = 2 </a:t>
            </a:r>
            <a:r>
              <a:rPr lang="en-US" sz="4818" dirty="0" err="1">
                <a:solidFill>
                  <a:srgbClr val="6E7658"/>
                </a:solidFill>
                <a:latin typeface="Roboto"/>
                <a:ea typeface="Roboto"/>
                <a:cs typeface="Roboto"/>
                <a:sym typeface="Roboto"/>
              </a:rPr>
              <a:t>cvcvcvcvcvcvcvcvcvcv</a:t>
            </a:r>
            <a:r>
              <a:rPr lang="en-US" sz="4818" dirty="0">
                <a:solidFill>
                  <a:srgbClr val="6E7658"/>
                </a:solidFill>
                <a:latin typeface="Roboto"/>
                <a:ea typeface="Roboto"/>
                <a:cs typeface="Roboto"/>
                <a:sym typeface="Roboto"/>
              </a:rPr>
              <a:t> </a:t>
            </a:r>
            <a:r>
              <a:rPr lang="en-US" sz="4818" dirty="0" err="1" smtClean="0">
                <a:solidFill>
                  <a:srgbClr val="6E7658"/>
                </a:solidFill>
                <a:latin typeface="Roboto"/>
                <a:ea typeface="Roboto"/>
                <a:cs typeface="Roboto"/>
                <a:sym typeface="Roboto"/>
              </a:rPr>
              <a:t>vvkkk</a:t>
            </a:r>
            <a:endParaRPr lang="en-US" sz="4818" dirty="0">
              <a:solidFill>
                <a:srgbClr val="6E7658"/>
              </a:solidFill>
              <a:latin typeface="Roboto"/>
              <a:ea typeface="Roboto"/>
              <a:cs typeface="Roboto"/>
              <a:sym typeface="Roboto"/>
            </a:endParaRPr>
          </a:p>
        </p:txBody>
      </p:sp>
      <p:sp>
        <p:nvSpPr>
          <p:cNvPr id="19" name="TextBox 19"/>
          <p:cNvSpPr txBox="1"/>
          <p:nvPr/>
        </p:nvSpPr>
        <p:spPr>
          <a:xfrm>
            <a:off x="5916789" y="3908895"/>
            <a:ext cx="11342511" cy="1077218"/>
          </a:xfrm>
          <a:prstGeom prst="rect">
            <a:avLst/>
          </a:prstGeom>
        </p:spPr>
        <p:txBody>
          <a:bodyPr lIns="0" tIns="0" rIns="0" bIns="0" rtlCol="0" anchor="t">
            <a:spAutoFit/>
          </a:bodyPr>
          <a:lstStyle/>
          <a:p>
            <a:pPr algn="ctr">
              <a:lnSpc>
                <a:spcPts val="4200"/>
              </a:lnSpc>
            </a:pPr>
            <a:r>
              <a:rPr lang="en-US" sz="3000" dirty="0">
                <a:solidFill>
                  <a:srgbClr val="000000"/>
                </a:solidFill>
                <a:latin typeface="Roboto"/>
                <a:ea typeface="Roboto"/>
                <a:cs typeface="Roboto"/>
                <a:sym typeface="Roboto"/>
              </a:rPr>
              <a:t>The y variable has been eliminated, solve for </a:t>
            </a:r>
            <a:r>
              <a:rPr lang="en-US" sz="3000" dirty="0" err="1">
                <a:solidFill>
                  <a:srgbClr val="000000"/>
                </a:solidFill>
                <a:latin typeface="Roboto"/>
                <a:ea typeface="Roboto"/>
                <a:cs typeface="Roboto"/>
                <a:sym typeface="Roboto"/>
              </a:rPr>
              <a:t>xddddddd</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dddddd</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dd</a:t>
            </a:r>
            <a:endParaRPr lang="en-US" sz="3000" dirty="0">
              <a:solidFill>
                <a:srgbClr val="000000"/>
              </a:solidFill>
              <a:latin typeface="Roboto"/>
              <a:ea typeface="Roboto"/>
              <a:cs typeface="Roboto"/>
              <a:sym typeface="Roboto"/>
            </a:endParaRPr>
          </a:p>
          <a:p>
            <a:pPr algn="ctr">
              <a:lnSpc>
                <a:spcPts val="4200"/>
              </a:lnSpc>
            </a:pPr>
            <a:r>
              <a:rPr lang="en-US" sz="3000" dirty="0" err="1">
                <a:solidFill>
                  <a:srgbClr val="000000"/>
                </a:solidFill>
                <a:latin typeface="Roboto"/>
                <a:ea typeface="Roboto"/>
                <a:cs typeface="Roboto"/>
                <a:sym typeface="Roboto"/>
              </a:rPr>
              <a:t>dfdfd</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ffffffffffffffffffffffffffffffffffffffffffffffffffff</a:t>
            </a:r>
            <a:r>
              <a:rPr lang="en-US" sz="3000" dirty="0">
                <a:solidFill>
                  <a:srgbClr val="000000"/>
                </a:solidFill>
                <a:latin typeface="Roboto"/>
                <a:ea typeface="Roboto"/>
                <a:cs typeface="Roboto"/>
                <a:sym typeface="Roboto"/>
              </a:rPr>
              <a:t> </a:t>
            </a:r>
            <a:r>
              <a:rPr lang="en-US" sz="3000" dirty="0" err="1">
                <a:solidFill>
                  <a:srgbClr val="000000"/>
                </a:solidFill>
                <a:latin typeface="Roboto"/>
                <a:ea typeface="Roboto"/>
                <a:cs typeface="Roboto"/>
                <a:sym typeface="Roboto"/>
              </a:rPr>
              <a:t>sssssssss</a:t>
            </a:r>
            <a:r>
              <a:rPr lang="en-US" sz="3000" dirty="0">
                <a:solidFill>
                  <a:srgbClr val="000000"/>
                </a:solidFill>
                <a:latin typeface="Roboto"/>
                <a:ea typeface="Roboto"/>
                <a:cs typeface="Roboto"/>
                <a:sym typeface="Roboto"/>
              </a:rPr>
              <a:t> </a:t>
            </a:r>
            <a:r>
              <a:rPr lang="en-US" sz="3000" dirty="0" err="1" smtClean="0">
                <a:solidFill>
                  <a:srgbClr val="000000"/>
                </a:solidFill>
                <a:latin typeface="Roboto"/>
                <a:ea typeface="Roboto"/>
                <a:cs typeface="Roboto"/>
                <a:sym typeface="Roboto"/>
              </a:rPr>
              <a:t>ssss</a:t>
            </a:r>
            <a:endParaRPr lang="en-US" sz="3000" dirty="0">
              <a:solidFill>
                <a:srgbClr val="000000"/>
              </a:solidFill>
              <a:latin typeface="Roboto"/>
              <a:ea typeface="Roboto"/>
              <a:cs typeface="Roboto"/>
              <a:sym typeface="Roboto"/>
            </a:endParaRPr>
          </a:p>
        </p:txBody>
      </p:sp>
    </p:spTree>
    <p:extLst>
      <p:ext uri="{BB962C8B-B14F-4D97-AF65-F5344CB8AC3E}">
        <p14:creationId xmlns:p14="http://schemas.microsoft.com/office/powerpoint/2010/main" val="89605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p:cNvGrpSpPr/>
        <p:nvPr/>
      </p:nvGrpSpPr>
      <p:grpSpPr>
        <a:xfrm>
          <a:off x="0" y="0"/>
          <a:ext cx="0" cy="0"/>
          <a:chOff x="0" y="0"/>
          <a:chExt cx="0" cy="0"/>
        </a:xfrm>
      </p:grpSpPr>
      <p:grpSp>
        <p:nvGrpSpPr>
          <p:cNvPr id="2" name="Group 2"/>
          <p:cNvGrpSpPr/>
          <p:nvPr/>
        </p:nvGrpSpPr>
        <p:grpSpPr>
          <a:xfrm>
            <a:off x="1755553" y="5054183"/>
            <a:ext cx="385694" cy="397179"/>
            <a:chOff x="0" y="0"/>
            <a:chExt cx="514258" cy="529572"/>
          </a:xfrm>
        </p:grpSpPr>
        <p:grpSp>
          <p:nvGrpSpPr>
            <p:cNvPr id="3" name="Group 3"/>
            <p:cNvGrpSpPr/>
            <p:nvPr/>
          </p:nvGrpSpPr>
          <p:grpSpPr>
            <a:xfrm>
              <a:off x="102677" y="93343"/>
              <a:ext cx="411581" cy="436229"/>
              <a:chOff x="0" y="0"/>
              <a:chExt cx="110615" cy="117239"/>
            </a:xfrm>
          </p:grpSpPr>
          <p:sp>
            <p:nvSpPr>
              <p:cNvPr id="4" name="Freeform 4"/>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5" name="TextBox 5"/>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411581" cy="436229"/>
              <a:chOff x="0" y="0"/>
              <a:chExt cx="110615" cy="117239"/>
            </a:xfrm>
          </p:grpSpPr>
          <p:sp>
            <p:nvSpPr>
              <p:cNvPr id="7" name="Freeform 7"/>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FDF4F4"/>
              </a:solidFill>
            </p:spPr>
          </p:sp>
          <p:sp>
            <p:nvSpPr>
              <p:cNvPr id="8" name="TextBox 8"/>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grpSp>
        <p:nvGrpSpPr>
          <p:cNvPr id="9" name="Group 9"/>
          <p:cNvGrpSpPr/>
          <p:nvPr/>
        </p:nvGrpSpPr>
        <p:grpSpPr>
          <a:xfrm>
            <a:off x="1755553" y="5622625"/>
            <a:ext cx="385694" cy="397179"/>
            <a:chOff x="0" y="0"/>
            <a:chExt cx="514258" cy="529572"/>
          </a:xfrm>
        </p:grpSpPr>
        <p:grpSp>
          <p:nvGrpSpPr>
            <p:cNvPr id="10" name="Group 10"/>
            <p:cNvGrpSpPr/>
            <p:nvPr/>
          </p:nvGrpSpPr>
          <p:grpSpPr>
            <a:xfrm>
              <a:off x="102677" y="93343"/>
              <a:ext cx="411581" cy="436229"/>
              <a:chOff x="0" y="0"/>
              <a:chExt cx="110615" cy="117239"/>
            </a:xfrm>
          </p:grpSpPr>
          <p:sp>
            <p:nvSpPr>
              <p:cNvPr id="11" name="Freeform 11"/>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12" name="TextBox 12"/>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0" y="0"/>
              <a:ext cx="411581" cy="436229"/>
              <a:chOff x="0" y="0"/>
              <a:chExt cx="110615" cy="117239"/>
            </a:xfrm>
          </p:grpSpPr>
          <p:sp>
            <p:nvSpPr>
              <p:cNvPr id="14" name="Freeform 14"/>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FDF4F4"/>
              </a:solidFill>
            </p:spPr>
          </p:sp>
          <p:sp>
            <p:nvSpPr>
              <p:cNvPr id="15" name="TextBox 15"/>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grpSp>
        <p:nvGrpSpPr>
          <p:cNvPr id="16" name="Group 16"/>
          <p:cNvGrpSpPr/>
          <p:nvPr/>
        </p:nvGrpSpPr>
        <p:grpSpPr>
          <a:xfrm>
            <a:off x="1755553" y="6209665"/>
            <a:ext cx="385694" cy="397179"/>
            <a:chOff x="0" y="0"/>
            <a:chExt cx="514258" cy="529572"/>
          </a:xfrm>
        </p:grpSpPr>
        <p:grpSp>
          <p:nvGrpSpPr>
            <p:cNvPr id="17" name="Group 17"/>
            <p:cNvGrpSpPr/>
            <p:nvPr/>
          </p:nvGrpSpPr>
          <p:grpSpPr>
            <a:xfrm>
              <a:off x="102677" y="93343"/>
              <a:ext cx="411581" cy="436229"/>
              <a:chOff x="0" y="0"/>
              <a:chExt cx="110615" cy="117239"/>
            </a:xfrm>
          </p:grpSpPr>
          <p:sp>
            <p:nvSpPr>
              <p:cNvPr id="18" name="Freeform 18"/>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8D9677"/>
              </a:solidFill>
            </p:spPr>
          </p:sp>
          <p:sp>
            <p:nvSpPr>
              <p:cNvPr id="19" name="TextBox 19"/>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0" y="0"/>
              <a:ext cx="411581" cy="436229"/>
              <a:chOff x="0" y="0"/>
              <a:chExt cx="110615" cy="117239"/>
            </a:xfrm>
          </p:grpSpPr>
          <p:sp>
            <p:nvSpPr>
              <p:cNvPr id="21" name="Freeform 21"/>
              <p:cNvSpPr/>
              <p:nvPr/>
            </p:nvSpPr>
            <p:spPr>
              <a:xfrm>
                <a:off x="0" y="0"/>
                <a:ext cx="110615" cy="117239"/>
              </a:xfrm>
              <a:custGeom>
                <a:avLst/>
                <a:gdLst/>
                <a:ahLst/>
                <a:cxnLst/>
                <a:rect l="l" t="t" r="r" b="b"/>
                <a:pathLst>
                  <a:path w="110615" h="117239">
                    <a:moveTo>
                      <a:pt x="0" y="0"/>
                    </a:moveTo>
                    <a:lnTo>
                      <a:pt x="110615" y="0"/>
                    </a:lnTo>
                    <a:lnTo>
                      <a:pt x="110615" y="117239"/>
                    </a:lnTo>
                    <a:lnTo>
                      <a:pt x="0" y="117239"/>
                    </a:lnTo>
                    <a:close/>
                  </a:path>
                </a:pathLst>
              </a:custGeom>
              <a:solidFill>
                <a:srgbClr val="FDF4F4"/>
              </a:solidFill>
            </p:spPr>
          </p:sp>
          <p:sp>
            <p:nvSpPr>
              <p:cNvPr id="22" name="TextBox 22"/>
              <p:cNvSpPr txBox="1"/>
              <p:nvPr/>
            </p:nvSpPr>
            <p:spPr>
              <a:xfrm>
                <a:off x="0" y="-38100"/>
                <a:ext cx="110615" cy="155339"/>
              </a:xfrm>
              <a:prstGeom prst="rect">
                <a:avLst/>
              </a:prstGeom>
            </p:spPr>
            <p:txBody>
              <a:bodyPr lIns="50800" tIns="50800" rIns="50800" bIns="50800" rtlCol="0" anchor="ctr"/>
              <a:lstStyle/>
              <a:p>
                <a:pPr algn="ctr">
                  <a:lnSpc>
                    <a:spcPts val="2659"/>
                  </a:lnSpc>
                </a:pPr>
                <a:endParaRPr/>
              </a:p>
            </p:txBody>
          </p:sp>
        </p:grpSp>
      </p:grpSp>
      <p:sp>
        <p:nvSpPr>
          <p:cNvPr id="23" name="TextBox 23"/>
          <p:cNvSpPr txBox="1"/>
          <p:nvPr/>
        </p:nvSpPr>
        <p:spPr>
          <a:xfrm>
            <a:off x="2762625" y="663749"/>
            <a:ext cx="13940777" cy="1127760"/>
          </a:xfrm>
          <a:prstGeom prst="rect">
            <a:avLst/>
          </a:prstGeom>
        </p:spPr>
        <p:txBody>
          <a:bodyPr lIns="0" tIns="0" rIns="0" bIns="0" rtlCol="0" anchor="t">
            <a:spAutoFit/>
          </a:bodyPr>
          <a:lstStyle/>
          <a:p>
            <a:pPr marL="0" lvl="0" indent="0" algn="ctr">
              <a:lnSpc>
                <a:spcPts val="9240"/>
              </a:lnSpc>
              <a:spcBef>
                <a:spcPct val="0"/>
              </a:spcBef>
            </a:pPr>
            <a:r>
              <a:rPr lang="en-US" sz="6600">
                <a:solidFill>
                  <a:srgbClr val="FDF4F4"/>
                </a:solidFill>
                <a:latin typeface="Oswald"/>
                <a:ea typeface="Oswald"/>
                <a:cs typeface="Oswald"/>
                <a:sym typeface="Oswald"/>
              </a:rPr>
              <a:t>Simultaneous Equations kjkj jhjhjh jhhj jh j j j </a:t>
            </a:r>
          </a:p>
        </p:txBody>
      </p:sp>
      <p:grpSp>
        <p:nvGrpSpPr>
          <p:cNvPr id="24" name="Group 24"/>
          <p:cNvGrpSpPr/>
          <p:nvPr/>
        </p:nvGrpSpPr>
        <p:grpSpPr>
          <a:xfrm>
            <a:off x="-2461097" y="-1673523"/>
            <a:ext cx="4922194" cy="492219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9677"/>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1755553" y="2861481"/>
            <a:ext cx="14947849" cy="1731243"/>
          </a:xfrm>
          <a:prstGeom prst="rect">
            <a:avLst/>
          </a:prstGeom>
        </p:spPr>
        <p:txBody>
          <a:bodyPr lIns="0" tIns="0" rIns="0" bIns="0" rtlCol="0" anchor="t">
            <a:spAutoFit/>
          </a:bodyPr>
          <a:lstStyle/>
          <a:p>
            <a:pPr algn="l">
              <a:lnSpc>
                <a:spcPts val="4480"/>
              </a:lnSpc>
              <a:spcBef>
                <a:spcPct val="0"/>
              </a:spcBef>
            </a:pPr>
            <a:r>
              <a:rPr lang="en-US" sz="3200" dirty="0">
                <a:solidFill>
                  <a:srgbClr val="FFFFFF"/>
                </a:solidFill>
                <a:latin typeface="Roboto"/>
                <a:ea typeface="Roboto"/>
                <a:cs typeface="Roboto"/>
                <a:sym typeface="Roboto"/>
              </a:rPr>
              <a:t>Simultaneous equations are two or more algebraic equations that can be solved at the same time. Linear simultaneous equations with two unknown variables can be solved by using the following methods: </a:t>
            </a:r>
            <a:r>
              <a:rPr lang="en-US" sz="3200" dirty="0" err="1">
                <a:solidFill>
                  <a:srgbClr val="FFFFFF"/>
                </a:solidFill>
                <a:latin typeface="Roboto"/>
                <a:ea typeface="Roboto"/>
                <a:cs typeface="Roboto"/>
                <a:sym typeface="Roboto"/>
              </a:rPr>
              <a:t>nghghgh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ghghghghg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ghghg</a:t>
            </a:r>
            <a:endParaRPr lang="en-US" sz="3200" dirty="0">
              <a:solidFill>
                <a:srgbClr val="FFFFFF"/>
              </a:solidFill>
              <a:latin typeface="Roboto"/>
              <a:ea typeface="Roboto"/>
              <a:cs typeface="Roboto"/>
              <a:sym typeface="Roboto"/>
            </a:endParaRPr>
          </a:p>
        </p:txBody>
      </p:sp>
      <p:sp>
        <p:nvSpPr>
          <p:cNvPr id="28" name="TextBox 28"/>
          <p:cNvSpPr txBox="1"/>
          <p:nvPr/>
        </p:nvSpPr>
        <p:spPr>
          <a:xfrm>
            <a:off x="2435994" y="4943009"/>
            <a:ext cx="13678394" cy="577081"/>
          </a:xfrm>
          <a:prstGeom prst="rect">
            <a:avLst/>
          </a:prstGeom>
        </p:spPr>
        <p:txBody>
          <a:bodyPr lIns="0" tIns="0" rIns="0" bIns="0" rtlCol="0" anchor="t">
            <a:spAutoFit/>
          </a:bodyPr>
          <a:lstStyle/>
          <a:p>
            <a:pPr algn="l">
              <a:lnSpc>
                <a:spcPts val="4480"/>
              </a:lnSpc>
              <a:spcBef>
                <a:spcPct val="0"/>
              </a:spcBef>
            </a:pP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a:t>
            </a:r>
            <a:r>
              <a:rPr lang="en-US" sz="3200" dirty="0" smtClean="0">
                <a:solidFill>
                  <a:srgbClr val="FFFFFF"/>
                </a:solidFill>
                <a:latin typeface="Roboto"/>
                <a:ea typeface="Roboto"/>
                <a:cs typeface="Roboto"/>
                <a:sym typeface="Roboto"/>
              </a:rPr>
              <a:t>  </a:t>
            </a:r>
            <a:r>
              <a:rPr lang="en-US" sz="3200" dirty="0">
                <a:solidFill>
                  <a:srgbClr val="FFFFFF"/>
                </a:solidFill>
                <a:latin typeface="Roboto"/>
                <a:ea typeface="Roboto"/>
                <a:cs typeface="Roboto"/>
                <a:sym typeface="Roboto"/>
              </a:rPr>
              <a:t>hg</a:t>
            </a:r>
          </a:p>
        </p:txBody>
      </p:sp>
      <p:sp>
        <p:nvSpPr>
          <p:cNvPr id="29" name="TextBox 29"/>
          <p:cNvSpPr txBox="1"/>
          <p:nvPr/>
        </p:nvSpPr>
        <p:spPr>
          <a:xfrm>
            <a:off x="1755553" y="7023904"/>
            <a:ext cx="13215835" cy="1731243"/>
          </a:xfrm>
          <a:prstGeom prst="rect">
            <a:avLst/>
          </a:prstGeom>
        </p:spPr>
        <p:txBody>
          <a:bodyPr lIns="0" tIns="0" rIns="0" bIns="0" rtlCol="0" anchor="t">
            <a:spAutoFit/>
          </a:bodyPr>
          <a:lstStyle/>
          <a:p>
            <a:pPr algn="l">
              <a:lnSpc>
                <a:spcPts val="4480"/>
              </a:lnSpc>
            </a:pPr>
            <a:r>
              <a:rPr lang="en-US" sz="3200" dirty="0">
                <a:solidFill>
                  <a:srgbClr val="FFFFFF"/>
                </a:solidFill>
                <a:latin typeface="Roboto"/>
                <a:ea typeface="Roboto"/>
                <a:cs typeface="Roboto"/>
                <a:sym typeface="Roboto"/>
              </a:rPr>
              <a:t>In this lesson, we will focus on solving linear simultaneous equations hg algebraically using the elimination method, but first, let's have a look </a:t>
            </a:r>
            <a:r>
              <a:rPr lang="en-US" sz="3200" dirty="0" err="1">
                <a:solidFill>
                  <a:srgbClr val="FFFFFF"/>
                </a:solidFill>
                <a:latin typeface="Roboto"/>
                <a:ea typeface="Roboto"/>
                <a:cs typeface="Roboto"/>
                <a:sym typeface="Roboto"/>
              </a:rPr>
              <a:t>gh</a:t>
            </a:r>
            <a:endParaRPr lang="en-US" sz="3200" dirty="0">
              <a:solidFill>
                <a:srgbClr val="FFFFFF"/>
              </a:solidFill>
              <a:latin typeface="Roboto"/>
              <a:ea typeface="Roboto"/>
              <a:cs typeface="Roboto"/>
              <a:sym typeface="Roboto"/>
            </a:endParaRPr>
          </a:p>
          <a:p>
            <a:pPr algn="l">
              <a:lnSpc>
                <a:spcPts val="4480"/>
              </a:lnSpc>
              <a:spcBef>
                <a:spcPct val="0"/>
              </a:spcBef>
            </a:pPr>
            <a:r>
              <a:rPr lang="en-US" sz="3200" dirty="0">
                <a:solidFill>
                  <a:srgbClr val="FFFFFF"/>
                </a:solidFill>
                <a:latin typeface="Roboto"/>
                <a:ea typeface="Roboto"/>
                <a:cs typeface="Roboto"/>
                <a:sym typeface="Roboto"/>
              </a:rPr>
              <a:t>at some </a:t>
            </a:r>
            <a:r>
              <a:rPr lang="en-US" sz="3200" dirty="0" err="1">
                <a:solidFill>
                  <a:srgbClr val="FFFFFF"/>
                </a:solidFill>
                <a:latin typeface="Roboto"/>
                <a:ea typeface="Roboto"/>
                <a:cs typeface="Roboto"/>
                <a:sym typeface="Roboto"/>
              </a:rPr>
              <a:t>graphs.hgh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hgghghghgh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hghghghghgh</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hghghg</a:t>
            </a:r>
            <a:r>
              <a:rPr lang="en-US" sz="3200" dirty="0" smtClean="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a:t>
            </a:r>
            <a:endParaRPr lang="en-US" sz="3200" dirty="0">
              <a:solidFill>
                <a:srgbClr val="FFFFFF"/>
              </a:solidFill>
              <a:latin typeface="Roboto"/>
              <a:ea typeface="Roboto"/>
              <a:cs typeface="Roboto"/>
              <a:sym typeface="Roboto"/>
            </a:endParaRPr>
          </a:p>
        </p:txBody>
      </p:sp>
      <p:sp>
        <p:nvSpPr>
          <p:cNvPr id="30" name="Freeform 30"/>
          <p:cNvSpPr/>
          <p:nvPr/>
        </p:nvSpPr>
        <p:spPr>
          <a:xfrm>
            <a:off x="-2004940" y="653903"/>
            <a:ext cx="3408343" cy="3086100"/>
          </a:xfrm>
          <a:custGeom>
            <a:avLst/>
            <a:gdLst/>
            <a:ahLst/>
            <a:cxnLst/>
            <a:rect l="l" t="t" r="r" b="b"/>
            <a:pathLst>
              <a:path w="3408343" h="3086100">
                <a:moveTo>
                  <a:pt x="0" y="0"/>
                </a:moveTo>
                <a:lnTo>
                  <a:pt x="3408344" y="0"/>
                </a:lnTo>
                <a:lnTo>
                  <a:pt x="3408344" y="3086100"/>
                </a:lnTo>
                <a:lnTo>
                  <a:pt x="0" y="30861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1" name="Freeform 31"/>
          <p:cNvSpPr/>
          <p:nvPr/>
        </p:nvSpPr>
        <p:spPr>
          <a:xfrm>
            <a:off x="16703402" y="5987345"/>
            <a:ext cx="4941056" cy="4941056"/>
          </a:xfrm>
          <a:custGeom>
            <a:avLst/>
            <a:gdLst/>
            <a:ahLst/>
            <a:cxnLst/>
            <a:rect l="l" t="t" r="r" b="b"/>
            <a:pathLst>
              <a:path w="4941056" h="4941056">
                <a:moveTo>
                  <a:pt x="0" y="0"/>
                </a:moveTo>
                <a:lnTo>
                  <a:pt x="4941056" y="0"/>
                </a:lnTo>
                <a:lnTo>
                  <a:pt x="4941056" y="4941055"/>
                </a:lnTo>
                <a:lnTo>
                  <a:pt x="0" y="494105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2" name="TextBox 32"/>
          <p:cNvSpPr txBox="1"/>
          <p:nvPr/>
        </p:nvSpPr>
        <p:spPr>
          <a:xfrm>
            <a:off x="2390281" y="5504667"/>
            <a:ext cx="13678394" cy="535403"/>
          </a:xfrm>
          <a:prstGeom prst="rect">
            <a:avLst/>
          </a:prstGeom>
        </p:spPr>
        <p:txBody>
          <a:bodyPr lIns="0" tIns="0" rIns="0" bIns="0" rtlCol="0" anchor="t">
            <a:spAutoFit/>
          </a:bodyPr>
          <a:lstStyle/>
          <a:p>
            <a:pPr algn="l">
              <a:lnSpc>
                <a:spcPts val="4480"/>
              </a:lnSpc>
              <a:spcBef>
                <a:spcPct val="0"/>
              </a:spcBef>
            </a:pPr>
            <a:r>
              <a:rPr lang="en-US" sz="3200" dirty="0" err="1" smtClean="0">
                <a:solidFill>
                  <a:srgbClr val="FFFFFF"/>
                </a:solidFill>
                <a:latin typeface="Roboto"/>
                <a:ea typeface="Roboto"/>
                <a:cs typeface="Roboto"/>
                <a:sym typeface="Roboto"/>
              </a:rPr>
              <a:t>hghghghghg</a:t>
            </a:r>
            <a:r>
              <a:rPr lang="en-US" sz="3200" dirty="0" smtClean="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ghghg</a:t>
            </a:r>
            <a:r>
              <a:rPr lang="en-US" sz="3200" dirty="0" smtClean="0">
                <a:solidFill>
                  <a:srgbClr val="FFFFFF"/>
                </a:solidFill>
                <a:latin typeface="Roboto"/>
                <a:ea typeface="Roboto"/>
                <a:cs typeface="Roboto"/>
                <a:sym typeface="Roboto"/>
              </a:rPr>
              <a:t> </a:t>
            </a:r>
            <a:r>
              <a:rPr lang="en-US" sz="3200" dirty="0">
                <a:solidFill>
                  <a:srgbClr val="FFFFFF"/>
                </a:solidFill>
                <a:latin typeface="Roboto"/>
                <a:ea typeface="Roboto"/>
                <a:cs typeface="Roboto"/>
                <a:sym typeface="Roboto"/>
              </a:rPr>
              <a:t>hg</a:t>
            </a:r>
          </a:p>
        </p:txBody>
      </p:sp>
      <p:sp>
        <p:nvSpPr>
          <p:cNvPr id="33" name="TextBox 33"/>
          <p:cNvSpPr txBox="1"/>
          <p:nvPr/>
        </p:nvSpPr>
        <p:spPr>
          <a:xfrm>
            <a:off x="2390281" y="6049949"/>
            <a:ext cx="13678394" cy="577081"/>
          </a:xfrm>
          <a:prstGeom prst="rect">
            <a:avLst/>
          </a:prstGeom>
        </p:spPr>
        <p:txBody>
          <a:bodyPr lIns="0" tIns="0" rIns="0" bIns="0" rtlCol="0" anchor="t">
            <a:spAutoFit/>
          </a:bodyPr>
          <a:lstStyle/>
          <a:p>
            <a:pPr algn="l">
              <a:lnSpc>
                <a:spcPts val="4480"/>
              </a:lnSpc>
              <a:spcBef>
                <a:spcPct val="0"/>
              </a:spcBef>
            </a:pP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hghghghghg</a:t>
            </a:r>
            <a:r>
              <a:rPr lang="en-US" sz="3200" dirty="0">
                <a:solidFill>
                  <a:srgbClr val="FFFFFF"/>
                </a:solidFill>
                <a:latin typeface="Roboto"/>
                <a:ea typeface="Roboto"/>
                <a:cs typeface="Roboto"/>
                <a:sym typeface="Roboto"/>
              </a:rPr>
              <a:t> </a:t>
            </a:r>
            <a:r>
              <a:rPr lang="en-US" sz="3200" dirty="0" err="1">
                <a:solidFill>
                  <a:srgbClr val="FFFFFF"/>
                </a:solidFill>
                <a:latin typeface="Roboto"/>
                <a:ea typeface="Roboto"/>
                <a:cs typeface="Roboto"/>
                <a:sym typeface="Roboto"/>
              </a:rPr>
              <a:t>hghghghg</a:t>
            </a:r>
            <a:r>
              <a:rPr lang="en-US" sz="3200" dirty="0">
                <a:solidFill>
                  <a:srgbClr val="FFFFFF"/>
                </a:solidFill>
                <a:latin typeface="Roboto"/>
                <a:ea typeface="Roboto"/>
                <a:cs typeface="Roboto"/>
                <a:sym typeface="Roboto"/>
              </a:rPr>
              <a:t> </a:t>
            </a:r>
            <a:r>
              <a:rPr lang="en-US" sz="3200" dirty="0" err="1" smtClean="0">
                <a:solidFill>
                  <a:srgbClr val="FFFFFF"/>
                </a:solidFill>
                <a:latin typeface="Roboto"/>
                <a:ea typeface="Roboto"/>
                <a:cs typeface="Roboto"/>
                <a:sym typeface="Roboto"/>
              </a:rPr>
              <a:t>ghghg</a:t>
            </a:r>
            <a:r>
              <a:rPr lang="en-US" sz="3200" dirty="0" smtClean="0">
                <a:solidFill>
                  <a:srgbClr val="FFFFFF"/>
                </a:solidFill>
                <a:latin typeface="Roboto"/>
                <a:ea typeface="Roboto"/>
                <a:cs typeface="Roboto"/>
                <a:sym typeface="Roboto"/>
              </a:rPr>
              <a:t> hg</a:t>
            </a:r>
            <a:endParaRPr lang="en-US" sz="3200" dirty="0">
              <a:solidFill>
                <a:srgbClr val="FFFFFF"/>
              </a:solidFill>
              <a:latin typeface="Roboto"/>
              <a:ea typeface="Roboto"/>
              <a:cs typeface="Roboto"/>
              <a:sym typeface="Roboto"/>
            </a:endParaRPr>
          </a:p>
        </p:txBody>
      </p:sp>
    </p:spTree>
    <p:extLst>
      <p:ext uri="{BB962C8B-B14F-4D97-AF65-F5344CB8AC3E}">
        <p14:creationId xmlns:p14="http://schemas.microsoft.com/office/powerpoint/2010/main" val="1116280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sp>
        <p:nvSpPr>
          <p:cNvPr id="3" name="TextBox 3"/>
          <p:cNvSpPr txBox="1"/>
          <p:nvPr/>
        </p:nvSpPr>
        <p:spPr>
          <a:xfrm>
            <a:off x="1607544" y="671291"/>
            <a:ext cx="15072912" cy="1127760"/>
          </a:xfrm>
          <a:prstGeom prst="rect">
            <a:avLst/>
          </a:prstGeom>
        </p:spPr>
        <p:txBody>
          <a:bodyPr lIns="0" tIns="0" rIns="0" bIns="0" rtlCol="0" anchor="t">
            <a:spAutoFit/>
          </a:bodyPr>
          <a:lstStyle/>
          <a:p>
            <a:pPr marL="0" lvl="0" indent="0" algn="ctr">
              <a:lnSpc>
                <a:spcPts val="9240"/>
              </a:lnSpc>
              <a:spcBef>
                <a:spcPct val="0"/>
              </a:spcBef>
            </a:pPr>
            <a:r>
              <a:rPr lang="en-US" sz="6600" dirty="0">
                <a:solidFill>
                  <a:srgbClr val="000000"/>
                </a:solidFill>
                <a:latin typeface="Oswald"/>
                <a:ea typeface="Oswald"/>
                <a:cs typeface="Oswald"/>
                <a:sym typeface="Oswald"/>
              </a:rPr>
              <a:t>Graphs of Simultaneous Equations </a:t>
            </a:r>
            <a:r>
              <a:rPr lang="en-US" sz="6600" dirty="0" err="1">
                <a:solidFill>
                  <a:srgbClr val="000000"/>
                </a:solidFill>
                <a:latin typeface="Oswald"/>
                <a:ea typeface="Oswald"/>
                <a:cs typeface="Oswald"/>
                <a:sym typeface="Oswald"/>
              </a:rPr>
              <a:t>bnb</a:t>
            </a:r>
            <a:r>
              <a:rPr lang="en-US" sz="6600" dirty="0">
                <a:solidFill>
                  <a:srgbClr val="000000"/>
                </a:solidFill>
                <a:latin typeface="Oswald"/>
                <a:ea typeface="Oswald"/>
                <a:cs typeface="Oswald"/>
                <a:sym typeface="Oswald"/>
              </a:rPr>
              <a:t> </a:t>
            </a:r>
            <a:r>
              <a:rPr lang="en-US" sz="6600" dirty="0" err="1">
                <a:solidFill>
                  <a:srgbClr val="000000"/>
                </a:solidFill>
                <a:latin typeface="Oswald"/>
                <a:ea typeface="Oswald"/>
                <a:cs typeface="Oswald"/>
                <a:sym typeface="Oswald"/>
              </a:rPr>
              <a:t>bh</a:t>
            </a:r>
            <a:r>
              <a:rPr lang="en-US" sz="6600" dirty="0">
                <a:solidFill>
                  <a:srgbClr val="000000"/>
                </a:solidFill>
                <a:latin typeface="Oswald"/>
                <a:ea typeface="Oswald"/>
                <a:cs typeface="Oswald"/>
                <a:sym typeface="Oswald"/>
              </a:rPr>
              <a:t> </a:t>
            </a:r>
            <a:r>
              <a:rPr lang="en-US" sz="6600" dirty="0" err="1">
                <a:solidFill>
                  <a:srgbClr val="000000"/>
                </a:solidFill>
                <a:latin typeface="Oswald"/>
                <a:ea typeface="Oswald"/>
                <a:cs typeface="Oswald"/>
                <a:sym typeface="Oswald"/>
              </a:rPr>
              <a:t>jh</a:t>
            </a:r>
            <a:r>
              <a:rPr lang="en-US" sz="6600" dirty="0">
                <a:solidFill>
                  <a:srgbClr val="000000"/>
                </a:solidFill>
                <a:latin typeface="Oswald"/>
                <a:ea typeface="Oswald"/>
                <a:cs typeface="Oswald"/>
                <a:sym typeface="Oswald"/>
              </a:rPr>
              <a:t> j </a:t>
            </a:r>
            <a:r>
              <a:rPr lang="en-US" sz="6600" dirty="0" err="1">
                <a:solidFill>
                  <a:srgbClr val="000000"/>
                </a:solidFill>
                <a:latin typeface="Oswald"/>
                <a:ea typeface="Oswald"/>
                <a:cs typeface="Oswald"/>
                <a:sym typeface="Oswald"/>
              </a:rPr>
              <a:t>j</a:t>
            </a:r>
            <a:r>
              <a:rPr lang="en-US" sz="6600" dirty="0">
                <a:solidFill>
                  <a:srgbClr val="000000"/>
                </a:solidFill>
                <a:latin typeface="Oswald"/>
                <a:ea typeface="Oswald"/>
                <a:cs typeface="Oswald"/>
                <a:sym typeface="Oswald"/>
              </a:rPr>
              <a:t> </a:t>
            </a:r>
            <a:r>
              <a:rPr lang="en-US" sz="6600" dirty="0" err="1">
                <a:solidFill>
                  <a:srgbClr val="000000"/>
                </a:solidFill>
                <a:latin typeface="Oswald"/>
                <a:ea typeface="Oswald"/>
                <a:cs typeface="Oswald"/>
                <a:sym typeface="Oswald"/>
              </a:rPr>
              <a:t>jnj</a:t>
            </a:r>
            <a:endParaRPr lang="en-US" sz="6600" dirty="0">
              <a:solidFill>
                <a:srgbClr val="000000"/>
              </a:solidFill>
              <a:latin typeface="Oswald"/>
              <a:ea typeface="Oswald"/>
              <a:cs typeface="Oswald"/>
              <a:sym typeface="Oswald"/>
            </a:endParaRPr>
          </a:p>
        </p:txBody>
      </p:sp>
      <p:sp>
        <p:nvSpPr>
          <p:cNvPr id="4" name="TextBox 4"/>
          <p:cNvSpPr txBox="1"/>
          <p:nvPr/>
        </p:nvSpPr>
        <p:spPr>
          <a:xfrm>
            <a:off x="1010888" y="6976872"/>
            <a:ext cx="9123711" cy="1731243"/>
          </a:xfrm>
          <a:prstGeom prst="rect">
            <a:avLst/>
          </a:prstGeom>
        </p:spPr>
        <p:txBody>
          <a:bodyPr wrap="square" lIns="0" tIns="0" rIns="0" bIns="0" rtlCol="0" anchor="t">
            <a:spAutoFit/>
          </a:bodyPr>
          <a:lstStyle/>
          <a:p>
            <a:pPr algn="l">
              <a:lnSpc>
                <a:spcPts val="4480"/>
              </a:lnSpc>
              <a:spcBef>
                <a:spcPct val="0"/>
              </a:spcBef>
            </a:pPr>
            <a:r>
              <a:rPr lang="en-US" sz="3200" dirty="0">
                <a:solidFill>
                  <a:srgbClr val="000000"/>
                </a:solidFill>
                <a:latin typeface="Roboto"/>
                <a:ea typeface="Roboto"/>
                <a:cs typeface="Roboto"/>
                <a:sym typeface="Roboto"/>
              </a:rPr>
              <a:t>The solutions of simultaneous equations with two unknown variables correspond to the point of intersection of their graphs.</a:t>
            </a:r>
          </a:p>
        </p:txBody>
      </p:sp>
      <p:sp>
        <p:nvSpPr>
          <p:cNvPr id="5" name="TextBox 5"/>
          <p:cNvSpPr txBox="1"/>
          <p:nvPr/>
        </p:nvSpPr>
        <p:spPr>
          <a:xfrm>
            <a:off x="1028700" y="2618550"/>
            <a:ext cx="9105900" cy="4039567"/>
          </a:xfrm>
          <a:prstGeom prst="rect">
            <a:avLst/>
          </a:prstGeom>
        </p:spPr>
        <p:txBody>
          <a:bodyPr wrap="square" lIns="0" tIns="0" rIns="0" bIns="0" rtlCol="0" anchor="t">
            <a:spAutoFit/>
          </a:bodyPr>
          <a:lstStyle/>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endParaRPr lang="en-US" sz="3200" dirty="0">
              <a:solidFill>
                <a:srgbClr val="000000"/>
              </a:solidFill>
              <a:latin typeface="Roboto"/>
              <a:ea typeface="Roboto"/>
              <a:cs typeface="Roboto"/>
              <a:sym typeface="Roboto"/>
            </a:endParaRPr>
          </a:p>
          <a:p>
            <a:pPr algn="l">
              <a:lnSpc>
                <a:spcPts val="4480"/>
              </a:lnSpc>
              <a:spcBef>
                <a:spcPct val="0"/>
              </a:spcBef>
            </a:pPr>
            <a:r>
              <a:rPr lang="en-US" sz="3200" dirty="0">
                <a:solidFill>
                  <a:srgbClr val="000000"/>
                </a:solidFill>
                <a:latin typeface="Roboto"/>
                <a:ea typeface="Roboto"/>
                <a:cs typeface="Roboto"/>
                <a:sym typeface="Roboto"/>
              </a:rPr>
              <a:t>Here is a system of two equations: </a:t>
            </a:r>
            <a:r>
              <a:rPr lang="en-US" sz="3200" dirty="0" err="1">
                <a:solidFill>
                  <a:srgbClr val="000000"/>
                </a:solidFill>
                <a:latin typeface="Roboto"/>
                <a:ea typeface="Roboto"/>
                <a:cs typeface="Roboto"/>
                <a:sym typeface="Roboto"/>
              </a:rPr>
              <a:t>hghgg</a:t>
            </a:r>
            <a:r>
              <a:rPr lang="en-US" sz="3200" dirty="0">
                <a:solidFill>
                  <a:srgbClr val="000000"/>
                </a:solidFill>
                <a:latin typeface="Roboto"/>
                <a:ea typeface="Roboto"/>
                <a:cs typeface="Roboto"/>
                <a:sym typeface="Roboto"/>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6600" y="2656650"/>
            <a:ext cx="6614733" cy="5541744"/>
          </a:xfrm>
          <a:prstGeom prst="rect">
            <a:avLst/>
          </a:prstGeom>
          <a:ln>
            <a:noFill/>
          </a:ln>
          <a:effectLst>
            <a:softEdge rad="112500"/>
          </a:effectLst>
        </p:spPr>
      </p:pic>
    </p:spTree>
    <p:extLst>
      <p:ext uri="{BB962C8B-B14F-4D97-AF65-F5344CB8AC3E}">
        <p14:creationId xmlns:p14="http://schemas.microsoft.com/office/powerpoint/2010/main" val="1880932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p:cNvGrpSpPr/>
        <p:nvPr/>
      </p:nvGrpSpPr>
      <p:grpSpPr>
        <a:xfrm>
          <a:off x="0" y="0"/>
          <a:ext cx="0" cy="0"/>
          <a:chOff x="0" y="0"/>
          <a:chExt cx="0" cy="0"/>
        </a:xfrm>
      </p:grpSpPr>
      <p:grpSp>
        <p:nvGrpSpPr>
          <p:cNvPr id="2" name="Group 2"/>
          <p:cNvGrpSpPr/>
          <p:nvPr/>
        </p:nvGrpSpPr>
        <p:grpSpPr>
          <a:xfrm>
            <a:off x="-282575" y="-361215"/>
            <a:ext cx="5394939" cy="11240574"/>
            <a:chOff x="0" y="0"/>
            <a:chExt cx="1420889" cy="2960480"/>
          </a:xfrm>
        </p:grpSpPr>
        <p:sp>
          <p:nvSpPr>
            <p:cNvPr id="3" name="Freeform 3"/>
            <p:cNvSpPr/>
            <p:nvPr/>
          </p:nvSpPr>
          <p:spPr>
            <a:xfrm>
              <a:off x="0" y="0"/>
              <a:ext cx="1420889" cy="2960480"/>
            </a:xfrm>
            <a:custGeom>
              <a:avLst/>
              <a:gdLst/>
              <a:ahLst/>
              <a:cxnLst/>
              <a:rect l="l" t="t" r="r" b="b"/>
              <a:pathLst>
                <a:path w="1420889" h="2960480">
                  <a:moveTo>
                    <a:pt x="0" y="0"/>
                  </a:moveTo>
                  <a:lnTo>
                    <a:pt x="1420889" y="0"/>
                  </a:lnTo>
                  <a:lnTo>
                    <a:pt x="1420889" y="2960480"/>
                  </a:lnTo>
                  <a:lnTo>
                    <a:pt x="0" y="2960480"/>
                  </a:lnTo>
                  <a:close/>
                </a:path>
              </a:pathLst>
            </a:custGeom>
            <a:solidFill>
              <a:srgbClr val="FDF4F4"/>
            </a:solidFill>
          </p:spPr>
        </p:sp>
        <p:sp>
          <p:nvSpPr>
            <p:cNvPr id="4" name="TextBox 4"/>
            <p:cNvSpPr txBox="1"/>
            <p:nvPr/>
          </p:nvSpPr>
          <p:spPr>
            <a:xfrm>
              <a:off x="0" y="-38100"/>
              <a:ext cx="1420889" cy="299858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387363" y="-361215"/>
            <a:ext cx="1529426" cy="2779830"/>
            <a:chOff x="0" y="0"/>
            <a:chExt cx="660400" cy="1200319"/>
          </a:xfrm>
        </p:grpSpPr>
        <p:sp>
          <p:nvSpPr>
            <p:cNvPr id="6" name="Freeform 6"/>
            <p:cNvSpPr/>
            <p:nvPr/>
          </p:nvSpPr>
          <p:spPr>
            <a:xfrm>
              <a:off x="0" y="0"/>
              <a:ext cx="660400" cy="1200319"/>
            </a:xfrm>
            <a:custGeom>
              <a:avLst/>
              <a:gdLst/>
              <a:ahLst/>
              <a:cxnLst/>
              <a:rect l="l" t="t" r="r" b="b"/>
              <a:pathLst>
                <a:path w="660400" h="1200319">
                  <a:moveTo>
                    <a:pt x="220252" y="1181250"/>
                  </a:moveTo>
                  <a:cubicBezTo>
                    <a:pt x="254109" y="1192764"/>
                    <a:pt x="292600" y="1200319"/>
                    <a:pt x="330378" y="1200319"/>
                  </a:cubicBezTo>
                  <a:cubicBezTo>
                    <a:pt x="368157" y="1200319"/>
                    <a:pt x="404509" y="1193842"/>
                    <a:pt x="438009" y="1182329"/>
                  </a:cubicBezTo>
                  <a:cubicBezTo>
                    <a:pt x="438723" y="1181969"/>
                    <a:pt x="439435" y="1181969"/>
                    <a:pt x="440148" y="1181610"/>
                  </a:cubicBezTo>
                  <a:cubicBezTo>
                    <a:pt x="565955" y="1135554"/>
                    <a:pt x="658618" y="1013941"/>
                    <a:pt x="660400" y="863209"/>
                  </a:cubicBezTo>
                  <a:lnTo>
                    <a:pt x="660400" y="0"/>
                  </a:lnTo>
                  <a:lnTo>
                    <a:pt x="0" y="0"/>
                  </a:lnTo>
                  <a:lnTo>
                    <a:pt x="0" y="862569"/>
                  </a:lnTo>
                  <a:cubicBezTo>
                    <a:pt x="1782" y="1014659"/>
                    <a:pt x="93019" y="1136275"/>
                    <a:pt x="220252" y="1181250"/>
                  </a:cubicBezTo>
                  <a:close/>
                </a:path>
              </a:pathLst>
            </a:custGeom>
            <a:solidFill>
              <a:srgbClr val="8D9677"/>
            </a:solidFill>
          </p:spPr>
        </p:sp>
        <p:sp>
          <p:nvSpPr>
            <p:cNvPr id="7" name="TextBox 7"/>
            <p:cNvSpPr txBox="1"/>
            <p:nvPr/>
          </p:nvSpPr>
          <p:spPr>
            <a:xfrm>
              <a:off x="0" y="-38100"/>
              <a:ext cx="660400" cy="1111419"/>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400050" y="664179"/>
            <a:ext cx="3987313" cy="2635250"/>
          </a:xfrm>
          <a:prstGeom prst="rect">
            <a:avLst/>
          </a:prstGeom>
        </p:spPr>
        <p:txBody>
          <a:bodyPr lIns="0" tIns="0" rIns="0" bIns="0" rtlCol="0" anchor="t">
            <a:spAutoFit/>
          </a:bodyPr>
          <a:lstStyle/>
          <a:p>
            <a:pPr marL="0" lvl="0" indent="0" algn="l">
              <a:lnSpc>
                <a:spcPts val="7000"/>
              </a:lnSpc>
              <a:spcBef>
                <a:spcPct val="0"/>
              </a:spcBef>
            </a:pPr>
            <a:r>
              <a:rPr lang="en-US" sz="5000">
                <a:solidFill>
                  <a:srgbClr val="6E7658"/>
                </a:solidFill>
                <a:latin typeface="Oswald"/>
                <a:ea typeface="Oswald"/>
                <a:cs typeface="Oswald"/>
                <a:sym typeface="Oswald"/>
              </a:rPr>
              <a:t>Example jhjh jhjh jhj hghg hgh jhhh hghghgghgh hg h</a:t>
            </a:r>
          </a:p>
        </p:txBody>
      </p:sp>
      <p:sp>
        <p:nvSpPr>
          <p:cNvPr id="9" name="Freeform 9"/>
          <p:cNvSpPr/>
          <p:nvPr/>
        </p:nvSpPr>
        <p:spPr>
          <a:xfrm flipH="1">
            <a:off x="15300942" y="7560782"/>
            <a:ext cx="3318577" cy="3318577"/>
          </a:xfrm>
          <a:custGeom>
            <a:avLst/>
            <a:gdLst/>
            <a:ahLst/>
            <a:cxnLst/>
            <a:rect l="l" t="t" r="r" b="b"/>
            <a:pathLst>
              <a:path w="3318577" h="3318577">
                <a:moveTo>
                  <a:pt x="3318577" y="0"/>
                </a:moveTo>
                <a:lnTo>
                  <a:pt x="0" y="0"/>
                </a:lnTo>
                <a:lnTo>
                  <a:pt x="0" y="3318577"/>
                </a:lnTo>
                <a:lnTo>
                  <a:pt x="3318577" y="3318577"/>
                </a:lnTo>
                <a:lnTo>
                  <a:pt x="3318577"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TextBox 10"/>
          <p:cNvSpPr txBox="1"/>
          <p:nvPr/>
        </p:nvSpPr>
        <p:spPr>
          <a:xfrm>
            <a:off x="6150148" y="5100254"/>
            <a:ext cx="10742436" cy="1077218"/>
          </a:xfrm>
          <a:prstGeom prst="rect">
            <a:avLst/>
          </a:prstGeom>
        </p:spPr>
        <p:txBody>
          <a:bodyPr lIns="0" tIns="0" rIns="0" bIns="0" rtlCol="0" anchor="t">
            <a:spAutoFit/>
          </a:bodyPr>
          <a:lstStyle/>
          <a:p>
            <a:pPr algn="l">
              <a:lnSpc>
                <a:spcPts val="4200"/>
              </a:lnSpc>
              <a:spcBef>
                <a:spcPct val="0"/>
              </a:spcBef>
            </a:pPr>
            <a:r>
              <a:rPr lang="en-US" sz="3000" dirty="0">
                <a:solidFill>
                  <a:srgbClr val="FDF4F4"/>
                </a:solidFill>
                <a:latin typeface="Roboto"/>
                <a:ea typeface="Roboto"/>
                <a:cs typeface="Roboto"/>
                <a:sym typeface="Roboto"/>
              </a:rPr>
              <a:t>Substitute into equation </a:t>
            </a:r>
            <a:r>
              <a:rPr lang="en-US" sz="3000" dirty="0" err="1">
                <a:solidFill>
                  <a:srgbClr val="FDF4F4"/>
                </a:solidFill>
                <a:latin typeface="Roboto"/>
                <a:ea typeface="Roboto"/>
                <a:cs typeface="Roboto"/>
                <a:sym typeface="Roboto"/>
              </a:rPr>
              <a:t>djfjfdjfhjdhfdjhfjdh</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fjdhfjhdjfh</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fdhjfhj</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fff</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fdjfdjfhdjhfjdhfj</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fhjdhfjdhfjdhfj</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fhjdhfjdhjfhdj</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hfjdhfjhdjfhdj</a:t>
            </a:r>
            <a:r>
              <a:rPr lang="en-US" sz="3000" dirty="0">
                <a:solidFill>
                  <a:srgbClr val="FDF4F4"/>
                </a:solidFill>
                <a:latin typeface="Roboto"/>
                <a:ea typeface="Roboto"/>
                <a:cs typeface="Roboto"/>
                <a:sym typeface="Roboto"/>
              </a:rPr>
              <a:t> </a:t>
            </a:r>
          </a:p>
        </p:txBody>
      </p:sp>
      <p:sp>
        <p:nvSpPr>
          <p:cNvPr id="11" name="TextBox 11"/>
          <p:cNvSpPr txBox="1"/>
          <p:nvPr/>
        </p:nvSpPr>
        <p:spPr>
          <a:xfrm>
            <a:off x="6150148" y="6703532"/>
            <a:ext cx="10742436" cy="1077218"/>
          </a:xfrm>
          <a:prstGeom prst="rect">
            <a:avLst/>
          </a:prstGeom>
        </p:spPr>
        <p:txBody>
          <a:bodyPr lIns="0" tIns="0" rIns="0" bIns="0" rtlCol="0" anchor="t">
            <a:spAutoFit/>
          </a:bodyPr>
          <a:lstStyle/>
          <a:p>
            <a:pPr algn="l">
              <a:lnSpc>
                <a:spcPts val="4200"/>
              </a:lnSpc>
              <a:spcBef>
                <a:spcPct val="0"/>
              </a:spcBef>
            </a:pPr>
            <a:r>
              <a:rPr lang="en-US" sz="3000" dirty="0">
                <a:solidFill>
                  <a:srgbClr val="FDF4F4"/>
                </a:solidFill>
                <a:latin typeface="Roboto"/>
                <a:ea typeface="Roboto"/>
                <a:cs typeface="Roboto"/>
                <a:sym typeface="Roboto"/>
              </a:rPr>
              <a:t>Solve the equation for y </a:t>
            </a:r>
            <a:r>
              <a:rPr lang="en-US" sz="3000" dirty="0" err="1">
                <a:solidFill>
                  <a:srgbClr val="FDF4F4"/>
                </a:solidFill>
                <a:latin typeface="Roboto"/>
                <a:ea typeface="Roboto"/>
                <a:cs typeface="Roboto"/>
                <a:sym typeface="Roboto"/>
              </a:rPr>
              <a:t>jhdjfhdjhfjdhf</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fhjdhfjdhfjdhfjfh</a:t>
            </a:r>
            <a:r>
              <a:rPr lang="en-US" sz="3000" dirty="0">
                <a:solidFill>
                  <a:srgbClr val="FDF4F4"/>
                </a:solidFill>
                <a:latin typeface="Roboto"/>
                <a:ea typeface="Roboto"/>
                <a:cs typeface="Roboto"/>
                <a:sym typeface="Roboto"/>
              </a:rPr>
              <a:t> </a:t>
            </a:r>
            <a:r>
              <a:rPr lang="en-US" sz="3000" dirty="0" err="1" smtClean="0">
                <a:solidFill>
                  <a:srgbClr val="FDF4F4"/>
                </a:solidFill>
                <a:latin typeface="Roboto"/>
                <a:ea typeface="Roboto"/>
                <a:cs typeface="Roboto"/>
                <a:sym typeface="Roboto"/>
              </a:rPr>
              <a:t>hjhj</a:t>
            </a:r>
            <a:r>
              <a:rPr lang="en-US" sz="3000" dirty="0" smtClean="0">
                <a:solidFill>
                  <a:srgbClr val="FDF4F4"/>
                </a:solidFill>
                <a:latin typeface="Roboto"/>
                <a:ea typeface="Roboto"/>
                <a:cs typeface="Roboto"/>
                <a:sym typeface="Roboto"/>
              </a:rPr>
              <a:t> </a:t>
            </a:r>
            <a:r>
              <a:rPr lang="en-US" sz="3000" dirty="0" err="1" smtClean="0">
                <a:solidFill>
                  <a:srgbClr val="FDF4F4"/>
                </a:solidFill>
                <a:latin typeface="Roboto"/>
                <a:ea typeface="Roboto"/>
                <a:cs typeface="Roboto"/>
                <a:sym typeface="Roboto"/>
              </a:rPr>
              <a:t>hj</a:t>
            </a:r>
            <a:r>
              <a:rPr lang="en-US" sz="3000" dirty="0" smtClean="0">
                <a:solidFill>
                  <a:srgbClr val="FDF4F4"/>
                </a:solidFill>
                <a:latin typeface="Roboto"/>
                <a:ea typeface="Roboto"/>
                <a:cs typeface="Roboto"/>
                <a:sym typeface="Roboto"/>
              </a:rPr>
              <a:t> </a:t>
            </a:r>
            <a:r>
              <a:rPr lang="en-US" sz="3000" dirty="0" err="1" smtClean="0">
                <a:solidFill>
                  <a:srgbClr val="FDF4F4"/>
                </a:solidFill>
                <a:latin typeface="Roboto"/>
                <a:ea typeface="Roboto"/>
                <a:cs typeface="Roboto"/>
                <a:sym typeface="Roboto"/>
              </a:rPr>
              <a:t>fhjdhfjdh</a:t>
            </a:r>
            <a:r>
              <a:rPr lang="en-US" sz="3000" dirty="0" smtClean="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fhdjfhjdhfdjhf</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hfjdhfhdjfh</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hfdjhfjdhjfh</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dfjhfjdhjfhjd</a:t>
            </a:r>
            <a:r>
              <a:rPr lang="en-US" sz="3000" dirty="0">
                <a:solidFill>
                  <a:srgbClr val="FDF4F4"/>
                </a:solidFill>
                <a:latin typeface="Roboto"/>
                <a:ea typeface="Roboto"/>
                <a:cs typeface="Roboto"/>
                <a:sym typeface="Roboto"/>
              </a:rPr>
              <a:t> </a:t>
            </a:r>
            <a:r>
              <a:rPr lang="en-US" sz="3000" dirty="0" smtClean="0">
                <a:solidFill>
                  <a:srgbClr val="FDF4F4"/>
                </a:solidFill>
                <a:latin typeface="Roboto"/>
                <a:ea typeface="Roboto"/>
                <a:cs typeface="Roboto"/>
                <a:sym typeface="Roboto"/>
              </a:rPr>
              <a:t>h</a:t>
            </a:r>
            <a:endParaRPr lang="en-US" sz="3000" dirty="0">
              <a:solidFill>
                <a:srgbClr val="FDF4F4"/>
              </a:solidFill>
              <a:latin typeface="Roboto"/>
              <a:ea typeface="Roboto"/>
              <a:cs typeface="Roboto"/>
              <a:sym typeface="Roboto"/>
            </a:endParaRPr>
          </a:p>
        </p:txBody>
      </p:sp>
      <p:sp>
        <p:nvSpPr>
          <p:cNvPr id="12" name="TextBox 12"/>
          <p:cNvSpPr txBox="1"/>
          <p:nvPr/>
        </p:nvSpPr>
        <p:spPr>
          <a:xfrm>
            <a:off x="6150148" y="904586"/>
            <a:ext cx="10742436" cy="2154436"/>
          </a:xfrm>
          <a:prstGeom prst="rect">
            <a:avLst/>
          </a:prstGeom>
        </p:spPr>
        <p:txBody>
          <a:bodyPr lIns="0" tIns="0" rIns="0" bIns="0" rtlCol="0" anchor="t">
            <a:spAutoFit/>
          </a:bodyPr>
          <a:lstStyle/>
          <a:p>
            <a:pPr algn="l">
              <a:lnSpc>
                <a:spcPts val="4200"/>
              </a:lnSpc>
            </a:pPr>
            <a:r>
              <a:rPr lang="en-US" sz="3000" dirty="0">
                <a:solidFill>
                  <a:srgbClr val="FDF4F4"/>
                </a:solidFill>
                <a:latin typeface="Roboto"/>
                <a:ea typeface="Roboto"/>
                <a:cs typeface="Roboto"/>
                <a:sym typeface="Roboto"/>
              </a:rPr>
              <a:t>Look for the same coefficient. Add if </a:t>
            </a:r>
            <a:r>
              <a:rPr lang="en-US" sz="3000" dirty="0" err="1">
                <a:solidFill>
                  <a:srgbClr val="FDF4F4"/>
                </a:solidFill>
                <a:latin typeface="Roboto"/>
                <a:ea typeface="Roboto"/>
                <a:cs typeface="Roboto"/>
                <a:sym typeface="Roboto"/>
              </a:rPr>
              <a:t>theyjhh</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hjhjhjh</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jhjhjh</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jh</a:t>
            </a:r>
            <a:r>
              <a:rPr lang="en-US" sz="3000" dirty="0">
                <a:solidFill>
                  <a:srgbClr val="FDF4F4"/>
                </a:solidFill>
                <a:latin typeface="Roboto"/>
                <a:ea typeface="Roboto"/>
                <a:cs typeface="Roboto"/>
                <a:sym typeface="Roboto"/>
              </a:rPr>
              <a:t> j h </a:t>
            </a:r>
            <a:r>
              <a:rPr lang="en-US" sz="3000" dirty="0" err="1">
                <a:solidFill>
                  <a:srgbClr val="FDF4F4"/>
                </a:solidFill>
                <a:latin typeface="Roboto"/>
                <a:ea typeface="Roboto"/>
                <a:cs typeface="Roboto"/>
                <a:sym typeface="Roboto"/>
              </a:rPr>
              <a:t>jhgh</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ghghg</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hghghghg</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hghghghgh</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ghghg</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hghghg</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hghghgh</a:t>
            </a:r>
            <a:r>
              <a:rPr lang="en-US" sz="3000" dirty="0">
                <a:solidFill>
                  <a:srgbClr val="FDF4F4"/>
                </a:solidFill>
                <a:latin typeface="Roboto"/>
                <a:ea typeface="Roboto"/>
                <a:cs typeface="Roboto"/>
                <a:sym typeface="Roboto"/>
              </a:rPr>
              <a:t> </a:t>
            </a:r>
            <a:r>
              <a:rPr lang="en-US" sz="3000" dirty="0" smtClean="0">
                <a:solidFill>
                  <a:srgbClr val="FDF4F4"/>
                </a:solidFill>
                <a:latin typeface="Roboto"/>
                <a:ea typeface="Roboto"/>
                <a:cs typeface="Roboto"/>
                <a:sym typeface="Roboto"/>
              </a:rPr>
              <a:t>k </a:t>
            </a:r>
            <a:r>
              <a:rPr lang="en-US" sz="3000" dirty="0" err="1" smtClean="0">
                <a:solidFill>
                  <a:srgbClr val="FDF4F4"/>
                </a:solidFill>
                <a:latin typeface="Roboto"/>
                <a:ea typeface="Roboto"/>
                <a:cs typeface="Roboto"/>
                <a:sym typeface="Roboto"/>
              </a:rPr>
              <a:t>ghgh</a:t>
            </a:r>
            <a:r>
              <a:rPr lang="en-US" sz="3000" dirty="0" smtClean="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ghg</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hghg</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jhjhjhjhjhjhjhjhjhjhjhjhjhjhjhjhjhjhjhjhjhjhjhj</a:t>
            </a:r>
            <a:r>
              <a:rPr lang="en-US" sz="3000" dirty="0">
                <a:solidFill>
                  <a:srgbClr val="FDF4F4"/>
                </a:solidFill>
                <a:latin typeface="Roboto"/>
                <a:ea typeface="Roboto"/>
                <a:cs typeface="Roboto"/>
                <a:sym typeface="Roboto"/>
              </a:rPr>
              <a:t> </a:t>
            </a:r>
            <a:r>
              <a:rPr lang="en-US" sz="3000" dirty="0" err="1" smtClean="0">
                <a:solidFill>
                  <a:srgbClr val="FDF4F4"/>
                </a:solidFill>
                <a:latin typeface="Roboto"/>
                <a:ea typeface="Roboto"/>
                <a:cs typeface="Roboto"/>
                <a:sym typeface="Roboto"/>
              </a:rPr>
              <a:t>jj</a:t>
            </a:r>
            <a:r>
              <a:rPr lang="en-US" sz="3000" dirty="0" smtClean="0">
                <a:solidFill>
                  <a:srgbClr val="FDF4F4"/>
                </a:solidFill>
                <a:latin typeface="Roboto"/>
                <a:ea typeface="Roboto"/>
                <a:cs typeface="Roboto"/>
                <a:sym typeface="Roboto"/>
              </a:rPr>
              <a:t> k </a:t>
            </a:r>
            <a:r>
              <a:rPr lang="en-US" sz="3000" dirty="0" err="1" smtClean="0">
                <a:solidFill>
                  <a:srgbClr val="FDF4F4"/>
                </a:solidFill>
                <a:latin typeface="Roboto"/>
                <a:ea typeface="Roboto"/>
                <a:cs typeface="Roboto"/>
                <a:sym typeface="Roboto"/>
              </a:rPr>
              <a:t>hjhjhjh</a:t>
            </a:r>
            <a:r>
              <a:rPr lang="en-US" sz="3000" dirty="0" smtClean="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jh</a:t>
            </a:r>
            <a:r>
              <a:rPr lang="en-US" sz="3000" dirty="0">
                <a:solidFill>
                  <a:srgbClr val="FDF4F4"/>
                </a:solidFill>
                <a:latin typeface="Roboto"/>
                <a:ea typeface="Roboto"/>
                <a:cs typeface="Roboto"/>
                <a:sym typeface="Roboto"/>
              </a:rPr>
              <a:t> h </a:t>
            </a:r>
            <a:r>
              <a:rPr lang="en-US" sz="3000" dirty="0" err="1">
                <a:solidFill>
                  <a:srgbClr val="FDF4F4"/>
                </a:solidFill>
                <a:latin typeface="Roboto"/>
                <a:ea typeface="Roboto"/>
                <a:cs typeface="Roboto"/>
                <a:sym typeface="Roboto"/>
              </a:rPr>
              <a:t>hjhjhjhjhhjhjhj</a:t>
            </a:r>
            <a:r>
              <a:rPr lang="en-US" sz="3000" dirty="0">
                <a:solidFill>
                  <a:srgbClr val="FDF4F4"/>
                </a:solidFill>
                <a:latin typeface="Roboto"/>
                <a:ea typeface="Roboto"/>
                <a:cs typeface="Roboto"/>
                <a:sym typeface="Roboto"/>
              </a:rPr>
              <a:t> </a:t>
            </a:r>
            <a:r>
              <a:rPr lang="en-US" sz="3000" dirty="0" err="1" smtClean="0">
                <a:solidFill>
                  <a:srgbClr val="FDF4F4"/>
                </a:solidFill>
                <a:latin typeface="Roboto"/>
                <a:ea typeface="Roboto"/>
                <a:cs typeface="Roboto"/>
                <a:sym typeface="Roboto"/>
              </a:rPr>
              <a:t>jhjhjhjhjh</a:t>
            </a:r>
            <a:r>
              <a:rPr lang="en-US" sz="3000" dirty="0" smtClean="0">
                <a:solidFill>
                  <a:srgbClr val="FDF4F4"/>
                </a:solidFill>
                <a:latin typeface="Roboto"/>
                <a:ea typeface="Roboto"/>
                <a:cs typeface="Roboto"/>
                <a:sym typeface="Roboto"/>
              </a:rPr>
              <a:t> </a:t>
            </a:r>
            <a:r>
              <a:rPr lang="en-US" sz="3000" dirty="0" err="1" smtClean="0">
                <a:solidFill>
                  <a:srgbClr val="FDF4F4"/>
                </a:solidFill>
                <a:latin typeface="Roboto"/>
                <a:ea typeface="Roboto"/>
                <a:cs typeface="Roboto"/>
                <a:sym typeface="Roboto"/>
              </a:rPr>
              <a:t>jhjhjhjhjhjh</a:t>
            </a:r>
            <a:r>
              <a:rPr lang="en-US" sz="3000" dirty="0" smtClean="0">
                <a:solidFill>
                  <a:srgbClr val="FDF4F4"/>
                </a:solidFill>
                <a:latin typeface="Roboto"/>
                <a:ea typeface="Roboto"/>
                <a:cs typeface="Roboto"/>
                <a:sym typeface="Roboto"/>
              </a:rPr>
              <a:t> </a:t>
            </a:r>
            <a:r>
              <a:rPr lang="en-US" sz="3000" dirty="0" err="1" smtClean="0">
                <a:solidFill>
                  <a:srgbClr val="FDF4F4"/>
                </a:solidFill>
                <a:latin typeface="Roboto"/>
                <a:ea typeface="Roboto"/>
                <a:cs typeface="Roboto"/>
                <a:sym typeface="Roboto"/>
              </a:rPr>
              <a:t>jhjhjhjhjhhh</a:t>
            </a:r>
            <a:r>
              <a:rPr lang="en-US" sz="3000" dirty="0" smtClean="0">
                <a:solidFill>
                  <a:srgbClr val="FDF4F4"/>
                </a:solidFill>
                <a:latin typeface="Roboto"/>
                <a:ea typeface="Roboto"/>
                <a:cs typeface="Roboto"/>
                <a:sym typeface="Roboto"/>
              </a:rPr>
              <a:t> </a:t>
            </a:r>
            <a:r>
              <a:rPr lang="en-US" sz="3000" dirty="0" err="1" smtClean="0">
                <a:solidFill>
                  <a:srgbClr val="FDF4F4"/>
                </a:solidFill>
                <a:latin typeface="Roboto"/>
                <a:ea typeface="Roboto"/>
                <a:cs typeface="Roboto"/>
                <a:sym typeface="Roboto"/>
              </a:rPr>
              <a:t>hh</a:t>
            </a:r>
            <a:endParaRPr lang="en-US" sz="3000" dirty="0">
              <a:solidFill>
                <a:srgbClr val="FDF4F4"/>
              </a:solidFill>
              <a:latin typeface="Roboto"/>
              <a:ea typeface="Roboto"/>
              <a:cs typeface="Roboto"/>
              <a:sym typeface="Roboto"/>
            </a:endParaRPr>
          </a:p>
        </p:txBody>
      </p:sp>
      <p:sp>
        <p:nvSpPr>
          <p:cNvPr id="14" name="Freeform 14"/>
          <p:cNvSpPr/>
          <p:nvPr/>
        </p:nvSpPr>
        <p:spPr>
          <a:xfrm>
            <a:off x="-1012619" y="8667984"/>
            <a:ext cx="5540639" cy="2337142"/>
          </a:xfrm>
          <a:custGeom>
            <a:avLst/>
            <a:gdLst/>
            <a:ahLst/>
            <a:cxnLst/>
            <a:rect l="l" t="t" r="r" b="b"/>
            <a:pathLst>
              <a:path w="5540639" h="2337142">
                <a:moveTo>
                  <a:pt x="0" y="0"/>
                </a:moveTo>
                <a:lnTo>
                  <a:pt x="5540638" y="0"/>
                </a:lnTo>
                <a:lnTo>
                  <a:pt x="5540638" y="2337142"/>
                </a:lnTo>
                <a:lnTo>
                  <a:pt x="0" y="2337142"/>
                </a:lnTo>
                <a:lnTo>
                  <a:pt x="0" y="0"/>
                </a:lnTo>
                <a:close/>
              </a:path>
            </a:pathLst>
          </a:custGeom>
          <a:blipFill>
            <a:blip r:embed="rId4">
              <a:extLst>
                <a:ext uri="{96DAC541-7B7A-43D3-8B79-37D633B846F1}">
                  <asvg:svgBlip xmlns:asvg="http://schemas.microsoft.com/office/drawing/2016/SVG/main" xmlns="" r:embed="rId7"/>
                </a:ext>
              </a:extLst>
            </a:blip>
            <a:stretch>
              <a:fillRect/>
            </a:stretch>
          </a:blipFill>
        </p:spPr>
      </p:sp>
      <p:sp>
        <p:nvSpPr>
          <p:cNvPr id="15" name="TextBox 15"/>
          <p:cNvSpPr txBox="1"/>
          <p:nvPr/>
        </p:nvSpPr>
        <p:spPr>
          <a:xfrm>
            <a:off x="6150148" y="8384547"/>
            <a:ext cx="10742436" cy="830111"/>
          </a:xfrm>
          <a:prstGeom prst="rect">
            <a:avLst/>
          </a:prstGeom>
        </p:spPr>
        <p:txBody>
          <a:bodyPr lIns="0" tIns="0" rIns="0" bIns="0" rtlCol="0" anchor="t">
            <a:spAutoFit/>
          </a:bodyPr>
          <a:lstStyle/>
          <a:p>
            <a:pPr algn="l">
              <a:lnSpc>
                <a:spcPts val="6745"/>
              </a:lnSpc>
              <a:spcBef>
                <a:spcPct val="0"/>
              </a:spcBef>
            </a:pPr>
            <a:r>
              <a:rPr lang="en-US" sz="4818" dirty="0">
                <a:solidFill>
                  <a:srgbClr val="FDF4F4"/>
                </a:solidFill>
                <a:latin typeface="Roboto"/>
                <a:ea typeface="Roboto"/>
                <a:cs typeface="Roboto"/>
                <a:sym typeface="Roboto"/>
              </a:rPr>
              <a:t>x = -1, y = 2 </a:t>
            </a:r>
            <a:r>
              <a:rPr lang="en-US" sz="4818" dirty="0" err="1">
                <a:solidFill>
                  <a:srgbClr val="FDF4F4"/>
                </a:solidFill>
                <a:latin typeface="Roboto"/>
                <a:ea typeface="Roboto"/>
                <a:cs typeface="Roboto"/>
                <a:sym typeface="Roboto"/>
              </a:rPr>
              <a:t>jkdfjdkfjdkjf</a:t>
            </a:r>
            <a:r>
              <a:rPr lang="en-US" sz="4818" dirty="0">
                <a:solidFill>
                  <a:srgbClr val="FDF4F4"/>
                </a:solidFill>
                <a:latin typeface="Roboto"/>
                <a:ea typeface="Roboto"/>
                <a:cs typeface="Roboto"/>
                <a:sym typeface="Roboto"/>
              </a:rPr>
              <a:t> </a:t>
            </a:r>
            <a:r>
              <a:rPr lang="en-US" sz="4818" dirty="0" err="1">
                <a:solidFill>
                  <a:srgbClr val="FDF4F4"/>
                </a:solidFill>
                <a:latin typeface="Roboto"/>
                <a:ea typeface="Roboto"/>
                <a:cs typeface="Roboto"/>
                <a:sym typeface="Roboto"/>
              </a:rPr>
              <a:t>kdfj</a:t>
            </a:r>
            <a:r>
              <a:rPr lang="en-US" sz="4818" dirty="0">
                <a:solidFill>
                  <a:srgbClr val="FDF4F4"/>
                </a:solidFill>
                <a:latin typeface="Roboto"/>
                <a:ea typeface="Roboto"/>
                <a:cs typeface="Roboto"/>
                <a:sym typeface="Roboto"/>
              </a:rPr>
              <a:t> </a:t>
            </a:r>
            <a:r>
              <a:rPr lang="en-US" sz="4818" dirty="0" err="1">
                <a:solidFill>
                  <a:srgbClr val="FDF4F4"/>
                </a:solidFill>
                <a:latin typeface="Roboto"/>
                <a:ea typeface="Roboto"/>
                <a:cs typeface="Roboto"/>
                <a:sym typeface="Roboto"/>
              </a:rPr>
              <a:t>jfkdjf</a:t>
            </a:r>
            <a:r>
              <a:rPr lang="en-US" sz="4818" dirty="0">
                <a:solidFill>
                  <a:srgbClr val="FDF4F4"/>
                </a:solidFill>
                <a:latin typeface="Roboto"/>
                <a:ea typeface="Roboto"/>
                <a:cs typeface="Roboto"/>
                <a:sym typeface="Roboto"/>
              </a:rPr>
              <a:t> </a:t>
            </a:r>
            <a:r>
              <a:rPr lang="en-US" sz="4818" dirty="0" err="1" smtClean="0">
                <a:solidFill>
                  <a:srgbClr val="FDF4F4"/>
                </a:solidFill>
                <a:latin typeface="Roboto"/>
                <a:ea typeface="Roboto"/>
                <a:cs typeface="Roboto"/>
                <a:sym typeface="Roboto"/>
              </a:rPr>
              <a:t>fjd</a:t>
            </a:r>
            <a:endParaRPr lang="en-US" sz="4818" dirty="0">
              <a:solidFill>
                <a:srgbClr val="FDF4F4"/>
              </a:solidFill>
              <a:latin typeface="Roboto"/>
              <a:ea typeface="Roboto"/>
              <a:cs typeface="Roboto"/>
              <a:sym typeface="Roboto"/>
            </a:endParaRPr>
          </a:p>
        </p:txBody>
      </p:sp>
      <p:sp>
        <p:nvSpPr>
          <p:cNvPr id="16" name="TextBox 16"/>
          <p:cNvSpPr txBox="1"/>
          <p:nvPr/>
        </p:nvSpPr>
        <p:spPr>
          <a:xfrm>
            <a:off x="6150148" y="3635680"/>
            <a:ext cx="10742436" cy="1077218"/>
          </a:xfrm>
          <a:prstGeom prst="rect">
            <a:avLst/>
          </a:prstGeom>
        </p:spPr>
        <p:txBody>
          <a:bodyPr lIns="0" tIns="0" rIns="0" bIns="0" rtlCol="0" anchor="t">
            <a:spAutoFit/>
          </a:bodyPr>
          <a:lstStyle/>
          <a:p>
            <a:pPr algn="l">
              <a:lnSpc>
                <a:spcPts val="4200"/>
              </a:lnSpc>
              <a:spcBef>
                <a:spcPct val="0"/>
              </a:spcBef>
            </a:pPr>
            <a:r>
              <a:rPr lang="en-US" sz="3000" dirty="0">
                <a:solidFill>
                  <a:srgbClr val="FDF4F4"/>
                </a:solidFill>
                <a:latin typeface="Roboto"/>
                <a:ea typeface="Roboto"/>
                <a:cs typeface="Roboto"/>
                <a:sym typeface="Roboto"/>
              </a:rPr>
              <a:t>The y variable has been eliminated, solve for x </a:t>
            </a:r>
            <a:r>
              <a:rPr lang="en-US" sz="3000" dirty="0" err="1">
                <a:solidFill>
                  <a:srgbClr val="FDF4F4"/>
                </a:solidFill>
                <a:latin typeface="Roboto"/>
                <a:ea typeface="Roboto"/>
                <a:cs typeface="Roboto"/>
                <a:sym typeface="Roboto"/>
              </a:rPr>
              <a:t>kdjfkdjf</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fjj</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fjjf</a:t>
            </a:r>
            <a:r>
              <a:rPr lang="en-US" sz="3000" dirty="0">
                <a:solidFill>
                  <a:srgbClr val="FDF4F4"/>
                </a:solidFill>
                <a:latin typeface="Roboto"/>
                <a:ea typeface="Roboto"/>
                <a:cs typeface="Roboto"/>
                <a:sym typeface="Roboto"/>
              </a:rPr>
              <a:t> f </a:t>
            </a:r>
            <a:r>
              <a:rPr lang="en-US" sz="3000" dirty="0" err="1">
                <a:solidFill>
                  <a:srgbClr val="FDF4F4"/>
                </a:solidFill>
                <a:latin typeface="Roboto"/>
                <a:ea typeface="Roboto"/>
                <a:cs typeface="Roboto"/>
                <a:sym typeface="Roboto"/>
              </a:rPr>
              <a:t>f</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jfkdjfkdjfk</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jjfjfjfjjfjfjfjjfjfjfjjfjfjjfjfjjfjjfjfjjfjfjjfjjfjfj</a:t>
            </a:r>
            <a:r>
              <a:rPr lang="en-US" sz="3000" dirty="0">
                <a:solidFill>
                  <a:srgbClr val="FDF4F4"/>
                </a:solidFill>
                <a:latin typeface="Roboto"/>
                <a:ea typeface="Roboto"/>
                <a:cs typeface="Roboto"/>
                <a:sym typeface="Roboto"/>
              </a:rPr>
              <a:t> </a:t>
            </a:r>
            <a:r>
              <a:rPr lang="en-US" sz="3000" dirty="0" err="1">
                <a:solidFill>
                  <a:srgbClr val="FDF4F4"/>
                </a:solidFill>
                <a:latin typeface="Roboto"/>
                <a:ea typeface="Roboto"/>
                <a:cs typeface="Roboto"/>
                <a:sym typeface="Roboto"/>
              </a:rPr>
              <a:t>fjjfjfjjfjfjjfjfjjf</a:t>
            </a:r>
            <a:r>
              <a:rPr lang="en-US" sz="3000" dirty="0">
                <a:solidFill>
                  <a:srgbClr val="FDF4F4"/>
                </a:solidFill>
                <a:latin typeface="Roboto"/>
                <a:ea typeface="Roboto"/>
                <a:cs typeface="Roboto"/>
                <a:sym typeface="Roboto"/>
              </a:rPr>
              <a:t> </a:t>
            </a:r>
            <a:r>
              <a:rPr lang="en-US" sz="3000" dirty="0" smtClean="0">
                <a:solidFill>
                  <a:srgbClr val="FDF4F4"/>
                </a:solidFill>
                <a:latin typeface="Roboto"/>
                <a:ea typeface="Roboto"/>
                <a:cs typeface="Roboto"/>
                <a:sym typeface="Roboto"/>
              </a:rPr>
              <a:t>f</a:t>
            </a:r>
            <a:endParaRPr lang="en-US" sz="3000" dirty="0">
              <a:solidFill>
                <a:srgbClr val="FDF4F4"/>
              </a:solidFill>
              <a:latin typeface="Roboto"/>
              <a:ea typeface="Roboto"/>
              <a:cs typeface="Roboto"/>
              <a:sym typeface="Roboto"/>
            </a:endParaRPr>
          </a:p>
        </p:txBody>
      </p:sp>
      <p:pic>
        <p:nvPicPr>
          <p:cNvPr id="17" name="Picture 1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86000" y="3949191"/>
            <a:ext cx="6931753" cy="445656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p:cNvGrpSpPr/>
        <p:nvPr/>
      </p:nvGrpSpPr>
      <p:grpSpPr>
        <a:xfrm>
          <a:off x="0" y="0"/>
          <a:ext cx="0" cy="0"/>
          <a:chOff x="0" y="0"/>
          <a:chExt cx="0" cy="0"/>
        </a:xfrm>
      </p:grpSpPr>
      <p:sp>
        <p:nvSpPr>
          <p:cNvPr id="2" name="Freeform 2" descr="Acid Graphic Elements square Grid"/>
          <p:cNvSpPr/>
          <p:nvPr/>
        </p:nvSpPr>
        <p:spPr>
          <a:xfrm>
            <a:off x="16878300" y="5143500"/>
            <a:ext cx="5752051" cy="5752051"/>
          </a:xfrm>
          <a:custGeom>
            <a:avLst/>
            <a:gdLst/>
            <a:ahLst/>
            <a:cxnLst/>
            <a:rect l="l" t="t" r="r" b="b"/>
            <a:pathLst>
              <a:path w="5752051" h="5752051">
                <a:moveTo>
                  <a:pt x="0" y="0"/>
                </a:moveTo>
                <a:lnTo>
                  <a:pt x="5752051" y="0"/>
                </a:lnTo>
                <a:lnTo>
                  <a:pt x="5752051" y="5752051"/>
                </a:lnTo>
                <a:lnTo>
                  <a:pt x="0" y="575205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descr="Geometric Memphis Design"/>
          <p:cNvSpPr/>
          <p:nvPr/>
        </p:nvSpPr>
        <p:spPr>
          <a:xfrm>
            <a:off x="-1768132" y="421130"/>
            <a:ext cx="3408343" cy="3086100"/>
          </a:xfrm>
          <a:custGeom>
            <a:avLst/>
            <a:gdLst/>
            <a:ahLst/>
            <a:cxnLst/>
            <a:rect l="l" t="t" r="r" b="b"/>
            <a:pathLst>
              <a:path w="3408343" h="3086100">
                <a:moveTo>
                  <a:pt x="0" y="0"/>
                </a:moveTo>
                <a:lnTo>
                  <a:pt x="3408344" y="0"/>
                </a:lnTo>
                <a:lnTo>
                  <a:pt x="3408344" y="3086100"/>
                </a:lnTo>
                <a:lnTo>
                  <a:pt x="0" y="30861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4" name="Group 4"/>
          <p:cNvGrpSpPr/>
          <p:nvPr/>
        </p:nvGrpSpPr>
        <p:grpSpPr>
          <a:xfrm>
            <a:off x="-12700" y="3877979"/>
            <a:ext cx="18300700" cy="6409021"/>
            <a:chOff x="0" y="0"/>
            <a:chExt cx="4819937" cy="1687973"/>
          </a:xfrm>
        </p:grpSpPr>
        <p:sp>
          <p:nvSpPr>
            <p:cNvPr id="5" name="Freeform 5"/>
            <p:cNvSpPr/>
            <p:nvPr/>
          </p:nvSpPr>
          <p:spPr>
            <a:xfrm>
              <a:off x="0" y="0"/>
              <a:ext cx="4819938" cy="1687973"/>
            </a:xfrm>
            <a:custGeom>
              <a:avLst/>
              <a:gdLst/>
              <a:ahLst/>
              <a:cxnLst/>
              <a:rect l="l" t="t" r="r" b="b"/>
              <a:pathLst>
                <a:path w="4819938" h="1687973">
                  <a:moveTo>
                    <a:pt x="0" y="0"/>
                  </a:moveTo>
                  <a:lnTo>
                    <a:pt x="4819938" y="0"/>
                  </a:lnTo>
                  <a:lnTo>
                    <a:pt x="4819938" y="1687973"/>
                  </a:lnTo>
                  <a:lnTo>
                    <a:pt x="0" y="1687973"/>
                  </a:lnTo>
                  <a:close/>
                </a:path>
              </a:pathLst>
            </a:custGeom>
            <a:solidFill>
              <a:srgbClr val="565D41"/>
            </a:solidFill>
          </p:spPr>
        </p:sp>
        <p:sp>
          <p:nvSpPr>
            <p:cNvPr id="6" name="TextBox 6"/>
            <p:cNvSpPr txBox="1"/>
            <p:nvPr/>
          </p:nvSpPr>
          <p:spPr>
            <a:xfrm>
              <a:off x="0" y="-66675"/>
              <a:ext cx="4819937" cy="1754648"/>
            </a:xfrm>
            <a:prstGeom prst="rect">
              <a:avLst/>
            </a:prstGeom>
          </p:spPr>
          <p:txBody>
            <a:bodyPr lIns="50800" tIns="50800" rIns="50800" bIns="50800" rtlCol="0" anchor="ctr"/>
            <a:lstStyle/>
            <a:p>
              <a:pPr algn="ctr">
                <a:lnSpc>
                  <a:spcPts val="3150"/>
                </a:lnSpc>
              </a:pPr>
              <a:endParaRPr/>
            </a:p>
          </p:txBody>
        </p:sp>
      </p:grpSp>
      <p:sp>
        <p:nvSpPr>
          <p:cNvPr id="7" name="TextBox 7"/>
          <p:cNvSpPr txBox="1"/>
          <p:nvPr/>
        </p:nvSpPr>
        <p:spPr>
          <a:xfrm>
            <a:off x="2215602" y="1123950"/>
            <a:ext cx="13844095" cy="906780"/>
          </a:xfrm>
          <a:prstGeom prst="rect">
            <a:avLst/>
          </a:prstGeom>
        </p:spPr>
        <p:txBody>
          <a:bodyPr lIns="0" tIns="0" rIns="0" bIns="0" rtlCol="0" anchor="t">
            <a:spAutoFit/>
          </a:bodyPr>
          <a:lstStyle/>
          <a:p>
            <a:pPr marL="0" lvl="0" indent="0" algn="ctr">
              <a:lnSpc>
                <a:spcPts val="6930"/>
              </a:lnSpc>
            </a:pPr>
            <a:r>
              <a:rPr lang="en-US" sz="6600">
                <a:solidFill>
                  <a:srgbClr val="FDF4F4"/>
                </a:solidFill>
                <a:latin typeface="Oswald"/>
                <a:ea typeface="Oswald"/>
                <a:cs typeface="Oswald"/>
                <a:sym typeface="Oswald"/>
              </a:rPr>
              <a:t>Practice Questions jhjhjh jhjh jhjh jhjh jhj jhh</a:t>
            </a:r>
          </a:p>
        </p:txBody>
      </p:sp>
      <p:sp>
        <p:nvSpPr>
          <p:cNvPr id="8" name="TextBox 8"/>
          <p:cNvSpPr txBox="1"/>
          <p:nvPr/>
        </p:nvSpPr>
        <p:spPr>
          <a:xfrm>
            <a:off x="1383037" y="5095875"/>
            <a:ext cx="6461944" cy="1298575"/>
          </a:xfrm>
          <a:prstGeom prst="rect">
            <a:avLst/>
          </a:prstGeom>
        </p:spPr>
        <p:txBody>
          <a:bodyPr lIns="0" tIns="0" rIns="0" bIns="0" rtlCol="0" anchor="t">
            <a:spAutoFit/>
          </a:bodyPr>
          <a:lstStyle/>
          <a:p>
            <a:pPr marL="0" lvl="0" indent="0" algn="l">
              <a:lnSpc>
                <a:spcPts val="3499"/>
              </a:lnSpc>
            </a:pPr>
            <a:r>
              <a:rPr lang="en-US" sz="2499">
                <a:solidFill>
                  <a:srgbClr val="FDF4F4"/>
                </a:solidFill>
                <a:latin typeface="Roboto"/>
                <a:ea typeface="Roboto"/>
                <a:cs typeface="Roboto"/>
                <a:sym typeface="Roboto"/>
              </a:rPr>
              <a:t>hhhhhh fjdhfjdh jfhjdhf ff fdf ffd f fdfjdjfkdjdfd fjdkjfk fjfjfj fjjf f ffjkdfjkdjf fjkdfjkd fjjfjf fjf fdfd ffdfdff fdfdf fdf fdfdf dfd fd fdf df fd fdfdfdf fd</a:t>
            </a:r>
          </a:p>
        </p:txBody>
      </p:sp>
      <p:sp>
        <p:nvSpPr>
          <p:cNvPr id="9" name="TextBox 9"/>
          <p:cNvSpPr txBox="1"/>
          <p:nvPr/>
        </p:nvSpPr>
        <p:spPr>
          <a:xfrm>
            <a:off x="10416356" y="5095875"/>
            <a:ext cx="6461944" cy="1298575"/>
          </a:xfrm>
          <a:prstGeom prst="rect">
            <a:avLst/>
          </a:prstGeom>
        </p:spPr>
        <p:txBody>
          <a:bodyPr lIns="0" tIns="0" rIns="0" bIns="0" rtlCol="0" anchor="t">
            <a:spAutoFit/>
          </a:bodyPr>
          <a:lstStyle/>
          <a:p>
            <a:pPr marL="0" lvl="0" indent="0" algn="l">
              <a:lnSpc>
                <a:spcPts val="3499"/>
              </a:lnSpc>
            </a:pPr>
            <a:r>
              <a:rPr lang="en-US" sz="2499">
                <a:solidFill>
                  <a:srgbClr val="FDF4F4"/>
                </a:solidFill>
                <a:latin typeface="Roboto"/>
                <a:ea typeface="Roboto"/>
                <a:cs typeface="Roboto"/>
                <a:sym typeface="Roboto"/>
              </a:rPr>
              <a:t>hhhhhh fjdhfjdh jfhjdhf ff fdf ffd f fdfjdjfkdjdfd fjdkjfk fjfjfj fjjf f ffjkdfjkdjf fjkdfjkd fjjfjf fjf fdfd ffdfdff fdfdf fdf fdfdf dfd fd fdf df fd fdfdfdf fd</a:t>
            </a:r>
          </a:p>
        </p:txBody>
      </p:sp>
      <p:sp>
        <p:nvSpPr>
          <p:cNvPr id="10" name="TextBox 10"/>
          <p:cNvSpPr txBox="1"/>
          <p:nvPr/>
        </p:nvSpPr>
        <p:spPr>
          <a:xfrm>
            <a:off x="10416356" y="7127875"/>
            <a:ext cx="6461944" cy="1298575"/>
          </a:xfrm>
          <a:prstGeom prst="rect">
            <a:avLst/>
          </a:prstGeom>
        </p:spPr>
        <p:txBody>
          <a:bodyPr lIns="0" tIns="0" rIns="0" bIns="0" rtlCol="0" anchor="t">
            <a:spAutoFit/>
          </a:bodyPr>
          <a:lstStyle/>
          <a:p>
            <a:pPr marL="0" lvl="0" indent="0" algn="l">
              <a:lnSpc>
                <a:spcPts val="3499"/>
              </a:lnSpc>
            </a:pPr>
            <a:r>
              <a:rPr lang="en-US" sz="2499">
                <a:solidFill>
                  <a:srgbClr val="FDF4F4"/>
                </a:solidFill>
                <a:latin typeface="Roboto"/>
                <a:ea typeface="Roboto"/>
                <a:cs typeface="Roboto"/>
                <a:sym typeface="Roboto"/>
              </a:rPr>
              <a:t>hhhhhh fjdhfjdh jfhjdhf ff fdf ffd f fdfjdjfkdjdfd fjdkjfk fjfjfj fjjf f ffjkdfjkdjf fjkdfjkd fjjfjf fjf fdfd ffdfdff fdfdf fdf fdfdf dfd fd fdf df fd fdfdfdf fd</a:t>
            </a:r>
          </a:p>
        </p:txBody>
      </p:sp>
      <p:sp>
        <p:nvSpPr>
          <p:cNvPr id="11" name="TextBox 11"/>
          <p:cNvSpPr txBox="1"/>
          <p:nvPr/>
        </p:nvSpPr>
        <p:spPr>
          <a:xfrm>
            <a:off x="1383037" y="7127875"/>
            <a:ext cx="6461944" cy="1298575"/>
          </a:xfrm>
          <a:prstGeom prst="rect">
            <a:avLst/>
          </a:prstGeom>
        </p:spPr>
        <p:txBody>
          <a:bodyPr lIns="0" tIns="0" rIns="0" bIns="0" rtlCol="0" anchor="t">
            <a:spAutoFit/>
          </a:bodyPr>
          <a:lstStyle/>
          <a:p>
            <a:pPr marL="0" lvl="0" indent="0" algn="l">
              <a:lnSpc>
                <a:spcPts val="3499"/>
              </a:lnSpc>
            </a:pPr>
            <a:r>
              <a:rPr lang="en-US" sz="2499">
                <a:solidFill>
                  <a:srgbClr val="FDF4F4"/>
                </a:solidFill>
                <a:latin typeface="Roboto"/>
                <a:ea typeface="Roboto"/>
                <a:cs typeface="Roboto"/>
                <a:sym typeface="Roboto"/>
              </a:rPr>
              <a:t>hhhhhh fjdhfjdh jfhjdhf ff fdf ffd f fdfjdjfkdjdfd fjdkjfk fjfjfj fjjf f ffjkdfjkdjf fjkdfjkd fjjfjf fjf fdfd ffdfdff fdfdf fdf fdfdf dfd fd fdf df fd fdfdfdf fd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p:cNvGrpSpPr/>
        <p:nvPr/>
      </p:nvGrpSpPr>
      <p:grpSpPr>
        <a:xfrm>
          <a:off x="0" y="0"/>
          <a:ext cx="0" cy="0"/>
          <a:chOff x="0" y="0"/>
          <a:chExt cx="0" cy="0"/>
        </a:xfrm>
      </p:grpSpPr>
      <p:sp>
        <p:nvSpPr>
          <p:cNvPr id="2" name="Freeform 2" descr="Acid Graphic Elements square Grid"/>
          <p:cNvSpPr/>
          <p:nvPr/>
        </p:nvSpPr>
        <p:spPr>
          <a:xfrm>
            <a:off x="16878300" y="5143500"/>
            <a:ext cx="5752051" cy="5752051"/>
          </a:xfrm>
          <a:custGeom>
            <a:avLst/>
            <a:gdLst/>
            <a:ahLst/>
            <a:cxnLst/>
            <a:rect l="l" t="t" r="r" b="b"/>
            <a:pathLst>
              <a:path w="5752051" h="5752051">
                <a:moveTo>
                  <a:pt x="0" y="0"/>
                </a:moveTo>
                <a:lnTo>
                  <a:pt x="5752051" y="0"/>
                </a:lnTo>
                <a:lnTo>
                  <a:pt x="5752051" y="5752051"/>
                </a:lnTo>
                <a:lnTo>
                  <a:pt x="0" y="575205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descr="Geometric Memphis Design"/>
          <p:cNvSpPr/>
          <p:nvPr/>
        </p:nvSpPr>
        <p:spPr>
          <a:xfrm>
            <a:off x="-1768132" y="421130"/>
            <a:ext cx="3408343" cy="3086100"/>
          </a:xfrm>
          <a:custGeom>
            <a:avLst/>
            <a:gdLst/>
            <a:ahLst/>
            <a:cxnLst/>
            <a:rect l="l" t="t" r="r" b="b"/>
            <a:pathLst>
              <a:path w="3408343" h="3086100">
                <a:moveTo>
                  <a:pt x="0" y="0"/>
                </a:moveTo>
                <a:lnTo>
                  <a:pt x="3408344" y="0"/>
                </a:lnTo>
                <a:lnTo>
                  <a:pt x="3408344" y="3086100"/>
                </a:lnTo>
                <a:lnTo>
                  <a:pt x="0" y="30861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4" name="Group 4"/>
          <p:cNvGrpSpPr/>
          <p:nvPr/>
        </p:nvGrpSpPr>
        <p:grpSpPr>
          <a:xfrm>
            <a:off x="-12701" y="3877979"/>
            <a:ext cx="18300700" cy="6409021"/>
            <a:chOff x="0" y="0"/>
            <a:chExt cx="4819937" cy="1687973"/>
          </a:xfrm>
        </p:grpSpPr>
        <p:sp>
          <p:nvSpPr>
            <p:cNvPr id="5" name="Freeform 5"/>
            <p:cNvSpPr/>
            <p:nvPr/>
          </p:nvSpPr>
          <p:spPr>
            <a:xfrm>
              <a:off x="0" y="0"/>
              <a:ext cx="4819938" cy="1687973"/>
            </a:xfrm>
            <a:custGeom>
              <a:avLst/>
              <a:gdLst/>
              <a:ahLst/>
              <a:cxnLst/>
              <a:rect l="l" t="t" r="r" b="b"/>
              <a:pathLst>
                <a:path w="4819938" h="1687973">
                  <a:moveTo>
                    <a:pt x="0" y="0"/>
                  </a:moveTo>
                  <a:lnTo>
                    <a:pt x="4819938" y="0"/>
                  </a:lnTo>
                  <a:lnTo>
                    <a:pt x="4819938" y="1687973"/>
                  </a:lnTo>
                  <a:lnTo>
                    <a:pt x="0" y="1687973"/>
                  </a:lnTo>
                  <a:close/>
                </a:path>
              </a:pathLst>
            </a:custGeom>
            <a:solidFill>
              <a:srgbClr val="565D41"/>
            </a:solidFill>
          </p:spPr>
        </p:sp>
        <p:sp>
          <p:nvSpPr>
            <p:cNvPr id="6" name="TextBox 6"/>
            <p:cNvSpPr txBox="1"/>
            <p:nvPr/>
          </p:nvSpPr>
          <p:spPr>
            <a:xfrm>
              <a:off x="0" y="-66675"/>
              <a:ext cx="4819937" cy="1754648"/>
            </a:xfrm>
            <a:prstGeom prst="rect">
              <a:avLst/>
            </a:prstGeom>
          </p:spPr>
          <p:txBody>
            <a:bodyPr lIns="50800" tIns="50800" rIns="50800" bIns="50800" rtlCol="0" anchor="ctr"/>
            <a:lstStyle/>
            <a:p>
              <a:pPr algn="ctr">
                <a:lnSpc>
                  <a:spcPts val="3150"/>
                </a:lnSpc>
              </a:pPr>
              <a:endParaRPr/>
            </a:p>
          </p:txBody>
        </p:sp>
      </p:grpSp>
      <p:sp>
        <p:nvSpPr>
          <p:cNvPr id="7" name="TextBox 7"/>
          <p:cNvSpPr txBox="1"/>
          <p:nvPr/>
        </p:nvSpPr>
        <p:spPr>
          <a:xfrm>
            <a:off x="2215602" y="1123950"/>
            <a:ext cx="13844095" cy="906780"/>
          </a:xfrm>
          <a:prstGeom prst="rect">
            <a:avLst/>
          </a:prstGeom>
        </p:spPr>
        <p:txBody>
          <a:bodyPr lIns="0" tIns="0" rIns="0" bIns="0" rtlCol="0" anchor="t">
            <a:spAutoFit/>
          </a:bodyPr>
          <a:lstStyle/>
          <a:p>
            <a:pPr marL="0" lvl="0" indent="0" algn="ctr">
              <a:lnSpc>
                <a:spcPts val="6930"/>
              </a:lnSpc>
            </a:pPr>
            <a:r>
              <a:rPr lang="en-US" sz="6600" dirty="0">
                <a:solidFill>
                  <a:srgbClr val="FDF4F4"/>
                </a:solidFill>
                <a:latin typeface="Oswald"/>
                <a:ea typeface="Oswald"/>
                <a:cs typeface="Oswald"/>
                <a:sym typeface="Oswald"/>
              </a:rPr>
              <a:t>Practice Questions </a:t>
            </a:r>
            <a:r>
              <a:rPr lang="en-US" sz="6600" dirty="0" err="1">
                <a:solidFill>
                  <a:srgbClr val="FDF4F4"/>
                </a:solidFill>
                <a:latin typeface="Oswald"/>
                <a:ea typeface="Oswald"/>
                <a:cs typeface="Oswald"/>
                <a:sym typeface="Oswald"/>
              </a:rPr>
              <a:t>jhjhjh</a:t>
            </a:r>
            <a:r>
              <a:rPr lang="en-US" sz="6600" dirty="0">
                <a:solidFill>
                  <a:srgbClr val="FDF4F4"/>
                </a:solidFill>
                <a:latin typeface="Oswald"/>
                <a:ea typeface="Oswald"/>
                <a:cs typeface="Oswald"/>
                <a:sym typeface="Oswald"/>
              </a:rPr>
              <a:t> </a:t>
            </a:r>
            <a:r>
              <a:rPr lang="en-US" sz="6600" dirty="0" err="1">
                <a:solidFill>
                  <a:srgbClr val="FDF4F4"/>
                </a:solidFill>
                <a:latin typeface="Oswald"/>
                <a:ea typeface="Oswald"/>
                <a:cs typeface="Oswald"/>
                <a:sym typeface="Oswald"/>
              </a:rPr>
              <a:t>jhjh</a:t>
            </a:r>
            <a:r>
              <a:rPr lang="en-US" sz="6600" dirty="0">
                <a:solidFill>
                  <a:srgbClr val="FDF4F4"/>
                </a:solidFill>
                <a:latin typeface="Oswald"/>
                <a:ea typeface="Oswald"/>
                <a:cs typeface="Oswald"/>
                <a:sym typeface="Oswald"/>
              </a:rPr>
              <a:t> </a:t>
            </a:r>
            <a:r>
              <a:rPr lang="en-US" sz="6600" dirty="0" err="1">
                <a:solidFill>
                  <a:srgbClr val="FDF4F4"/>
                </a:solidFill>
                <a:latin typeface="Oswald"/>
                <a:ea typeface="Oswald"/>
                <a:cs typeface="Oswald"/>
                <a:sym typeface="Oswald"/>
              </a:rPr>
              <a:t>jhjh</a:t>
            </a:r>
            <a:r>
              <a:rPr lang="en-US" sz="6600" dirty="0">
                <a:solidFill>
                  <a:srgbClr val="FDF4F4"/>
                </a:solidFill>
                <a:latin typeface="Oswald"/>
                <a:ea typeface="Oswald"/>
                <a:cs typeface="Oswald"/>
                <a:sym typeface="Oswald"/>
              </a:rPr>
              <a:t> </a:t>
            </a:r>
            <a:r>
              <a:rPr lang="en-US" sz="6600" dirty="0" err="1">
                <a:solidFill>
                  <a:srgbClr val="FDF4F4"/>
                </a:solidFill>
                <a:latin typeface="Oswald"/>
                <a:ea typeface="Oswald"/>
                <a:cs typeface="Oswald"/>
                <a:sym typeface="Oswald"/>
              </a:rPr>
              <a:t>jhjh</a:t>
            </a:r>
            <a:r>
              <a:rPr lang="en-US" sz="6600" dirty="0">
                <a:solidFill>
                  <a:srgbClr val="FDF4F4"/>
                </a:solidFill>
                <a:latin typeface="Oswald"/>
                <a:ea typeface="Oswald"/>
                <a:cs typeface="Oswald"/>
                <a:sym typeface="Oswald"/>
              </a:rPr>
              <a:t> </a:t>
            </a:r>
            <a:r>
              <a:rPr lang="en-US" sz="6600" dirty="0" err="1">
                <a:solidFill>
                  <a:srgbClr val="FDF4F4"/>
                </a:solidFill>
                <a:latin typeface="Oswald"/>
                <a:ea typeface="Oswald"/>
                <a:cs typeface="Oswald"/>
                <a:sym typeface="Oswald"/>
              </a:rPr>
              <a:t>jhj</a:t>
            </a:r>
            <a:r>
              <a:rPr lang="en-US" sz="6600" dirty="0">
                <a:solidFill>
                  <a:srgbClr val="FDF4F4"/>
                </a:solidFill>
                <a:latin typeface="Oswald"/>
                <a:ea typeface="Oswald"/>
                <a:cs typeface="Oswald"/>
                <a:sym typeface="Oswald"/>
              </a:rPr>
              <a:t> </a:t>
            </a:r>
            <a:r>
              <a:rPr lang="en-US" sz="6600" dirty="0" err="1">
                <a:solidFill>
                  <a:srgbClr val="FDF4F4"/>
                </a:solidFill>
                <a:latin typeface="Oswald"/>
                <a:ea typeface="Oswald"/>
                <a:cs typeface="Oswald"/>
                <a:sym typeface="Oswald"/>
              </a:rPr>
              <a:t>jhh</a:t>
            </a:r>
            <a:endParaRPr lang="en-US" sz="6600" dirty="0">
              <a:solidFill>
                <a:srgbClr val="FDF4F4"/>
              </a:solidFill>
              <a:latin typeface="Oswald"/>
              <a:ea typeface="Oswald"/>
              <a:cs typeface="Oswald"/>
              <a:sym typeface="Oswald"/>
            </a:endParaRPr>
          </a:p>
        </p:txBody>
      </p:sp>
      <p:sp>
        <p:nvSpPr>
          <p:cNvPr id="8" name="TextBox 8"/>
          <p:cNvSpPr txBox="1"/>
          <p:nvPr/>
        </p:nvSpPr>
        <p:spPr>
          <a:xfrm>
            <a:off x="1383037" y="5095875"/>
            <a:ext cx="6461944" cy="1298575"/>
          </a:xfrm>
          <a:prstGeom prst="rect">
            <a:avLst/>
          </a:prstGeom>
        </p:spPr>
        <p:txBody>
          <a:bodyPr lIns="0" tIns="0" rIns="0" bIns="0" rtlCol="0" anchor="t">
            <a:spAutoFit/>
          </a:bodyPr>
          <a:lstStyle/>
          <a:p>
            <a:pPr marL="0" lvl="0" indent="0" algn="l">
              <a:lnSpc>
                <a:spcPts val="3499"/>
              </a:lnSpc>
            </a:pPr>
            <a:r>
              <a:rPr lang="en-US" sz="2499" dirty="0" err="1">
                <a:solidFill>
                  <a:srgbClr val="FDF4F4"/>
                </a:solidFill>
                <a:latin typeface="Roboto"/>
                <a:ea typeface="Roboto"/>
                <a:cs typeface="Roboto"/>
                <a:sym typeface="Roboto"/>
              </a:rPr>
              <a:t>hhhhhh</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fjdhfjdh</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jfhjdhf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ffd</a:t>
            </a:r>
            <a:r>
              <a:rPr lang="en-US" sz="2499" dirty="0">
                <a:solidFill>
                  <a:srgbClr val="FDF4F4"/>
                </a:solidFill>
                <a:latin typeface="Roboto"/>
                <a:ea typeface="Roboto"/>
                <a:cs typeface="Roboto"/>
                <a:sym typeface="Roboto"/>
              </a:rPr>
              <a:t> f </a:t>
            </a:r>
            <a:r>
              <a:rPr lang="en-US" sz="2499" dirty="0" err="1">
                <a:solidFill>
                  <a:srgbClr val="FDF4F4"/>
                </a:solidFill>
                <a:latin typeface="Roboto"/>
                <a:ea typeface="Roboto"/>
                <a:cs typeface="Roboto"/>
                <a:sym typeface="Roboto"/>
              </a:rPr>
              <a:t>fdfjdjfkdjdfd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fjdkjfk</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fjfjfj</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fjjf</a:t>
            </a:r>
            <a:r>
              <a:rPr lang="en-US" sz="2499" dirty="0">
                <a:solidFill>
                  <a:srgbClr val="FDF4F4"/>
                </a:solidFill>
                <a:latin typeface="Roboto"/>
                <a:ea typeface="Roboto"/>
                <a:cs typeface="Roboto"/>
                <a:sym typeface="Roboto"/>
              </a:rPr>
              <a:t> f </a:t>
            </a:r>
            <a:r>
              <a:rPr lang="en-US" sz="2499" dirty="0" err="1">
                <a:solidFill>
                  <a:srgbClr val="FDF4F4"/>
                </a:solidFill>
                <a:latin typeface="Roboto"/>
                <a:ea typeface="Roboto"/>
                <a:cs typeface="Roboto"/>
                <a:sym typeface="Roboto"/>
              </a:rPr>
              <a:t>ffjkdfjkdjf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fjkdfjkd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fjjfjf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ffdfdff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dfd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fdfdfdf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a:t>
            </a:r>
            <a:endParaRPr lang="en-US" sz="2499" dirty="0">
              <a:solidFill>
                <a:srgbClr val="FDF4F4"/>
              </a:solidFill>
              <a:latin typeface="Roboto"/>
              <a:ea typeface="Roboto"/>
              <a:cs typeface="Roboto"/>
              <a:sym typeface="Roboto"/>
            </a:endParaRPr>
          </a:p>
        </p:txBody>
      </p:sp>
      <p:sp>
        <p:nvSpPr>
          <p:cNvPr id="11" name="TextBox 11"/>
          <p:cNvSpPr txBox="1"/>
          <p:nvPr/>
        </p:nvSpPr>
        <p:spPr>
          <a:xfrm>
            <a:off x="1383037" y="7127875"/>
            <a:ext cx="6461944" cy="1298575"/>
          </a:xfrm>
          <a:prstGeom prst="rect">
            <a:avLst/>
          </a:prstGeom>
        </p:spPr>
        <p:txBody>
          <a:bodyPr lIns="0" tIns="0" rIns="0" bIns="0" rtlCol="0" anchor="t">
            <a:spAutoFit/>
          </a:bodyPr>
          <a:lstStyle/>
          <a:p>
            <a:pPr marL="0" lvl="0" indent="0" algn="l">
              <a:lnSpc>
                <a:spcPts val="3499"/>
              </a:lnSpc>
            </a:pPr>
            <a:r>
              <a:rPr lang="en-US" sz="2499" dirty="0" err="1">
                <a:solidFill>
                  <a:srgbClr val="FDF4F4"/>
                </a:solidFill>
                <a:latin typeface="Roboto"/>
                <a:ea typeface="Roboto"/>
                <a:cs typeface="Roboto"/>
                <a:sym typeface="Roboto"/>
              </a:rPr>
              <a:t>hhhhhh</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fjdhfjdh</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jfhjdhf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ffd</a:t>
            </a:r>
            <a:r>
              <a:rPr lang="en-US" sz="2499" dirty="0">
                <a:solidFill>
                  <a:srgbClr val="FDF4F4"/>
                </a:solidFill>
                <a:latin typeface="Roboto"/>
                <a:ea typeface="Roboto"/>
                <a:cs typeface="Roboto"/>
                <a:sym typeface="Roboto"/>
              </a:rPr>
              <a:t> f </a:t>
            </a:r>
            <a:r>
              <a:rPr lang="en-US" sz="2499" dirty="0" err="1">
                <a:solidFill>
                  <a:srgbClr val="FDF4F4"/>
                </a:solidFill>
                <a:latin typeface="Roboto"/>
                <a:ea typeface="Roboto"/>
                <a:cs typeface="Roboto"/>
                <a:sym typeface="Roboto"/>
              </a:rPr>
              <a:t>fdfjdjfkdjdfd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fjdkjfk</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fjfjfj</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fjjf</a:t>
            </a:r>
            <a:r>
              <a:rPr lang="en-US" sz="2499" dirty="0">
                <a:solidFill>
                  <a:srgbClr val="FDF4F4"/>
                </a:solidFill>
                <a:latin typeface="Roboto"/>
                <a:ea typeface="Roboto"/>
                <a:cs typeface="Roboto"/>
                <a:sym typeface="Roboto"/>
              </a:rPr>
              <a:t> f </a:t>
            </a:r>
            <a:r>
              <a:rPr lang="en-US" sz="2499" dirty="0" err="1">
                <a:solidFill>
                  <a:srgbClr val="FDF4F4"/>
                </a:solidFill>
                <a:latin typeface="Roboto"/>
                <a:ea typeface="Roboto"/>
                <a:cs typeface="Roboto"/>
                <a:sym typeface="Roboto"/>
              </a:rPr>
              <a:t>ffjkdfjkdjf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fjkdfjkd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fjjfjf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fjf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ffdfdff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dfd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fdfdfdf</a:t>
            </a:r>
            <a:r>
              <a:rPr lang="en-US" sz="2499" dirty="0">
                <a:solidFill>
                  <a:srgbClr val="FDF4F4"/>
                </a:solidFill>
                <a:latin typeface="Roboto"/>
                <a:ea typeface="Roboto"/>
                <a:cs typeface="Roboto"/>
                <a:sym typeface="Roboto"/>
              </a:rPr>
              <a:t> </a:t>
            </a:r>
            <a:r>
              <a:rPr lang="en-US" sz="2499" dirty="0" err="1">
                <a:solidFill>
                  <a:srgbClr val="FDF4F4"/>
                </a:solidFill>
                <a:latin typeface="Roboto"/>
                <a:ea typeface="Roboto"/>
                <a:cs typeface="Roboto"/>
                <a:sym typeface="Roboto"/>
              </a:rPr>
              <a:t>fd</a:t>
            </a:r>
            <a:endParaRPr lang="en-US" sz="2499" dirty="0">
              <a:solidFill>
                <a:srgbClr val="FDF4F4"/>
              </a:solidFill>
              <a:latin typeface="Roboto"/>
              <a:ea typeface="Roboto"/>
              <a:cs typeface="Roboto"/>
              <a:sym typeface="Roboto"/>
            </a:endParaRPr>
          </a:p>
        </p:txBody>
      </p:sp>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91800" y="4197287"/>
            <a:ext cx="6991349" cy="5594413"/>
          </a:xfrm>
          <a:prstGeom prst="rect">
            <a:avLst/>
          </a:prstGeom>
        </p:spPr>
      </p:pic>
    </p:spTree>
    <p:extLst>
      <p:ext uri="{BB962C8B-B14F-4D97-AF65-F5344CB8AC3E}">
        <p14:creationId xmlns:p14="http://schemas.microsoft.com/office/powerpoint/2010/main" val="894307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grpSp>
        <p:nvGrpSpPr>
          <p:cNvPr id="2" name="Group 2"/>
          <p:cNvGrpSpPr/>
          <p:nvPr/>
        </p:nvGrpSpPr>
        <p:grpSpPr>
          <a:xfrm>
            <a:off x="2292350" y="3305175"/>
            <a:ext cx="13703300" cy="3676650"/>
            <a:chOff x="0" y="0"/>
            <a:chExt cx="1514700" cy="406400"/>
          </a:xfrm>
        </p:grpSpPr>
        <p:sp>
          <p:nvSpPr>
            <p:cNvPr id="3" name="Freeform 3"/>
            <p:cNvSpPr/>
            <p:nvPr/>
          </p:nvSpPr>
          <p:spPr>
            <a:xfrm>
              <a:off x="0" y="0"/>
              <a:ext cx="1514700" cy="406400"/>
            </a:xfrm>
            <a:custGeom>
              <a:avLst/>
              <a:gdLst/>
              <a:ahLst/>
              <a:cxnLst/>
              <a:rect l="l" t="t" r="r" b="b"/>
              <a:pathLst>
                <a:path w="1514700" h="406400">
                  <a:moveTo>
                    <a:pt x="1311500" y="0"/>
                  </a:moveTo>
                  <a:cubicBezTo>
                    <a:pt x="1423724" y="0"/>
                    <a:pt x="1514700" y="90976"/>
                    <a:pt x="1514700" y="203200"/>
                  </a:cubicBezTo>
                  <a:cubicBezTo>
                    <a:pt x="1514700" y="315424"/>
                    <a:pt x="1423724" y="406400"/>
                    <a:pt x="1311500" y="406400"/>
                  </a:cubicBezTo>
                  <a:lnTo>
                    <a:pt x="203200" y="406400"/>
                  </a:lnTo>
                  <a:cubicBezTo>
                    <a:pt x="90976" y="406400"/>
                    <a:pt x="0" y="315424"/>
                    <a:pt x="0" y="203200"/>
                  </a:cubicBezTo>
                  <a:cubicBezTo>
                    <a:pt x="0" y="90976"/>
                    <a:pt x="90976" y="0"/>
                    <a:pt x="203200" y="0"/>
                  </a:cubicBezTo>
                  <a:close/>
                </a:path>
              </a:pathLst>
            </a:custGeom>
            <a:solidFill>
              <a:srgbClr val="6E7658"/>
            </a:solidFill>
          </p:spPr>
        </p:sp>
        <p:sp>
          <p:nvSpPr>
            <p:cNvPr id="4" name="TextBox 4"/>
            <p:cNvSpPr txBox="1"/>
            <p:nvPr/>
          </p:nvSpPr>
          <p:spPr>
            <a:xfrm>
              <a:off x="0" y="-38100"/>
              <a:ext cx="1514700" cy="44450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3734794" y="4010025"/>
            <a:ext cx="10818412" cy="170815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FDF4F4"/>
                </a:solidFill>
                <a:latin typeface="Oswald"/>
                <a:ea typeface="Oswald"/>
                <a:cs typeface="Oswald"/>
                <a:sym typeface="Oswald"/>
              </a:rPr>
              <a:t>Any Questions?</a:t>
            </a:r>
          </a:p>
        </p:txBody>
      </p:sp>
      <p:grpSp>
        <p:nvGrpSpPr>
          <p:cNvPr id="6" name="Group 6"/>
          <p:cNvGrpSpPr/>
          <p:nvPr/>
        </p:nvGrpSpPr>
        <p:grpSpPr>
          <a:xfrm>
            <a:off x="-2461097" y="-1673523"/>
            <a:ext cx="4922194" cy="492219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9677"/>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2004940" y="653903"/>
            <a:ext cx="3408343" cy="3086100"/>
          </a:xfrm>
          <a:custGeom>
            <a:avLst/>
            <a:gdLst/>
            <a:ahLst/>
            <a:cxnLst/>
            <a:rect l="l" t="t" r="r" b="b"/>
            <a:pathLst>
              <a:path w="3408343" h="3086100">
                <a:moveTo>
                  <a:pt x="0" y="0"/>
                </a:moveTo>
                <a:lnTo>
                  <a:pt x="3408344" y="0"/>
                </a:lnTo>
                <a:lnTo>
                  <a:pt x="3408344" y="3086100"/>
                </a:lnTo>
                <a:lnTo>
                  <a:pt x="0" y="30861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Freeform 10"/>
          <p:cNvSpPr/>
          <p:nvPr/>
        </p:nvSpPr>
        <p:spPr>
          <a:xfrm>
            <a:off x="13932789" y="5553642"/>
            <a:ext cx="5205221" cy="2856365"/>
          </a:xfrm>
          <a:custGeom>
            <a:avLst/>
            <a:gdLst/>
            <a:ahLst/>
            <a:cxnLst/>
            <a:rect l="l" t="t" r="r" b="b"/>
            <a:pathLst>
              <a:path w="5205221" h="2856365">
                <a:moveTo>
                  <a:pt x="0" y="0"/>
                </a:moveTo>
                <a:lnTo>
                  <a:pt x="5205222" y="0"/>
                </a:lnTo>
                <a:lnTo>
                  <a:pt x="5205222" y="2856366"/>
                </a:lnTo>
                <a:lnTo>
                  <a:pt x="0" y="285636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TotalTime>
  <Words>1226</Words>
  <Application>Microsoft Office PowerPoint</Application>
  <PresentationFormat>Custom</PresentationFormat>
  <Paragraphs>90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Roboto Italics</vt:lpstr>
      <vt:lpstr>Oswald</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Simultaneous Equations Education Presentation in Green and Cream Geometric Style</dc:title>
  <dc:creator>dell</dc:creator>
  <cp:lastModifiedBy>dell</cp:lastModifiedBy>
  <cp:revision>13</cp:revision>
  <dcterms:created xsi:type="dcterms:W3CDTF">2006-08-16T00:00:00Z</dcterms:created>
  <dcterms:modified xsi:type="dcterms:W3CDTF">2025-12-16T17:21:50Z</dcterms:modified>
  <dc:identifier>DAG6P0t5ia4</dc:identifier>
</cp:coreProperties>
</file>