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2.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7" r:id="rId13"/>
    <p:sldId id="264"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Roboto Italics" panose="020B0604020202020204" charset="0"/>
      <p:regular r:id="rId22"/>
    </p:embeddedFont>
    <p:embeddedFont>
      <p:font typeface="Oswald" panose="020B0604020202020204" charset="0"/>
      <p:regular r:id="rId23"/>
    </p:embeddedFont>
    <p:embeddedFont>
      <p:font typeface="Roboto" panose="02000000000000000000" pitchFamily="2"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7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slide" Target="slides/slide12.xml"/><Relationship Id="rId17" Type="http://schemas.openxmlformats.org/officeDocument/2006/relationships/slide" Target="slides/slide16.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2.svg"/><Relationship Id="rId4" Type="http://schemas.openxmlformats.org/officeDocument/2006/relationships/image" Target="../media/image4.png"/><Relationship Id="rId5" Type="http://schemas.openxmlformats.org/officeDocument/2006/relationships/image" Target="../media/image8.svg"/></Relationships>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sp>
        <p:nvSpPr>
          <p:cNvPr id="3" name="TextBox 3"/>
          <p:cNvSpPr txBox="1"/>
          <p:nvPr/>
        </p:nvSpPr>
        <p:spPr>
          <a:xfrm>
            <a:off x="1607544" y="671291"/>
            <a:ext cx="15072912" cy="1127760"/>
          </a:xfrm>
          <a:prstGeom prst="rect">
            <a:avLst/>
          </a:prstGeom>
        </p:spPr>
        <p:txBody>
          <a:bodyPr lIns="0" tIns="0" rIns="0" bIns="0" rtlCol="0" anchor="t" wrap="square">
            <a:noAutofit/>
          </a:bodyPr>
          <a:lstStyle/>
          <a:p>
            <a:pPr marL="0" indent="0" algn="ctr">
              <a:lnSpc>
                <a:spcPct val="100000"/>
              </a:lnSpc>
              <a:spcBef>
                <a:spcPct val="0"/>
              </a:spcBef>
              <a:spcAft>
                <a:spcPts val="0"/>
              </a:spcAft>
            </a:pPr>
            <a:r>
              <a:rPr sz="3200">
                <a:solidFill>
                  <a:srgbClr val="000000"/>
                </a:solidFill>
                <a:latin typeface="Oswald"/>
              </a:rPr>
              <a:t>AI-Guided Support Operations</a:t>
            </a:r>
            <a:endParaRPr lang="en-US" sz="6600" dirty="0">
              <a:solidFill>
                <a:srgbClr val="000000"/>
              </a:solidFill>
              <a:latin typeface="Oswald"/>
              <a:ea typeface="Oswald"/>
              <a:cs typeface="Oswald"/>
              <a:sym typeface="Oswald"/>
            </a:endParaRPr>
          </a:p>
        </p:txBody>
      </p:sp>
      <p:sp>
        <p:nvSpPr>
          <p:cNvPr id="4" name="TextBox 4"/>
          <p:cNvSpPr txBox="1"/>
          <p:nvPr/>
        </p:nvSpPr>
        <p:spPr>
          <a:xfrm>
            <a:off x="791432" y="6960052"/>
            <a:ext cx="9654064" cy="2043139"/>
          </a:xfrm>
          <a:prstGeom prst="rect">
            <a:avLst/>
          </a:prstGeom>
        </p:spPr>
        <p:txBody>
          <a:bodyPr wrap="square" lIns="0" tIns="0" rIns="0" bIns="0" rtlCol="0" anchor="t">
            <a:noAutofit/>
          </a:bodyPr>
          <a:lstStyle/>
          <a:p>
            <a:pPr algn="l">
              <a:lnSpc>
                <a:spcPct val="100000"/>
              </a:lnSpc>
              <a:spcBef>
                <a:spcPct val="0"/>
              </a:spcBef>
              <a:spcAft>
                <a:spcPts val="0"/>
              </a:spcAft>
            </a:pPr>
            <a:r>
              <a:rPr sz="2800">
                <a:solidFill>
                  <a:srgbClr val="000000"/>
                </a:solidFill>
                <a:latin typeface="Roboto"/>
              </a:rPr>
              <a:t>Leads used weekly reviews to tune thresholds, close routing gaps, and keep escalation handoffs consistent across shifts.</a:t>
            </a:r>
          </a:p>
        </p:txBody>
      </p:sp>
      <p:sp>
        <p:nvSpPr>
          <p:cNvPr id="5" name="TextBox 5"/>
          <p:cNvSpPr txBox="1"/>
          <p:nvPr/>
        </p:nvSpPr>
        <p:spPr>
          <a:xfrm>
            <a:off x="791432" y="2489917"/>
            <a:ext cx="9654064" cy="4049702"/>
          </a:xfrm>
          <a:prstGeom prst="rect">
            <a:avLst/>
          </a:prstGeom>
        </p:spPr>
        <p:txBody>
          <a:bodyPr wrap="square" lIns="0" tIns="0" rIns="0" bIns="0" rtlCol="0" anchor="t">
            <a:noAutofit/>
          </a:bodyPr>
          <a:lstStyle/>
          <a:p>
            <a:pPr algn="l">
              <a:lnSpc>
                <a:spcPct val="100000"/>
              </a:lnSpc>
              <a:spcBef>
                <a:spcPct val="0"/>
              </a:spcBef>
              <a:spcAft>
                <a:spcPts val="0"/>
              </a:spcAft>
            </a:pPr>
            <a:r>
              <a:rPr sz="2800">
                <a:solidFill>
                  <a:srgbClr val="000000"/>
                </a:solidFill>
                <a:latin typeface="Roboto"/>
              </a:rPr>
              <a:t>A distributed support organization introduced an AI workflow to group duplicate incidents, score urgency signals, and direct complex cases to specialists earlier in the lifecycle. Managers combined queue metrics with staffing context to reduce reactive firefighting and improve day-to-day predictability.</a:t>
            </a:r>
          </a:p>
        </p:txBody>
      </p:sp>
      <p:pic>
        <p:nvPicPr>
          <p:cNvPr id="6" name="Picture 5" descr="ml_image__focus_repeat_fit_1591x1333.png"/>
          <p:cNvPicPr>
            <a:picLocks noChangeAspect="1"/>
          </p:cNvPicPr>
          <p:nvPr/>
        </p:nvPicPr>
        <p:blipFill>
          <a:blip r:embed="rId3"/>
          <a:stretch>
            <a:fillRect/>
          </a:stretch>
        </p:blipFill>
        <p:spPr>
          <a:xfrm>
            <a:off x="10896600" y="2656650"/>
            <a:ext cx="6614733" cy="5541744"/>
          </a:xfrm>
          <a:prstGeom prst="rect">
            <a:avLst/>
          </a:prstGeom>
        </p:spPr>
      </p:pic>
    </p:spTree>
    <p:extLst>
      <p:ext uri="{BB962C8B-B14F-4D97-AF65-F5344CB8AC3E}">
        <p14:creationId xmlns:p14="http://schemas.microsoft.com/office/powerpoint/2010/main" val="1880932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2292350" y="3305175"/>
            <a:ext cx="13703300" cy="3676650"/>
            <a:chOff x="0" y="0"/>
            <a:chExt cx="1514700" cy="406400"/>
          </a:xfrm>
        </p:grpSpPr>
        <p:sp>
          <p:nvSpPr>
            <p:cNvPr id="3" name="Freeform 3"/>
            <p:cNvSpPr/>
            <p:nvPr/>
          </p:nvSpPr>
          <p:spPr>
            <a:xfrm>
              <a:off x="0" y="0"/>
              <a:ext cx="1514700" cy="406400"/>
            </a:xfrm>
            <a:custGeom>
              <a:avLst/>
              <a:gdLst/>
              <a:ahLst/>
              <a:cxnLst/>
              <a:rect l="l" t="t" r="r" b="b"/>
              <a:pathLst>
                <a:path w="1514700" h="406400">
                  <a:moveTo>
                    <a:pt x="1311500" y="0"/>
                  </a:moveTo>
                  <a:cubicBezTo>
                    <a:pt x="1423724" y="0"/>
                    <a:pt x="1514700" y="90976"/>
                    <a:pt x="1514700" y="203200"/>
                  </a:cubicBezTo>
                  <a:cubicBezTo>
                    <a:pt x="1514700" y="315424"/>
                    <a:pt x="1423724" y="406400"/>
                    <a:pt x="1311500" y="406400"/>
                  </a:cubicBezTo>
                  <a:lnTo>
                    <a:pt x="203200" y="406400"/>
                  </a:lnTo>
                  <a:cubicBezTo>
                    <a:pt x="90976" y="406400"/>
                    <a:pt x="0" y="315424"/>
                    <a:pt x="0" y="203200"/>
                  </a:cubicBezTo>
                  <a:cubicBezTo>
                    <a:pt x="0" y="90976"/>
                    <a:pt x="90976" y="0"/>
                    <a:pt x="203200" y="0"/>
                  </a:cubicBezTo>
                  <a:close/>
                </a:path>
              </a:pathLst>
            </a:custGeom>
            <a:solidFill>
              <a:srgbClr val="6E7658"/>
            </a:solidFill>
          </p:spPr>
        </p:sp>
        <p:sp>
          <p:nvSpPr>
            <p:cNvPr id="4" name="TextBox 4"/>
            <p:cNvSpPr txBox="1"/>
            <p:nvPr/>
          </p:nvSpPr>
          <p:spPr>
            <a:xfrm>
              <a:off x="0" y="-38100"/>
              <a:ext cx="1514700" cy="44450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734794" y="4010025"/>
            <a:ext cx="10818412" cy="170815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FDF4F4"/>
                </a:solidFill>
                <a:latin typeface="Oswald"/>
                <a:ea typeface="Oswald"/>
                <a:cs typeface="Oswald"/>
                <a:sym typeface="Oswald"/>
              </a:rPr>
              <a:t>Any Questions?</a:t>
            </a:r>
          </a:p>
        </p:txBody>
      </p:sp>
      <p:grpSp>
        <p:nvGrpSpPr>
          <p:cNvPr id="6" name="Group 6"/>
          <p:cNvGrpSpPr/>
          <p:nvPr/>
        </p:nvGrpSpPr>
        <p:grpSpPr>
          <a:xfrm>
            <a:off x="-2461097" y="-1673523"/>
            <a:ext cx="4922194" cy="492219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004940" y="653903"/>
            <a:ext cx="3408343" cy="3086100"/>
          </a:xfrm>
          <a:custGeom>
            <a:avLst/>
            <a:gdLst/>
            <a:ahLst/>
            <a:cxnLst/>
            <a:rect l="l" t="t" r="r" b="b"/>
            <a:pathLst>
              <a:path w="3408343" h="3086100">
                <a:moveTo>
                  <a:pt x="0" y="0"/>
                </a:moveTo>
                <a:lnTo>
                  <a:pt x="3408344" y="0"/>
                </a:lnTo>
                <a:lnTo>
                  <a:pt x="3408344" y="3086100"/>
                </a:lnTo>
                <a:lnTo>
                  <a:pt x="0" y="30861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Freeform 10"/>
          <p:cNvSpPr/>
          <p:nvPr/>
        </p:nvSpPr>
        <p:spPr>
          <a:xfrm>
            <a:off x="13932789" y="5553642"/>
            <a:ext cx="5205221" cy="2856365"/>
          </a:xfrm>
          <a:custGeom>
            <a:avLst/>
            <a:gdLst/>
            <a:ahLst/>
            <a:cxnLst/>
            <a:rect l="l" t="t" r="r" b="b"/>
            <a:pathLst>
              <a:path w="5205221" h="2856365">
                <a:moveTo>
                  <a:pt x="0" y="0"/>
                </a:moveTo>
                <a:lnTo>
                  <a:pt x="5205222" y="0"/>
                </a:lnTo>
                <a:lnTo>
                  <a:pt x="5205222" y="2856366"/>
                </a:lnTo>
                <a:lnTo>
                  <a:pt x="0" y="285636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1226</Words>
  <Application>Microsoft Office PowerPoint</Application>
  <PresentationFormat>Custom</PresentationFormat>
  <Paragraphs>90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Roboto Italics</vt:lpstr>
      <vt:lpstr>Oswald</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Simultaneous Equations Education Presentation in Green and Cream Geometric Style</dc:title>
  <dc:creator>dell</dc:creator>
  <cp:lastModifiedBy>dell</cp:lastModifiedBy>
  <cp:revision>13</cp:revision>
  <dcterms:created xsi:type="dcterms:W3CDTF">2006-08-16T00:00:00Z</dcterms:created>
  <dcterms:modified xsi:type="dcterms:W3CDTF">2025-12-16T17:21:50Z</dcterms:modified>
  <dc:identifier>DAG6P0t5ia4</dc:identifier>
</cp:coreProperties>
</file>