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2.svg" ContentType="image/svg+xml"/>
  <Override PartName="/ppt/media/image2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14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0.svg"/><Relationship Id="rId4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6.svg"/><Relationship Id="rId8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2575" y="-361215"/>
            <a:ext cx="5394939" cy="11240574"/>
            <a:chOff x="0" y="0"/>
            <a:chExt cx="1420889" cy="2960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0889" cy="2960480"/>
            </a:xfrm>
            <a:custGeom>
              <a:avLst/>
              <a:gdLst/>
              <a:ahLst/>
              <a:cxnLst/>
              <a:rect l="l" t="t" r="r" b="b"/>
              <a:pathLst>
                <a:path w="1420889" h="2960480">
                  <a:moveTo>
                    <a:pt x="0" y="0"/>
                  </a:moveTo>
                  <a:lnTo>
                    <a:pt x="1420889" y="0"/>
                  </a:lnTo>
                  <a:lnTo>
                    <a:pt x="1420889" y="2960480"/>
                  </a:lnTo>
                  <a:lnTo>
                    <a:pt x="0" y="2960480"/>
                  </a:lnTo>
                  <a:close/>
                </a:path>
              </a:pathLst>
            </a:custGeom>
            <a:solidFill>
              <a:srgbClr val="FD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0889" cy="2998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63834" y="-222224"/>
            <a:ext cx="1376483" cy="2501847"/>
            <a:chOff x="0" y="0"/>
            <a:chExt cx="660400" cy="1200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200319"/>
            </a:xfrm>
            <a:custGeom>
              <a:avLst/>
              <a:gdLst/>
              <a:ahLst/>
              <a:cxnLst/>
              <a:rect l="l" t="t" r="r" b="b"/>
              <a:pathLst>
                <a:path w="660400" h="1200319">
                  <a:moveTo>
                    <a:pt x="220252" y="1181250"/>
                  </a:moveTo>
                  <a:cubicBezTo>
                    <a:pt x="254109" y="1192764"/>
                    <a:pt x="292600" y="1200319"/>
                    <a:pt x="330378" y="1200319"/>
                  </a:cubicBezTo>
                  <a:cubicBezTo>
                    <a:pt x="368157" y="1200319"/>
                    <a:pt x="404509" y="1193842"/>
                    <a:pt x="438009" y="1182329"/>
                  </a:cubicBezTo>
                  <a:cubicBezTo>
                    <a:pt x="438723" y="1181969"/>
                    <a:pt x="439435" y="1181969"/>
                    <a:pt x="440148" y="1181610"/>
                  </a:cubicBezTo>
                  <a:cubicBezTo>
                    <a:pt x="565955" y="1135554"/>
                    <a:pt x="658618" y="1013941"/>
                    <a:pt x="660400" y="86320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62569"/>
                  </a:lnTo>
                  <a:cubicBezTo>
                    <a:pt x="1782" y="1014659"/>
                    <a:pt x="93019" y="1136275"/>
                    <a:pt x="220252" y="118125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1111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050" y="664179"/>
            <a:ext cx="3987313" cy="263525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6E7658"/>
                </a:solidFill>
                <a:latin typeface="Oswald"/>
              </a:rPr>
              <a:t>Cross-Department AI Transformation Execution Narrative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5300942" y="7560782"/>
            <a:ext cx="3318577" cy="3318577"/>
          </a:xfrm>
          <a:custGeom>
            <a:avLst/>
            <a:gdLst/>
            <a:ahLst/>
            <a:cxnLst/>
            <a:rect l="l" t="t" r="r" b="b"/>
            <a:pathLst>
              <a:path w="3318577" h="3318577">
                <a:moveTo>
                  <a:pt x="3318577" y="0"/>
                </a:moveTo>
                <a:lnTo>
                  <a:pt x="0" y="0"/>
                </a:lnTo>
                <a:lnTo>
                  <a:pt x="0" y="3318577"/>
                </a:lnTo>
                <a:lnTo>
                  <a:pt x="3318577" y="3318577"/>
                </a:lnTo>
                <a:lnTo>
                  <a:pt x="3318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74660" y="6400513"/>
            <a:ext cx="11894580" cy="93701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50"/>
              </a:spcAft>
            </a:pPr>
            <a:r>
              <a:rPr sz="2800">
                <a:solidFill>
                  <a:srgbClr val="FDF4F4"/>
                </a:solidFill>
                <a:latin typeface="Roboto"/>
              </a:rPr>
              <a:t>Approval gates across legal, platform, and operations were hard to synchronize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74660" y="7723136"/>
            <a:ext cx="11894580" cy="93701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50"/>
              </a:spcAft>
            </a:pPr>
            <a:r>
              <a:rPr sz="2800">
                <a:solidFill>
                  <a:srgbClr val="FDF4F4"/>
                </a:solidFill>
                <a:latin typeface="Roboto"/>
              </a:rPr>
              <a:t>Handoff quality varied when incident ownership boundaries were unclear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674660" y="658368"/>
            <a:ext cx="11894580" cy="273788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Aft>
                <a:spcPts val="50"/>
              </a:spcAft>
            </a:pPr>
            <a:r>
              <a:rPr sz="2800">
                <a:solidFill>
                  <a:srgbClr val="FDF4F4"/>
                </a:solidFill>
                <a:latin typeface="Roboto"/>
              </a:rPr>
              <a:t>Over twelve months, multiple departments launched AI workflows for forecasting, quality monitoring, and support automation. Each release required governance checkpoints, regional policy reviews, and rollback criteria before production activation.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012619" y="8667984"/>
            <a:ext cx="5540639" cy="2337142"/>
          </a:xfrm>
          <a:custGeom>
            <a:avLst/>
            <a:gdLst/>
            <a:ahLst/>
            <a:cxnLst/>
            <a:rect l="l" t="t" r="r" b="b"/>
            <a:pathLst>
              <a:path w="5540639" h="2337142">
                <a:moveTo>
                  <a:pt x="0" y="0"/>
                </a:moveTo>
                <a:lnTo>
                  <a:pt x="5540638" y="0"/>
                </a:lnTo>
                <a:lnTo>
                  <a:pt x="5540638" y="2337142"/>
                </a:lnTo>
                <a:lnTo>
                  <a:pt x="0" y="233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674660" y="9093957"/>
            <a:ext cx="11894580" cy="93701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50"/>
              </a:spcAft>
            </a:pPr>
            <a:r>
              <a:rPr sz="2800">
                <a:solidFill>
                  <a:srgbClr val="FDF4F4"/>
                </a:solidFill>
                <a:latin typeface="Roboto"/>
              </a:rPr>
              <a:t>Weekly remediation updates were required for executive oversight</a:t>
            </a:r>
            <a:endParaRPr lang="en-US" sz="4818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74660" y="3813233"/>
            <a:ext cx="11894580" cy="2287664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50"/>
              </a:spcAft>
            </a:pPr>
            <a:r>
              <a:rPr sz="2800">
                <a:solidFill>
                  <a:srgbClr val="FDF4F4"/>
                </a:solidFill>
                <a:latin typeface="Roboto"/>
              </a:rPr>
              <a:t>Program leaders then unified operations metrics into one cadence, including incident trends, drift signals, false-positive investigations, staffing impacts, and cost-baseline tracking across business units.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" name="Picture 16" descr="ai_image__story_cover_1501x9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412" y="4172019"/>
            <a:ext cx="6238578" cy="40109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