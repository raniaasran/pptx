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2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5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svg"/><Relationship Id="rId4" Type="http://schemas.openxmlformats.org/officeDocument/2006/relationships/image" Target="../media/image3.png"/><Relationship Id="rId5" Type="http://schemas.openxmlformats.org/officeDocument/2006/relationships/image" Target="../media/image6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5553" y="4553632"/>
            <a:ext cx="393408" cy="405123"/>
            <a:chOff x="0" y="0"/>
            <a:chExt cx="514258" cy="529572"/>
          </a:xfrm>
        </p:grpSpPr>
        <p:grpSp>
          <p:nvGrpSpPr>
            <p:cNvPr id="3" name="Group 3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755553" y="5573080"/>
            <a:ext cx="393408" cy="405123"/>
            <a:chOff x="0" y="0"/>
            <a:chExt cx="514258" cy="529572"/>
          </a:xfrm>
        </p:grpSpPr>
        <p:grpSp>
          <p:nvGrpSpPr>
            <p:cNvPr id="10" name="Group 10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755553" y="6592528"/>
            <a:ext cx="393408" cy="405123"/>
            <a:chOff x="0" y="0"/>
            <a:chExt cx="514258" cy="529572"/>
          </a:xfrm>
        </p:grpSpPr>
        <p:grpSp>
          <p:nvGrpSpPr>
            <p:cNvPr id="17" name="Group 17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762625" y="663749"/>
            <a:ext cx="13940777" cy="112776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FDF4F4"/>
                </a:solidFill>
                <a:latin typeface="Oswald"/>
              </a:rPr>
              <a:t>Operational Readiness Review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55553" y="2861481"/>
            <a:ext cx="14947849" cy="1006856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FFFFFF"/>
                </a:solidFill>
                <a:latin typeface="Roboto"/>
              </a:rPr>
              <a:t>Readiness reviews align platform, support, and product teams before high-impact releases.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390281" y="4558961"/>
            <a:ext cx="13751546" cy="90153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  <a:latin typeface="Roboto"/>
              </a:rPr>
              <a:t>Verify monitoring thresholds and alert ownership for each critical service.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55553" y="7572544"/>
            <a:ext cx="13215835" cy="1548363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>
                <a:solidFill>
                  <a:srgbClr val="FFFFFF"/>
                </a:solidFill>
                <a:latin typeface="Roboto"/>
              </a:rPr>
              <a:t>A structured review keeps launch risk manageable under time pressure.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703402" y="5987345"/>
            <a:ext cx="4941056" cy="4941056"/>
          </a:xfrm>
          <a:custGeom>
            <a:avLst/>
            <a:gdLst/>
            <a:ahLst/>
            <a:cxnLst/>
            <a:rect l="l" t="t" r="r" b="b"/>
            <a:pathLst>
              <a:path w="4941056" h="4941056">
                <a:moveTo>
                  <a:pt x="0" y="0"/>
                </a:moveTo>
                <a:lnTo>
                  <a:pt x="4941056" y="0"/>
                </a:lnTo>
                <a:lnTo>
                  <a:pt x="4941056" y="4941055"/>
                </a:lnTo>
                <a:lnTo>
                  <a:pt x="0" y="4941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390281" y="5578409"/>
            <a:ext cx="13751546" cy="90153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  <a:latin typeface="Roboto"/>
              </a:rPr>
              <a:t>Confirm escalation routes, backup responders, and weekend support coverage.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90281" y="6597857"/>
            <a:ext cx="13751546" cy="90153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  <a:latin typeface="Roboto"/>
              </a:rPr>
              <a:t>Check rollback rehearsals and communications for customer-facing incidents.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