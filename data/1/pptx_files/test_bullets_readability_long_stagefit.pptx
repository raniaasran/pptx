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22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5"/>
    <p:sldId id="264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 Italics" panose="020B0604020202020204" charset="0"/>
      <p:regular r:id="rId22"/>
    </p:embeddedFont>
    <p:embeddedFont>
      <p:font typeface="Oswald" panose="020B0604020202020204" charset="0"/>
      <p:regular r:id="rId23"/>
    </p:embeddedFont>
    <p:embeddedFont>
      <p:font typeface="Roboto" panose="020000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17" Type="http://schemas.openxmlformats.org/officeDocument/2006/relationships/slide" Target="slides/slide16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2.svg"/><Relationship Id="rId4" Type="http://schemas.openxmlformats.org/officeDocument/2006/relationships/image" Target="../media/image3.png"/><Relationship Id="rId5" Type="http://schemas.openxmlformats.org/officeDocument/2006/relationships/image" Target="../media/image6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2.svg"/><Relationship Id="rId4" Type="http://schemas.openxmlformats.org/officeDocument/2006/relationships/image" Target="../media/image4.png"/><Relationship Id="rId5" Type="http://schemas.openxmlformats.org/officeDocument/2006/relationships/image" Target="../media/image8.sv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5553" y="4405650"/>
            <a:ext cx="323248" cy="332874"/>
            <a:chOff x="0" y="0"/>
            <a:chExt cx="514258" cy="529572"/>
          </a:xfrm>
        </p:grpSpPr>
        <p:grpSp>
          <p:nvGrpSpPr>
            <p:cNvPr id="3" name="Group 3"/>
            <p:cNvGrpSpPr/>
            <p:nvPr/>
          </p:nvGrpSpPr>
          <p:grpSpPr>
            <a:xfrm>
              <a:off x="102677" y="93343"/>
              <a:ext cx="411581" cy="436229"/>
              <a:chOff x="0" y="0"/>
              <a:chExt cx="110615" cy="11723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8D9677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411581" cy="436229"/>
              <a:chOff x="0" y="0"/>
              <a:chExt cx="110615" cy="11723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FDF4F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755553" y="5427269"/>
            <a:ext cx="323248" cy="332874"/>
            <a:chOff x="0" y="0"/>
            <a:chExt cx="514258" cy="529572"/>
          </a:xfrm>
        </p:grpSpPr>
        <p:grpSp>
          <p:nvGrpSpPr>
            <p:cNvPr id="10" name="Group 10"/>
            <p:cNvGrpSpPr/>
            <p:nvPr/>
          </p:nvGrpSpPr>
          <p:grpSpPr>
            <a:xfrm>
              <a:off x="102677" y="93343"/>
              <a:ext cx="411581" cy="436229"/>
              <a:chOff x="0" y="0"/>
              <a:chExt cx="110615" cy="11723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8D9677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411581" cy="436229"/>
              <a:chOff x="0" y="0"/>
              <a:chExt cx="110615" cy="11723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FDF4F4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755553" y="6448888"/>
            <a:ext cx="323248" cy="332874"/>
            <a:chOff x="0" y="0"/>
            <a:chExt cx="514258" cy="529572"/>
          </a:xfrm>
        </p:grpSpPr>
        <p:grpSp>
          <p:nvGrpSpPr>
            <p:cNvPr id="17" name="Group 17"/>
            <p:cNvGrpSpPr/>
            <p:nvPr/>
          </p:nvGrpSpPr>
          <p:grpSpPr>
            <a:xfrm>
              <a:off x="102677" y="93343"/>
              <a:ext cx="411581" cy="436229"/>
              <a:chOff x="0" y="0"/>
              <a:chExt cx="110615" cy="11723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8D9677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0"/>
              <a:ext cx="411581" cy="436229"/>
              <a:chOff x="0" y="0"/>
              <a:chExt cx="110615" cy="11723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FDF4F4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2762625" y="663749"/>
            <a:ext cx="13940777" cy="1127760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sz="3200">
                <a:solidFill>
                  <a:srgbClr val="FDF4F4"/>
                </a:solidFill>
                <a:latin typeface="Oswald"/>
              </a:rPr>
              <a:t>Program Risk Controls and Execution Discipline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-2461097" y="-1673523"/>
            <a:ext cx="4922194" cy="4922194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755553" y="2861481"/>
            <a:ext cx="14947849" cy="1006856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sz="3000">
                <a:solidFill>
                  <a:srgbClr val="FFFFFF"/>
                </a:solidFill>
                <a:latin typeface="Roboto"/>
              </a:rPr>
              <a:t>This long case validates that dense bullet content stays readable and never overlaps.</a:t>
            </a:r>
            <a:endParaRPr lang="en-US" sz="3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390281" y="4412657"/>
            <a:ext cx="13897850" cy="961745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98940"/>
              </a:lnSpc>
              <a:spcBef>
                <a:spcPct val="0"/>
              </a:spcBef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Roboto"/>
              </a:rPr>
              <a:t>When data pipelines depend on external vendors, interface changes must be validated immediately, because silent schema drift can invalidate monitoring trends and delay incident detection.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55553" y="7865152"/>
            <a:ext cx="13215835" cy="1347195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>
                <a:solidFill>
                  <a:srgbClr val="FFFFFF"/>
                </a:solidFill>
                <a:latin typeface="Roboto"/>
              </a:rPr>
              <a:t>If the slide cannot remain readable at the configured floor, it should reject as non-fit.</a:t>
            </a:r>
            <a:endParaRPr lang="en-US" sz="3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-2004940" y="653903"/>
            <a:ext cx="3408343" cy="3086100"/>
          </a:xfrm>
          <a:custGeom>
            <a:avLst/>
            <a:gdLst/>
            <a:ahLst/>
            <a:cxnLst/>
            <a:rect l="l" t="t" r="r" b="b"/>
            <a:pathLst>
              <a:path w="3408343" h="3086100">
                <a:moveTo>
                  <a:pt x="0" y="0"/>
                </a:moveTo>
                <a:lnTo>
                  <a:pt x="3408344" y="0"/>
                </a:lnTo>
                <a:lnTo>
                  <a:pt x="3408344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703402" y="5987345"/>
            <a:ext cx="4941056" cy="4941056"/>
          </a:xfrm>
          <a:custGeom>
            <a:avLst/>
            <a:gdLst/>
            <a:ahLst/>
            <a:cxnLst/>
            <a:rect l="l" t="t" r="r" b="b"/>
            <a:pathLst>
              <a:path w="4941056" h="4941056">
                <a:moveTo>
                  <a:pt x="0" y="0"/>
                </a:moveTo>
                <a:lnTo>
                  <a:pt x="4941056" y="0"/>
                </a:lnTo>
                <a:lnTo>
                  <a:pt x="4941056" y="4941055"/>
                </a:lnTo>
                <a:lnTo>
                  <a:pt x="0" y="4941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390281" y="5434276"/>
            <a:ext cx="13897850" cy="961745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98940"/>
              </a:lnSpc>
              <a:spcBef>
                <a:spcPct val="0"/>
              </a:spcBef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Roboto"/>
              </a:rPr>
              <a:t>If threshold tuning is copied from pilot environments without recalibration, teams can face noisy alerts or missed failures, increasing manual triage load and slowing root-cause isolation.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90281" y="6455895"/>
            <a:ext cx="13897850" cy="647260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98940"/>
              </a:lnSpc>
              <a:spcBef>
                <a:spcPct val="0"/>
              </a:spcBef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Roboto"/>
              </a:rPr>
              <a:t>Large multi-region releases require synchronized legal checks, localization QA, and support playbooks</a:t>
            </a:r>
            <a:endParaRPr lang="en-US" sz="3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390281" y="7163028"/>
            <a:ext cx="13897850" cy="6472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8940"/>
              </a:lnSpc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Roboto"/>
              </a:rPr>
              <a:t>weak coordination in any one area can create inconsistent user outcomes and prolonged remediation windows.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755553" y="7156021"/>
            <a:ext cx="323248" cy="332874"/>
            <a:chOff x="0" y="0"/>
            <a:chExt cx="514258" cy="529572"/>
          </a:xfrm>
        </p:grpSpPr>
        <p:grpSp>
          <p:nvGrpSpPr>
            <p:cNvPr id="17" name="Group 17"/>
            <p:cNvGrpSpPr/>
            <p:nvPr/>
          </p:nvGrpSpPr>
          <p:grpSpPr>
            <a:xfrm>
              <a:off x="102677" y="93343"/>
              <a:ext cx="411581" cy="436229"/>
              <a:chOff x="0" y="0"/>
              <a:chExt cx="110615" cy="11723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8D9677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0"/>
              <a:ext cx="411581" cy="436229"/>
              <a:chOff x="0" y="0"/>
              <a:chExt cx="110615" cy="11723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FDF4F4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92350" y="3305175"/>
            <a:ext cx="13703300" cy="3676650"/>
            <a:chOff x="0" y="0"/>
            <a:chExt cx="151470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4700" cy="406400"/>
            </a:xfrm>
            <a:custGeom>
              <a:avLst/>
              <a:gdLst/>
              <a:ahLst/>
              <a:cxnLst/>
              <a:rect l="l" t="t" r="r" b="b"/>
              <a:pathLst>
                <a:path w="1514700" h="406400">
                  <a:moveTo>
                    <a:pt x="1311500" y="0"/>
                  </a:moveTo>
                  <a:cubicBezTo>
                    <a:pt x="1423724" y="0"/>
                    <a:pt x="1514700" y="90976"/>
                    <a:pt x="1514700" y="203200"/>
                  </a:cubicBezTo>
                  <a:cubicBezTo>
                    <a:pt x="1514700" y="315424"/>
                    <a:pt x="1423724" y="406400"/>
                    <a:pt x="13115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E765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147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34794" y="4010025"/>
            <a:ext cx="1081841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DF4F4"/>
                </a:solidFill>
                <a:latin typeface="Oswald"/>
                <a:ea typeface="Oswald"/>
                <a:cs typeface="Oswald"/>
                <a:sym typeface="Oswald"/>
              </a:rPr>
              <a:t>Any Questions?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461097" y="-1673523"/>
            <a:ext cx="4922194" cy="492219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2004940" y="653903"/>
            <a:ext cx="3408343" cy="3086100"/>
          </a:xfrm>
          <a:custGeom>
            <a:avLst/>
            <a:gdLst/>
            <a:ahLst/>
            <a:cxnLst/>
            <a:rect l="l" t="t" r="r" b="b"/>
            <a:pathLst>
              <a:path w="3408343" h="3086100">
                <a:moveTo>
                  <a:pt x="0" y="0"/>
                </a:moveTo>
                <a:lnTo>
                  <a:pt x="3408344" y="0"/>
                </a:lnTo>
                <a:lnTo>
                  <a:pt x="3408344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32789" y="5553642"/>
            <a:ext cx="5205221" cy="2856365"/>
          </a:xfrm>
          <a:custGeom>
            <a:avLst/>
            <a:gdLst/>
            <a:ahLst/>
            <a:cxnLst/>
            <a:rect l="l" t="t" r="r" b="b"/>
            <a:pathLst>
              <a:path w="5205221" h="2856365">
                <a:moveTo>
                  <a:pt x="0" y="0"/>
                </a:moveTo>
                <a:lnTo>
                  <a:pt x="5205222" y="0"/>
                </a:lnTo>
                <a:lnTo>
                  <a:pt x="5205222" y="2856366"/>
                </a:lnTo>
                <a:lnTo>
                  <a:pt x="0" y="285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1226</Words>
  <Application>Microsoft Office PowerPoint</Application>
  <PresentationFormat>Custom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Roboto Italics</vt:lpstr>
      <vt:lpstr>Oswald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Simultaneous Equations Education Presentation in Green and Cream Geometric Style</dc:title>
  <dc:creator>dell</dc:creator>
  <cp:lastModifiedBy>dell</cp:lastModifiedBy>
  <cp:revision>13</cp:revision>
  <dcterms:created xsi:type="dcterms:W3CDTF">2006-08-16T00:00:00Z</dcterms:created>
  <dcterms:modified xsi:type="dcterms:W3CDTF">2025-12-16T17:21:50Z</dcterms:modified>
  <dc:identifier>DAG6P0t5ia4</dc:identifier>
</cp:coreProperties>
</file>