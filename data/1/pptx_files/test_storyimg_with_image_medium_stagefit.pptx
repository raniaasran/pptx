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media/image22.svg" ContentType="image/svg+xml"/>
  <Override PartName="/ppt/media/image2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14"/>
    <p:sldId id="264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Italics" panose="020B0604020202020204" charset="0"/>
      <p:regular r:id="rId22"/>
    </p:embeddedFont>
    <p:embeddedFont>
      <p:font typeface="Oswa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0.svg"/><Relationship Id="rId4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26.svg"/><Relationship Id="rId8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8.sv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2575" y="-361215"/>
            <a:ext cx="5394939" cy="11240574"/>
            <a:chOff x="0" y="0"/>
            <a:chExt cx="1420889" cy="2960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0889" cy="2960480"/>
            </a:xfrm>
            <a:custGeom>
              <a:avLst/>
              <a:gdLst/>
              <a:ahLst/>
              <a:cxnLst/>
              <a:rect l="l" t="t" r="r" b="b"/>
              <a:pathLst>
                <a:path w="1420889" h="2960480">
                  <a:moveTo>
                    <a:pt x="0" y="0"/>
                  </a:moveTo>
                  <a:lnTo>
                    <a:pt x="1420889" y="0"/>
                  </a:lnTo>
                  <a:lnTo>
                    <a:pt x="1420889" y="2960480"/>
                  </a:lnTo>
                  <a:lnTo>
                    <a:pt x="0" y="2960480"/>
                  </a:lnTo>
                  <a:close/>
                </a:path>
              </a:pathLst>
            </a:custGeom>
            <a:solidFill>
              <a:srgbClr val="FD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20889" cy="2998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87363" y="-361215"/>
            <a:ext cx="1529426" cy="2779830"/>
            <a:chOff x="0" y="0"/>
            <a:chExt cx="660400" cy="1200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1200319"/>
            </a:xfrm>
            <a:custGeom>
              <a:avLst/>
              <a:gdLst/>
              <a:ahLst/>
              <a:cxnLst/>
              <a:rect l="l" t="t" r="r" b="b"/>
              <a:pathLst>
                <a:path w="660400" h="1200319">
                  <a:moveTo>
                    <a:pt x="220252" y="1181250"/>
                  </a:moveTo>
                  <a:cubicBezTo>
                    <a:pt x="254109" y="1192764"/>
                    <a:pt x="292600" y="1200319"/>
                    <a:pt x="330378" y="1200319"/>
                  </a:cubicBezTo>
                  <a:cubicBezTo>
                    <a:pt x="368157" y="1200319"/>
                    <a:pt x="404509" y="1193842"/>
                    <a:pt x="438009" y="1182329"/>
                  </a:cubicBezTo>
                  <a:cubicBezTo>
                    <a:pt x="438723" y="1181969"/>
                    <a:pt x="439435" y="1181969"/>
                    <a:pt x="440148" y="1181610"/>
                  </a:cubicBezTo>
                  <a:cubicBezTo>
                    <a:pt x="565955" y="1135554"/>
                    <a:pt x="658618" y="1013941"/>
                    <a:pt x="660400" y="86320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62569"/>
                  </a:lnTo>
                  <a:cubicBezTo>
                    <a:pt x="1782" y="1014659"/>
                    <a:pt x="93019" y="1136275"/>
                    <a:pt x="220252" y="118125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60400" cy="1111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0050" y="664179"/>
            <a:ext cx="3987313" cy="263525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200">
                <a:solidFill>
                  <a:srgbClr val="6E7658"/>
                </a:solidFill>
                <a:latin typeface="Oswald"/>
              </a:rPr>
              <a:t>AI Support Workflow Rollout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5300942" y="7560782"/>
            <a:ext cx="3318577" cy="3318577"/>
          </a:xfrm>
          <a:custGeom>
            <a:avLst/>
            <a:gdLst/>
            <a:ahLst/>
            <a:cxnLst/>
            <a:rect l="l" t="t" r="r" b="b"/>
            <a:pathLst>
              <a:path w="3318577" h="3318577">
                <a:moveTo>
                  <a:pt x="3318577" y="0"/>
                </a:moveTo>
                <a:lnTo>
                  <a:pt x="0" y="0"/>
                </a:lnTo>
                <a:lnTo>
                  <a:pt x="0" y="3318577"/>
                </a:lnTo>
                <a:lnTo>
                  <a:pt x="3318577" y="3318577"/>
                </a:lnTo>
                <a:lnTo>
                  <a:pt x="33185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57540" y="5851200"/>
            <a:ext cx="11400804" cy="995372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Queue triage stabilized across weekday spikes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57540" y="7270102"/>
            <a:ext cx="11400804" cy="995372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Response times improved without reducing review quality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57540" y="685130"/>
            <a:ext cx="11400804" cy="243356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A regional support organization introduced an AI triage assistant to classify incoming issues, group duplicate incidents, and escalate urgent cases before queue backlogs spread across teams.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1012619" y="8667984"/>
            <a:ext cx="5540639" cy="2337142"/>
          </a:xfrm>
          <a:custGeom>
            <a:avLst/>
            <a:gdLst/>
            <a:ahLst/>
            <a:cxnLst/>
            <a:rect l="l" t="t" r="r" b="b"/>
            <a:pathLst>
              <a:path w="5540639" h="2337142">
                <a:moveTo>
                  <a:pt x="0" y="0"/>
                </a:moveTo>
                <a:lnTo>
                  <a:pt x="5540638" y="0"/>
                </a:lnTo>
                <a:lnTo>
                  <a:pt x="5540638" y="2337142"/>
                </a:lnTo>
                <a:lnTo>
                  <a:pt x="0" y="2337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857540" y="8749638"/>
            <a:ext cx="11400804" cy="995372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Specialists focused on high-impact escalations</a:t>
            </a:r>
            <a:endParaRPr lang="en-US" sz="4818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57540" y="3581692"/>
            <a:ext cx="11400804" cy="1954167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Leads reported clearer shift planning, faster handoffs, and better consistency in escalation decisions during peak traffic windows.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" name="Picture 16" descr="ml_image__story_cover_1668x10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86000" y="3949191"/>
            <a:ext cx="6931753" cy="44565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2350" y="3305175"/>
            <a:ext cx="13703300" cy="3676650"/>
            <a:chOff x="0" y="0"/>
            <a:chExt cx="15147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700" cy="406400"/>
            </a:xfrm>
            <a:custGeom>
              <a:avLst/>
              <a:gdLst/>
              <a:ahLst/>
              <a:cxnLst/>
              <a:rect l="l" t="t" r="r" b="b"/>
              <a:pathLst>
                <a:path w="1514700" h="406400">
                  <a:moveTo>
                    <a:pt x="1311500" y="0"/>
                  </a:moveTo>
                  <a:cubicBezTo>
                    <a:pt x="1423724" y="0"/>
                    <a:pt x="1514700" y="90976"/>
                    <a:pt x="1514700" y="203200"/>
                  </a:cubicBezTo>
                  <a:cubicBezTo>
                    <a:pt x="1514700" y="315424"/>
                    <a:pt x="1423724" y="406400"/>
                    <a:pt x="1311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E76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47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794" y="4010025"/>
            <a:ext cx="1081841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DF4F4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32789" y="5553642"/>
            <a:ext cx="5205221" cy="2856365"/>
          </a:xfrm>
          <a:custGeom>
            <a:avLst/>
            <a:gdLst/>
            <a:ahLst/>
            <a:cxnLst/>
            <a:rect l="l" t="t" r="r" b="b"/>
            <a:pathLst>
              <a:path w="5205221" h="2856365">
                <a:moveTo>
                  <a:pt x="0" y="0"/>
                </a:moveTo>
                <a:lnTo>
                  <a:pt x="5205222" y="0"/>
                </a:lnTo>
                <a:lnTo>
                  <a:pt x="5205222" y="2856366"/>
                </a:lnTo>
                <a:lnTo>
                  <a:pt x="0" y="285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1226</Words>
  <Application>Microsoft Office PowerPoint</Application>
  <PresentationFormat>Custom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Roboto Italics</vt:lpstr>
      <vt:lpstr>Oswald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 Education Presentation in Green and Cream Geometric Style</dc:title>
  <dc:creator>dell</dc:creator>
  <cp:lastModifiedBy>dell</cp:lastModifiedBy>
  <cp:revision>13</cp:revision>
  <dcterms:created xsi:type="dcterms:W3CDTF">2006-08-16T00:00:00Z</dcterms:created>
  <dcterms:modified xsi:type="dcterms:W3CDTF">2025-12-16T17:21:50Z</dcterms:modified>
  <dc:identifier>DAG6P0t5ia4</dc:identifier>
</cp:coreProperties>
</file>